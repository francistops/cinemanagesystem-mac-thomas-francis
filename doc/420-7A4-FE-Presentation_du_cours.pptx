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564" r:id="rId3"/>
    <p:sldId id="692" r:id="rId4"/>
    <p:sldId id="598" r:id="rId5"/>
    <p:sldId id="635" r:id="rId6"/>
    <p:sldId id="695" r:id="rId7"/>
    <p:sldId id="698" r:id="rId8"/>
    <p:sldId id="696" r:id="rId9"/>
    <p:sldId id="699" r:id="rId10"/>
    <p:sldId id="595" r:id="rId11"/>
    <p:sldId id="700" r:id="rId12"/>
    <p:sldId id="636" r:id="rId13"/>
    <p:sldId id="648" r:id="rId14"/>
    <p:sldId id="637" r:id="rId15"/>
    <p:sldId id="638" r:id="rId16"/>
    <p:sldId id="600" r:id="rId17"/>
    <p:sldId id="694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4F"/>
    <a:srgbClr val="005E4F"/>
    <a:srgbClr val="03723A"/>
    <a:srgbClr val="6FA39B"/>
    <a:srgbClr val="D72E75"/>
    <a:srgbClr val="941651"/>
    <a:srgbClr val="6EA49B"/>
    <a:srgbClr val="2C3C51"/>
    <a:srgbClr val="7F7F7F"/>
    <a:srgbClr val="D97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4"/>
    <p:restoredTop sz="61252"/>
  </p:normalViewPr>
  <p:slideViewPr>
    <p:cSldViewPr>
      <p:cViewPr varScale="1">
        <p:scale>
          <a:sx n="60" d="100"/>
          <a:sy n="60" d="100"/>
        </p:scale>
        <p:origin x="176" y="4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498A45-7845-5A44-AC4E-40D3C05EDFB8}" type="doc">
      <dgm:prSet loTypeId="urn:microsoft.com/office/officeart/2008/layout/VerticalCurvedList" loCatId="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F3EE43-DF23-BA49-ACFA-23C5463479A4}">
      <dgm:prSet phldrT="[Text]"/>
      <dgm:spPr>
        <a:solidFill>
          <a:srgbClr val="005E50"/>
        </a:solidFill>
      </dgm:spPr>
      <dgm:t>
        <a:bodyPr/>
        <a:lstStyle/>
        <a:p>
          <a:r>
            <a:rPr lang="fr-CA" b="1" dirty="0">
              <a:effectLst/>
              <a:latin typeface="Century Gothic" panose="020B0502020202020204" pitchFamily="34" charset="0"/>
            </a:rPr>
            <a:t>Présentation du cours</a:t>
          </a:r>
          <a:endParaRPr lang="en-US" dirty="0"/>
        </a:p>
      </dgm:t>
    </dgm:pt>
    <dgm:pt modelId="{F295ED8F-96D3-7347-AA8D-E1CF18CAF4D8}" type="parTrans" cxnId="{A3B6D037-B798-DB4B-BB1C-028B2D9539CB}">
      <dgm:prSet/>
      <dgm:spPr/>
      <dgm:t>
        <a:bodyPr/>
        <a:lstStyle/>
        <a:p>
          <a:endParaRPr lang="en-US"/>
        </a:p>
      </dgm:t>
    </dgm:pt>
    <dgm:pt modelId="{3DE32C87-7DAC-DC4E-91CB-5CC61E928741}" type="sibTrans" cxnId="{A3B6D037-B798-DB4B-BB1C-028B2D9539CB}">
      <dgm:prSet/>
      <dgm:spPr/>
      <dgm:t>
        <a:bodyPr/>
        <a:lstStyle/>
        <a:p>
          <a:endParaRPr lang="en-US"/>
        </a:p>
      </dgm:t>
    </dgm:pt>
    <dgm:pt modelId="{71AE1FDA-2AB3-CC45-8843-426EDBD7B1A7}">
      <dgm:prSet phldrT="[Text]"/>
      <dgm:spPr>
        <a:solidFill>
          <a:srgbClr val="005E50"/>
        </a:solidFill>
      </dgm:spPr>
      <dgm:t>
        <a:bodyPr/>
        <a:lstStyle/>
        <a:p>
          <a:r>
            <a:rPr lang="fr-CA" b="1" dirty="0">
              <a:effectLst/>
              <a:latin typeface="Century Gothic" panose="020B0502020202020204" pitchFamily="34" charset="0"/>
            </a:rPr>
            <a:t>Méthodologie de travail</a:t>
          </a:r>
          <a:endParaRPr lang="en-US" dirty="0"/>
        </a:p>
      </dgm:t>
    </dgm:pt>
    <dgm:pt modelId="{B05B032F-E420-9647-8D6B-6156DE1532EA}" type="parTrans" cxnId="{9C91B67D-86B6-7B47-AEA7-86584B29E820}">
      <dgm:prSet/>
      <dgm:spPr/>
      <dgm:t>
        <a:bodyPr/>
        <a:lstStyle/>
        <a:p>
          <a:endParaRPr lang="en-US"/>
        </a:p>
      </dgm:t>
    </dgm:pt>
    <dgm:pt modelId="{C26590AB-C74A-6F4B-A0FF-456C156237D1}" type="sibTrans" cxnId="{9C91B67D-86B6-7B47-AEA7-86584B29E820}">
      <dgm:prSet/>
      <dgm:spPr/>
      <dgm:t>
        <a:bodyPr/>
        <a:lstStyle/>
        <a:p>
          <a:endParaRPr lang="en-US"/>
        </a:p>
      </dgm:t>
    </dgm:pt>
    <dgm:pt modelId="{AD1BFB02-89C6-9D4E-997C-C93F10899C45}">
      <dgm:prSet phldrT="[Text]"/>
      <dgm:spPr>
        <a:solidFill>
          <a:srgbClr val="005E50"/>
        </a:solidFill>
      </dgm:spPr>
      <dgm:t>
        <a:bodyPr/>
        <a:lstStyle/>
        <a:p>
          <a:r>
            <a:rPr lang="fr-CA" b="1">
              <a:effectLst/>
              <a:latin typeface="Century Gothic" panose="020B0502020202020204" pitchFamily="34" charset="0"/>
            </a:rPr>
            <a:t>Projets</a:t>
          </a:r>
          <a:endParaRPr lang="en-US" dirty="0"/>
        </a:p>
      </dgm:t>
    </dgm:pt>
    <dgm:pt modelId="{F04D5B7C-1F95-4142-95A8-584FCE6B9D72}" type="parTrans" cxnId="{49B94CEC-11EB-AB4B-892B-E988A1AEA440}">
      <dgm:prSet/>
      <dgm:spPr/>
      <dgm:t>
        <a:bodyPr/>
        <a:lstStyle/>
        <a:p>
          <a:endParaRPr lang="en-US"/>
        </a:p>
      </dgm:t>
    </dgm:pt>
    <dgm:pt modelId="{073C1E11-C1C1-274C-ABBE-F9A47A3B9BAA}" type="sibTrans" cxnId="{49B94CEC-11EB-AB4B-892B-E988A1AEA440}">
      <dgm:prSet/>
      <dgm:spPr/>
      <dgm:t>
        <a:bodyPr/>
        <a:lstStyle/>
        <a:p>
          <a:endParaRPr lang="en-US"/>
        </a:p>
      </dgm:t>
    </dgm:pt>
    <dgm:pt modelId="{A9A6F463-CF0A-C54B-AABB-4EC7BD6ECF22}">
      <dgm:prSet phldrT="[Text]"/>
      <dgm:spPr>
        <a:solidFill>
          <a:srgbClr val="005E50"/>
        </a:solidFill>
      </dgm:spPr>
      <dgm:t>
        <a:bodyPr/>
        <a:lstStyle/>
        <a:p>
          <a:r>
            <a:rPr lang="en-US" b="1" dirty="0">
              <a:latin typeface="Century Gothic" panose="020B0502020202020204" pitchFamily="34" charset="0"/>
            </a:rPr>
            <a:t>Plan du </a:t>
          </a:r>
          <a:r>
            <a:rPr lang="en-US" b="1" dirty="0" err="1">
              <a:latin typeface="Century Gothic" panose="020B0502020202020204" pitchFamily="34" charset="0"/>
            </a:rPr>
            <a:t>cours</a:t>
          </a:r>
          <a:endParaRPr lang="en-US" b="1" dirty="0">
            <a:latin typeface="Century Gothic" panose="020B0502020202020204" pitchFamily="34" charset="0"/>
          </a:endParaRPr>
        </a:p>
      </dgm:t>
    </dgm:pt>
    <dgm:pt modelId="{892AA904-8160-C44B-AA27-3DD080CF43E3}" type="parTrans" cxnId="{57D4C9FA-D11E-FC4D-861E-73B324F4F8A6}">
      <dgm:prSet/>
      <dgm:spPr/>
      <dgm:t>
        <a:bodyPr/>
        <a:lstStyle/>
        <a:p>
          <a:endParaRPr lang="en-US"/>
        </a:p>
      </dgm:t>
    </dgm:pt>
    <dgm:pt modelId="{3A43A620-FE10-0E44-9C14-23233F705059}" type="sibTrans" cxnId="{57D4C9FA-D11E-FC4D-861E-73B324F4F8A6}">
      <dgm:prSet/>
      <dgm:spPr/>
      <dgm:t>
        <a:bodyPr/>
        <a:lstStyle/>
        <a:p>
          <a:endParaRPr lang="en-US"/>
        </a:p>
      </dgm:t>
    </dgm:pt>
    <dgm:pt modelId="{DDF6A96F-46B4-F448-A9A9-429875F49CC0}" type="pres">
      <dgm:prSet presAssocID="{DB498A45-7845-5A44-AC4E-40D3C05EDFB8}" presName="Name0" presStyleCnt="0">
        <dgm:presLayoutVars>
          <dgm:chMax val="7"/>
          <dgm:chPref val="7"/>
          <dgm:dir/>
        </dgm:presLayoutVars>
      </dgm:prSet>
      <dgm:spPr/>
    </dgm:pt>
    <dgm:pt modelId="{113B2387-CD09-F444-9258-43FFFB801F42}" type="pres">
      <dgm:prSet presAssocID="{DB498A45-7845-5A44-AC4E-40D3C05EDFB8}" presName="Name1" presStyleCnt="0"/>
      <dgm:spPr/>
    </dgm:pt>
    <dgm:pt modelId="{848AD0FE-9A91-DA42-B929-7BEFB105F1F3}" type="pres">
      <dgm:prSet presAssocID="{DB498A45-7845-5A44-AC4E-40D3C05EDFB8}" presName="cycle" presStyleCnt="0"/>
      <dgm:spPr/>
    </dgm:pt>
    <dgm:pt modelId="{5D640FCB-6C16-ED4E-93BE-9C2936E9F2DF}" type="pres">
      <dgm:prSet presAssocID="{DB498A45-7845-5A44-AC4E-40D3C05EDFB8}" presName="srcNode" presStyleLbl="node1" presStyleIdx="0" presStyleCnt="4"/>
      <dgm:spPr/>
    </dgm:pt>
    <dgm:pt modelId="{A6727B89-C50F-1C4B-ACF5-478E22574534}" type="pres">
      <dgm:prSet presAssocID="{DB498A45-7845-5A44-AC4E-40D3C05EDFB8}" presName="conn" presStyleLbl="parChTrans1D2" presStyleIdx="0" presStyleCnt="1"/>
      <dgm:spPr/>
    </dgm:pt>
    <dgm:pt modelId="{D30EF157-86F9-9A48-A11E-F2E5AD46FEAF}" type="pres">
      <dgm:prSet presAssocID="{DB498A45-7845-5A44-AC4E-40D3C05EDFB8}" presName="extraNode" presStyleLbl="node1" presStyleIdx="0" presStyleCnt="4"/>
      <dgm:spPr/>
    </dgm:pt>
    <dgm:pt modelId="{CD5C7528-1856-7D4D-8CCE-CCE7E8ECD167}" type="pres">
      <dgm:prSet presAssocID="{DB498A45-7845-5A44-AC4E-40D3C05EDFB8}" presName="dstNode" presStyleLbl="node1" presStyleIdx="0" presStyleCnt="4"/>
      <dgm:spPr/>
    </dgm:pt>
    <dgm:pt modelId="{40EC4785-D8DF-8747-BC23-B7EBDC7DFBBB}" type="pres">
      <dgm:prSet presAssocID="{09F3EE43-DF23-BA49-ACFA-23C5463479A4}" presName="text_1" presStyleLbl="node1" presStyleIdx="0" presStyleCnt="4">
        <dgm:presLayoutVars>
          <dgm:bulletEnabled val="1"/>
        </dgm:presLayoutVars>
      </dgm:prSet>
      <dgm:spPr/>
    </dgm:pt>
    <dgm:pt modelId="{95F762E1-1C89-BB42-AB1C-3BCA80DDC31F}" type="pres">
      <dgm:prSet presAssocID="{09F3EE43-DF23-BA49-ACFA-23C5463479A4}" presName="accent_1" presStyleCnt="0"/>
      <dgm:spPr/>
    </dgm:pt>
    <dgm:pt modelId="{397B6E2F-67DE-974D-B4A8-590E3674D074}" type="pres">
      <dgm:prSet presAssocID="{09F3EE43-DF23-BA49-ACFA-23C5463479A4}" presName="accentRepeatNode" presStyleLbl="solidFgAcc1" presStyleIdx="0" presStyleCnt="4"/>
      <dgm:spPr>
        <a:ln>
          <a:solidFill>
            <a:srgbClr val="005E4F"/>
          </a:solidFill>
        </a:ln>
      </dgm:spPr>
    </dgm:pt>
    <dgm:pt modelId="{0B08A25A-FF39-C945-A7A8-2D88EE3A78C6}" type="pres">
      <dgm:prSet presAssocID="{71AE1FDA-2AB3-CC45-8843-426EDBD7B1A7}" presName="text_2" presStyleLbl="node1" presStyleIdx="1" presStyleCnt="4">
        <dgm:presLayoutVars>
          <dgm:bulletEnabled val="1"/>
        </dgm:presLayoutVars>
      </dgm:prSet>
      <dgm:spPr/>
    </dgm:pt>
    <dgm:pt modelId="{4F89F71F-BF98-8B4A-88AE-B44AD36B6C5C}" type="pres">
      <dgm:prSet presAssocID="{71AE1FDA-2AB3-CC45-8843-426EDBD7B1A7}" presName="accent_2" presStyleCnt="0"/>
      <dgm:spPr/>
    </dgm:pt>
    <dgm:pt modelId="{D05E951F-5CB7-DE4E-A10F-2D5E7A3FD099}" type="pres">
      <dgm:prSet presAssocID="{71AE1FDA-2AB3-CC45-8843-426EDBD7B1A7}" presName="accentRepeatNode" presStyleLbl="solidFgAcc1" presStyleIdx="1" presStyleCnt="4"/>
      <dgm:spPr>
        <a:ln>
          <a:solidFill>
            <a:srgbClr val="005E4F"/>
          </a:solidFill>
        </a:ln>
      </dgm:spPr>
    </dgm:pt>
    <dgm:pt modelId="{C7608507-CBCB-574D-9B4B-6A4B82A0752B}" type="pres">
      <dgm:prSet presAssocID="{A9A6F463-CF0A-C54B-AABB-4EC7BD6ECF22}" presName="text_3" presStyleLbl="node1" presStyleIdx="2" presStyleCnt="4">
        <dgm:presLayoutVars>
          <dgm:bulletEnabled val="1"/>
        </dgm:presLayoutVars>
      </dgm:prSet>
      <dgm:spPr/>
    </dgm:pt>
    <dgm:pt modelId="{C73DE4F2-86B0-E34E-BFAF-82B5667CC7AF}" type="pres">
      <dgm:prSet presAssocID="{A9A6F463-CF0A-C54B-AABB-4EC7BD6ECF22}" presName="accent_3" presStyleCnt="0"/>
      <dgm:spPr/>
    </dgm:pt>
    <dgm:pt modelId="{8EB438F8-E562-A042-8125-EA20DE13F44D}" type="pres">
      <dgm:prSet presAssocID="{A9A6F463-CF0A-C54B-AABB-4EC7BD6ECF22}" presName="accentRepeatNode" presStyleLbl="solidFgAcc1" presStyleIdx="2" presStyleCnt="4"/>
      <dgm:spPr>
        <a:ln>
          <a:solidFill>
            <a:srgbClr val="005E4F"/>
          </a:solidFill>
        </a:ln>
      </dgm:spPr>
    </dgm:pt>
    <dgm:pt modelId="{F8CF5D35-1D05-1145-A923-B69384F4F0B8}" type="pres">
      <dgm:prSet presAssocID="{AD1BFB02-89C6-9D4E-997C-C93F10899C45}" presName="text_4" presStyleLbl="node1" presStyleIdx="3" presStyleCnt="4">
        <dgm:presLayoutVars>
          <dgm:bulletEnabled val="1"/>
        </dgm:presLayoutVars>
      </dgm:prSet>
      <dgm:spPr/>
    </dgm:pt>
    <dgm:pt modelId="{D073635A-79BD-FA4C-BC5C-1FB039B7887A}" type="pres">
      <dgm:prSet presAssocID="{AD1BFB02-89C6-9D4E-997C-C93F10899C45}" presName="accent_4" presStyleCnt="0"/>
      <dgm:spPr/>
    </dgm:pt>
    <dgm:pt modelId="{2047C73D-E6EA-3F44-ABCE-AD13BE458776}" type="pres">
      <dgm:prSet presAssocID="{AD1BFB02-89C6-9D4E-997C-C93F10899C45}" presName="accentRepeatNode" presStyleLbl="solidFgAcc1" presStyleIdx="3" presStyleCnt="4"/>
      <dgm:spPr>
        <a:ln>
          <a:solidFill>
            <a:srgbClr val="005E4F"/>
          </a:solidFill>
        </a:ln>
      </dgm:spPr>
    </dgm:pt>
  </dgm:ptLst>
  <dgm:cxnLst>
    <dgm:cxn modelId="{A3B6D037-B798-DB4B-BB1C-028B2D9539CB}" srcId="{DB498A45-7845-5A44-AC4E-40D3C05EDFB8}" destId="{09F3EE43-DF23-BA49-ACFA-23C5463479A4}" srcOrd="0" destOrd="0" parTransId="{F295ED8F-96D3-7347-AA8D-E1CF18CAF4D8}" sibTransId="{3DE32C87-7DAC-DC4E-91CB-5CC61E928741}"/>
    <dgm:cxn modelId="{5E26B846-9EB7-E848-86E2-2AB5BD78CFAC}" type="presOf" srcId="{DB498A45-7845-5A44-AC4E-40D3C05EDFB8}" destId="{DDF6A96F-46B4-F448-A9A9-429875F49CC0}" srcOrd="0" destOrd="0" presId="urn:microsoft.com/office/officeart/2008/layout/VerticalCurvedList"/>
    <dgm:cxn modelId="{F3AEAE4F-1CE9-854F-9BC4-1E4A19BC043D}" type="presOf" srcId="{09F3EE43-DF23-BA49-ACFA-23C5463479A4}" destId="{40EC4785-D8DF-8747-BC23-B7EBDC7DFBBB}" srcOrd="0" destOrd="0" presId="urn:microsoft.com/office/officeart/2008/layout/VerticalCurvedList"/>
    <dgm:cxn modelId="{9C91B67D-86B6-7B47-AEA7-86584B29E820}" srcId="{DB498A45-7845-5A44-AC4E-40D3C05EDFB8}" destId="{71AE1FDA-2AB3-CC45-8843-426EDBD7B1A7}" srcOrd="1" destOrd="0" parTransId="{B05B032F-E420-9647-8D6B-6156DE1532EA}" sibTransId="{C26590AB-C74A-6F4B-A0FF-456C156237D1}"/>
    <dgm:cxn modelId="{3BE88383-F496-BB4A-8DA6-DDA4E3654436}" type="presOf" srcId="{71AE1FDA-2AB3-CC45-8843-426EDBD7B1A7}" destId="{0B08A25A-FF39-C945-A7A8-2D88EE3A78C6}" srcOrd="0" destOrd="0" presId="urn:microsoft.com/office/officeart/2008/layout/VerticalCurvedList"/>
    <dgm:cxn modelId="{138E848C-7911-CC41-948A-E013D03DAC53}" type="presOf" srcId="{3DE32C87-7DAC-DC4E-91CB-5CC61E928741}" destId="{A6727B89-C50F-1C4B-ACF5-478E22574534}" srcOrd="0" destOrd="0" presId="urn:microsoft.com/office/officeart/2008/layout/VerticalCurvedList"/>
    <dgm:cxn modelId="{C1FE3ED4-6908-1347-8F81-ED01497E6718}" type="presOf" srcId="{AD1BFB02-89C6-9D4E-997C-C93F10899C45}" destId="{F8CF5D35-1D05-1145-A923-B69384F4F0B8}" srcOrd="0" destOrd="0" presId="urn:microsoft.com/office/officeart/2008/layout/VerticalCurvedList"/>
    <dgm:cxn modelId="{49B94CEC-11EB-AB4B-892B-E988A1AEA440}" srcId="{DB498A45-7845-5A44-AC4E-40D3C05EDFB8}" destId="{AD1BFB02-89C6-9D4E-997C-C93F10899C45}" srcOrd="3" destOrd="0" parTransId="{F04D5B7C-1F95-4142-95A8-584FCE6B9D72}" sibTransId="{073C1E11-C1C1-274C-ABBE-F9A47A3B9BAA}"/>
    <dgm:cxn modelId="{3E6A80F4-A1DB-8742-BCAB-C035465F3DE8}" type="presOf" srcId="{A9A6F463-CF0A-C54B-AABB-4EC7BD6ECF22}" destId="{C7608507-CBCB-574D-9B4B-6A4B82A0752B}" srcOrd="0" destOrd="0" presId="urn:microsoft.com/office/officeart/2008/layout/VerticalCurvedList"/>
    <dgm:cxn modelId="{57D4C9FA-D11E-FC4D-861E-73B324F4F8A6}" srcId="{DB498A45-7845-5A44-AC4E-40D3C05EDFB8}" destId="{A9A6F463-CF0A-C54B-AABB-4EC7BD6ECF22}" srcOrd="2" destOrd="0" parTransId="{892AA904-8160-C44B-AA27-3DD080CF43E3}" sibTransId="{3A43A620-FE10-0E44-9C14-23233F705059}"/>
    <dgm:cxn modelId="{97D97299-18AD-A742-91B7-F66CAB4C6858}" type="presParOf" srcId="{DDF6A96F-46B4-F448-A9A9-429875F49CC0}" destId="{113B2387-CD09-F444-9258-43FFFB801F42}" srcOrd="0" destOrd="0" presId="urn:microsoft.com/office/officeart/2008/layout/VerticalCurvedList"/>
    <dgm:cxn modelId="{CB11B76E-C770-0F43-8805-D2D5791A51E8}" type="presParOf" srcId="{113B2387-CD09-F444-9258-43FFFB801F42}" destId="{848AD0FE-9A91-DA42-B929-7BEFB105F1F3}" srcOrd="0" destOrd="0" presId="urn:microsoft.com/office/officeart/2008/layout/VerticalCurvedList"/>
    <dgm:cxn modelId="{3510F85D-9112-C942-A247-C479A308B2DD}" type="presParOf" srcId="{848AD0FE-9A91-DA42-B929-7BEFB105F1F3}" destId="{5D640FCB-6C16-ED4E-93BE-9C2936E9F2DF}" srcOrd="0" destOrd="0" presId="urn:microsoft.com/office/officeart/2008/layout/VerticalCurvedList"/>
    <dgm:cxn modelId="{317E0FE6-2055-0E4B-AD02-B58E4FB39678}" type="presParOf" srcId="{848AD0FE-9A91-DA42-B929-7BEFB105F1F3}" destId="{A6727B89-C50F-1C4B-ACF5-478E22574534}" srcOrd="1" destOrd="0" presId="urn:microsoft.com/office/officeart/2008/layout/VerticalCurvedList"/>
    <dgm:cxn modelId="{329DAB84-441F-A547-B210-84A8C2D8A53D}" type="presParOf" srcId="{848AD0FE-9A91-DA42-B929-7BEFB105F1F3}" destId="{D30EF157-86F9-9A48-A11E-F2E5AD46FEAF}" srcOrd="2" destOrd="0" presId="urn:microsoft.com/office/officeart/2008/layout/VerticalCurvedList"/>
    <dgm:cxn modelId="{1B2D6332-7160-DF45-8D54-FA9B32427D84}" type="presParOf" srcId="{848AD0FE-9A91-DA42-B929-7BEFB105F1F3}" destId="{CD5C7528-1856-7D4D-8CCE-CCE7E8ECD167}" srcOrd="3" destOrd="0" presId="urn:microsoft.com/office/officeart/2008/layout/VerticalCurvedList"/>
    <dgm:cxn modelId="{A3486546-B052-9D4E-8719-81A5C055E84B}" type="presParOf" srcId="{113B2387-CD09-F444-9258-43FFFB801F42}" destId="{40EC4785-D8DF-8747-BC23-B7EBDC7DFBBB}" srcOrd="1" destOrd="0" presId="urn:microsoft.com/office/officeart/2008/layout/VerticalCurvedList"/>
    <dgm:cxn modelId="{052BCFA5-A0D1-9447-A9AC-55199E31A655}" type="presParOf" srcId="{113B2387-CD09-F444-9258-43FFFB801F42}" destId="{95F762E1-1C89-BB42-AB1C-3BCA80DDC31F}" srcOrd="2" destOrd="0" presId="urn:microsoft.com/office/officeart/2008/layout/VerticalCurvedList"/>
    <dgm:cxn modelId="{C02905D2-3C45-C74B-A42D-49CF7EDD05F9}" type="presParOf" srcId="{95F762E1-1C89-BB42-AB1C-3BCA80DDC31F}" destId="{397B6E2F-67DE-974D-B4A8-590E3674D074}" srcOrd="0" destOrd="0" presId="urn:microsoft.com/office/officeart/2008/layout/VerticalCurvedList"/>
    <dgm:cxn modelId="{2F14DCB5-7E04-B140-B254-6DA780D9A64D}" type="presParOf" srcId="{113B2387-CD09-F444-9258-43FFFB801F42}" destId="{0B08A25A-FF39-C945-A7A8-2D88EE3A78C6}" srcOrd="3" destOrd="0" presId="urn:microsoft.com/office/officeart/2008/layout/VerticalCurvedList"/>
    <dgm:cxn modelId="{CDC6B519-7CF6-3946-BA17-6483EEF8F9EB}" type="presParOf" srcId="{113B2387-CD09-F444-9258-43FFFB801F42}" destId="{4F89F71F-BF98-8B4A-88AE-B44AD36B6C5C}" srcOrd="4" destOrd="0" presId="urn:microsoft.com/office/officeart/2008/layout/VerticalCurvedList"/>
    <dgm:cxn modelId="{5FBFB611-6DE0-5047-9F19-AA5B3FEF3FBD}" type="presParOf" srcId="{4F89F71F-BF98-8B4A-88AE-B44AD36B6C5C}" destId="{D05E951F-5CB7-DE4E-A10F-2D5E7A3FD099}" srcOrd="0" destOrd="0" presId="urn:microsoft.com/office/officeart/2008/layout/VerticalCurvedList"/>
    <dgm:cxn modelId="{F0E4D761-7C19-164E-8021-63C0EF28EF95}" type="presParOf" srcId="{113B2387-CD09-F444-9258-43FFFB801F42}" destId="{C7608507-CBCB-574D-9B4B-6A4B82A0752B}" srcOrd="5" destOrd="0" presId="urn:microsoft.com/office/officeart/2008/layout/VerticalCurvedList"/>
    <dgm:cxn modelId="{5BFA42FD-A76F-3D48-BB45-8043ABCF10E2}" type="presParOf" srcId="{113B2387-CD09-F444-9258-43FFFB801F42}" destId="{C73DE4F2-86B0-E34E-BFAF-82B5667CC7AF}" srcOrd="6" destOrd="0" presId="urn:microsoft.com/office/officeart/2008/layout/VerticalCurvedList"/>
    <dgm:cxn modelId="{26FC81E2-2729-374C-A8EF-2B7761346432}" type="presParOf" srcId="{C73DE4F2-86B0-E34E-BFAF-82B5667CC7AF}" destId="{8EB438F8-E562-A042-8125-EA20DE13F44D}" srcOrd="0" destOrd="0" presId="urn:microsoft.com/office/officeart/2008/layout/VerticalCurvedList"/>
    <dgm:cxn modelId="{1EFA5381-CA70-5242-9EC1-DBAEEB1C8595}" type="presParOf" srcId="{113B2387-CD09-F444-9258-43FFFB801F42}" destId="{F8CF5D35-1D05-1145-A923-B69384F4F0B8}" srcOrd="7" destOrd="0" presId="urn:microsoft.com/office/officeart/2008/layout/VerticalCurvedList"/>
    <dgm:cxn modelId="{F725B6FC-2F47-964D-94B1-A58EED3A5DB4}" type="presParOf" srcId="{113B2387-CD09-F444-9258-43FFFB801F42}" destId="{D073635A-79BD-FA4C-BC5C-1FB039B7887A}" srcOrd="8" destOrd="0" presId="urn:microsoft.com/office/officeart/2008/layout/VerticalCurvedList"/>
    <dgm:cxn modelId="{84A84BE4-764C-744B-B7DF-728CB9A046D7}" type="presParOf" srcId="{D073635A-79BD-FA4C-BC5C-1FB039B7887A}" destId="{2047C73D-E6EA-3F44-ABCE-AD13BE458776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27B89-C50F-1C4B-ACF5-478E22574534}">
      <dsp:nvSpPr>
        <dsp:cNvPr id="0" name=""/>
        <dsp:cNvSpPr/>
      </dsp:nvSpPr>
      <dsp:spPr>
        <a:xfrm>
          <a:off x="-5734240" y="-877703"/>
          <a:ext cx="6826940" cy="6826940"/>
        </a:xfrm>
        <a:prstGeom prst="blockArc">
          <a:avLst>
            <a:gd name="adj1" fmla="val 18900000"/>
            <a:gd name="adj2" fmla="val 2700000"/>
            <a:gd name="adj3" fmla="val 316"/>
          </a:avLst>
        </a:pr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C4785-D8DF-8747-BC23-B7EBDC7DFBBB}">
      <dsp:nvSpPr>
        <dsp:cNvPr id="0" name=""/>
        <dsp:cNvSpPr/>
      </dsp:nvSpPr>
      <dsp:spPr>
        <a:xfrm>
          <a:off x="571970" y="389899"/>
          <a:ext cx="7484929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b="1" kern="1200" dirty="0">
              <a:effectLst/>
              <a:latin typeface="Century Gothic" panose="020B0502020202020204" pitchFamily="34" charset="0"/>
            </a:rPr>
            <a:t>Présentation du cours</a:t>
          </a:r>
          <a:endParaRPr lang="en-US" sz="3900" kern="1200" dirty="0"/>
        </a:p>
      </dsp:txBody>
      <dsp:txXfrm>
        <a:off x="571970" y="389899"/>
        <a:ext cx="7484929" cy="780204"/>
      </dsp:txXfrm>
    </dsp:sp>
    <dsp:sp modelId="{397B6E2F-67DE-974D-B4A8-590E3674D074}">
      <dsp:nvSpPr>
        <dsp:cNvPr id="0" name=""/>
        <dsp:cNvSpPr/>
      </dsp:nvSpPr>
      <dsp:spPr>
        <a:xfrm>
          <a:off x="84343" y="29237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8A25A-FF39-C945-A7A8-2D88EE3A78C6}">
      <dsp:nvSpPr>
        <dsp:cNvPr id="0" name=""/>
        <dsp:cNvSpPr/>
      </dsp:nvSpPr>
      <dsp:spPr>
        <a:xfrm>
          <a:off x="1019280" y="1560409"/>
          <a:ext cx="7037620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b="1" kern="1200" dirty="0">
              <a:effectLst/>
              <a:latin typeface="Century Gothic" panose="020B0502020202020204" pitchFamily="34" charset="0"/>
            </a:rPr>
            <a:t>Méthodologie de travail</a:t>
          </a:r>
          <a:endParaRPr lang="en-US" sz="3900" kern="1200" dirty="0"/>
        </a:p>
      </dsp:txBody>
      <dsp:txXfrm>
        <a:off x="1019280" y="1560409"/>
        <a:ext cx="7037620" cy="780204"/>
      </dsp:txXfrm>
    </dsp:sp>
    <dsp:sp modelId="{D05E951F-5CB7-DE4E-A10F-2D5E7A3FD099}">
      <dsp:nvSpPr>
        <dsp:cNvPr id="0" name=""/>
        <dsp:cNvSpPr/>
      </dsp:nvSpPr>
      <dsp:spPr>
        <a:xfrm>
          <a:off x="531652" y="146288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08507-CBCB-574D-9B4B-6A4B82A0752B}">
      <dsp:nvSpPr>
        <dsp:cNvPr id="0" name=""/>
        <dsp:cNvSpPr/>
      </dsp:nvSpPr>
      <dsp:spPr>
        <a:xfrm>
          <a:off x="1019280" y="2730919"/>
          <a:ext cx="7037620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latin typeface="Century Gothic" panose="020B0502020202020204" pitchFamily="34" charset="0"/>
            </a:rPr>
            <a:t>Plan du </a:t>
          </a:r>
          <a:r>
            <a:rPr lang="en-US" sz="3900" b="1" kern="1200" dirty="0" err="1">
              <a:latin typeface="Century Gothic" panose="020B0502020202020204" pitchFamily="34" charset="0"/>
            </a:rPr>
            <a:t>cours</a:t>
          </a:r>
          <a:endParaRPr lang="en-US" sz="3900" b="1" kern="1200" dirty="0">
            <a:latin typeface="Century Gothic" panose="020B0502020202020204" pitchFamily="34" charset="0"/>
          </a:endParaRPr>
        </a:p>
      </dsp:txBody>
      <dsp:txXfrm>
        <a:off x="1019280" y="2730919"/>
        <a:ext cx="7037620" cy="780204"/>
      </dsp:txXfrm>
    </dsp:sp>
    <dsp:sp modelId="{8EB438F8-E562-A042-8125-EA20DE13F44D}">
      <dsp:nvSpPr>
        <dsp:cNvPr id="0" name=""/>
        <dsp:cNvSpPr/>
      </dsp:nvSpPr>
      <dsp:spPr>
        <a:xfrm>
          <a:off x="531652" y="263339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F5D35-1D05-1145-A923-B69384F4F0B8}">
      <dsp:nvSpPr>
        <dsp:cNvPr id="0" name=""/>
        <dsp:cNvSpPr/>
      </dsp:nvSpPr>
      <dsp:spPr>
        <a:xfrm>
          <a:off x="571970" y="3901428"/>
          <a:ext cx="7484929" cy="780204"/>
        </a:xfrm>
        <a:prstGeom prst="rect">
          <a:avLst/>
        </a:prstGeom>
        <a:solidFill>
          <a:srgbClr val="005E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9287" tIns="99060" rIns="99060" bIns="9906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900" b="1" kern="1200">
              <a:effectLst/>
              <a:latin typeface="Century Gothic" panose="020B0502020202020204" pitchFamily="34" charset="0"/>
            </a:rPr>
            <a:t>Projets</a:t>
          </a:r>
          <a:endParaRPr lang="en-US" sz="3900" kern="1200" dirty="0"/>
        </a:p>
      </dsp:txBody>
      <dsp:txXfrm>
        <a:off x="571970" y="3901428"/>
        <a:ext cx="7484929" cy="780204"/>
      </dsp:txXfrm>
    </dsp:sp>
    <dsp:sp modelId="{2047C73D-E6EA-3F44-ABCE-AD13BE458776}">
      <dsp:nvSpPr>
        <dsp:cNvPr id="0" name=""/>
        <dsp:cNvSpPr/>
      </dsp:nvSpPr>
      <dsp:spPr>
        <a:xfrm>
          <a:off x="84343" y="3803903"/>
          <a:ext cx="975255" cy="97525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005E4F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25925-7A7F-524B-9864-1C21F04654A4}" type="datetimeFigureOut">
              <a:rPr lang="en-DZ" smtClean="0"/>
              <a:t>30/10/2025</a:t>
            </a:fld>
            <a:endParaRPr lang="en-D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AD30C-B68F-E44E-BBBD-3280F492F30C}" type="slidenum">
              <a:rPr lang="en-DZ" smtClean="0"/>
              <a:t>‹#›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96789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E50">
              <a:alpha val="56863"/>
            </a:srgbClr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70047"/>
            <a:ext cx="4037075" cy="41879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92552"/>
            <a:ext cx="1522475" cy="236524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9476" y="0"/>
            <a:ext cx="1604772" cy="1143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09076" y="6092951"/>
            <a:ext cx="993648" cy="76504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4191" y="97080"/>
            <a:ext cx="10433685" cy="1140460"/>
          </a:xfrm>
          <a:custGeom>
            <a:avLst/>
            <a:gdLst/>
            <a:ahLst/>
            <a:cxnLst/>
            <a:rect l="l" t="t" r="r" b="b"/>
            <a:pathLst>
              <a:path w="10433685" h="1140460">
                <a:moveTo>
                  <a:pt x="10433304" y="0"/>
                </a:moveTo>
                <a:lnTo>
                  <a:pt x="0" y="0"/>
                </a:lnTo>
                <a:lnTo>
                  <a:pt x="0" y="1139952"/>
                </a:lnTo>
                <a:lnTo>
                  <a:pt x="10433304" y="1139952"/>
                </a:lnTo>
                <a:lnTo>
                  <a:pt x="104333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128248" y="0"/>
            <a:ext cx="1057910" cy="1140460"/>
          </a:xfrm>
          <a:custGeom>
            <a:avLst/>
            <a:gdLst/>
            <a:ahLst/>
            <a:cxnLst/>
            <a:rect l="l" t="t" r="r" b="b"/>
            <a:pathLst>
              <a:path w="1057909" h="1140460">
                <a:moveTo>
                  <a:pt x="1057655" y="0"/>
                </a:moveTo>
                <a:lnTo>
                  <a:pt x="0" y="0"/>
                </a:lnTo>
                <a:lnTo>
                  <a:pt x="0" y="1139952"/>
                </a:lnTo>
                <a:lnTo>
                  <a:pt x="1057655" y="1139952"/>
                </a:lnTo>
                <a:lnTo>
                  <a:pt x="10576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64811" y="1577466"/>
            <a:ext cx="6438265" cy="222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C9000-A67C-9347-A4D9-5A1C1BFDF454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bg object 22">
            <a:extLst>
              <a:ext uri="{FF2B5EF4-FFF2-40B4-BE49-F238E27FC236}">
                <a16:creationId xmlns:a16="http://schemas.microsoft.com/office/drawing/2014/main" id="{FEE0AF0E-E1B6-CE87-E36C-ABCFF71DAEAA}"/>
              </a:ext>
            </a:extLst>
          </p:cNvPr>
          <p:cNvSpPr/>
          <p:nvPr userDrawn="1"/>
        </p:nvSpPr>
        <p:spPr>
          <a:xfrm>
            <a:off x="10415188" y="83576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005F5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026" name="Picture 2" descr="Cégep de Sherbrooke — Wikipédia">
            <a:extLst>
              <a:ext uri="{FF2B5EF4-FFF2-40B4-BE49-F238E27FC236}">
                <a16:creationId xmlns:a16="http://schemas.microsoft.com/office/drawing/2014/main" id="{3DA05E7A-CD8C-07F2-A476-6ED106F2B9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-162331"/>
            <a:ext cx="4572000" cy="161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 d'Oise Communication - Votre agence spécialisée développement web">
            <a:extLst>
              <a:ext uri="{FF2B5EF4-FFF2-40B4-BE49-F238E27FC236}">
                <a16:creationId xmlns:a16="http://schemas.microsoft.com/office/drawing/2014/main" id="{F1AF9535-5125-D550-2913-2781FDE86D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758" y="1203960"/>
            <a:ext cx="5759958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5E4F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marL="0" algn="l" rtl="0"/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4E5EB-8119-6C48-B8B1-2F61AF1740AA}" type="datetime1">
              <a:rPr lang="en-US" smtClean="0"/>
              <a:t>10/30/25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7D8EC-7AA3-F946-ACB6-43A9F0DACD01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E4D95-9BEC-1641-B909-642243EA8BF4}" type="datetime1">
              <a:rPr lang="en-US" smtClean="0"/>
              <a:t>10/30/25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estion de projet : mieux piloter vos équipes et dossiers ?">
            <a:extLst>
              <a:ext uri="{FF2B5EF4-FFF2-40B4-BE49-F238E27FC236}">
                <a16:creationId xmlns:a16="http://schemas.microsoft.com/office/drawing/2014/main" id="{D60D313C-D7C3-BB01-0C26-98ACBCB7C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460" y="849342"/>
            <a:ext cx="2617255" cy="158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70047"/>
            <a:ext cx="4037075" cy="41879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552"/>
            <a:ext cx="1522475" cy="2365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99476" y="0"/>
            <a:ext cx="1604772" cy="1143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57843" y="6142309"/>
            <a:ext cx="896111" cy="71568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407305" y="0"/>
            <a:ext cx="742381" cy="119490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0415188" y="83576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005E4F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cs typeface="Verdana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47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marL="0" algn="l" rtl="0"/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6F0C2-6F4A-2E44-96D9-1D00E9A6473F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 b="1">
          <a:ln>
            <a:noFill/>
          </a:ln>
          <a:solidFill>
            <a:srgbClr val="005E4F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4648200" y="1308204"/>
            <a:ext cx="75438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fr-FR" sz="4500" b="1" dirty="0">
                <a:solidFill>
                  <a:schemeClr val="bg1"/>
                </a:solidFill>
              </a:rPr>
              <a:t>Modification d’un </a:t>
            </a:r>
            <a:r>
              <a:rPr lang="fr-FR" sz="4500" b="1" dirty="0" err="1">
                <a:solidFill>
                  <a:schemeClr val="bg1"/>
                </a:solidFill>
              </a:rPr>
              <a:t>système</a:t>
            </a:r>
            <a:r>
              <a:rPr lang="fr-FR" sz="4500" b="1" dirty="0">
                <a:solidFill>
                  <a:schemeClr val="bg1"/>
                </a:solidFill>
              </a:rPr>
              <a:t> existant</a:t>
            </a:r>
            <a:endParaRPr lang="fr-CA" sz="4500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5B0AF8-A98B-F90A-4A19-7F62DF87B42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383414" y="6228397"/>
            <a:ext cx="2804160" cy="492443"/>
          </a:xfrm>
        </p:spPr>
        <p:txBody>
          <a:bodyPr/>
          <a:lstStyle/>
          <a:p>
            <a:fld id="{989042C5-981F-8446-B5E6-599A3AD065DC}" type="datetime1">
              <a:rPr lang="en-US" sz="3200" b="1" smtClean="0">
                <a:solidFill>
                  <a:schemeClr val="bg1"/>
                </a:solidFill>
              </a:rPr>
              <a:t>10/30/25</a:t>
            </a:fld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D01C9-AA34-B8E2-8550-5B22CCDA0E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</a:t>
            </a:fld>
            <a:endParaRPr lang="en-DZ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C7E0785-9F16-D668-BA53-6037D1C8ADDF}"/>
              </a:ext>
            </a:extLst>
          </p:cNvPr>
          <p:cNvSpPr txBox="1">
            <a:spLocks/>
          </p:cNvSpPr>
          <p:nvPr/>
        </p:nvSpPr>
        <p:spPr>
          <a:xfrm>
            <a:off x="6858000" y="5453359"/>
            <a:ext cx="6039679" cy="10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solidFill>
                  <a:srgbClr val="000066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5080" rtl="0">
              <a:lnSpc>
                <a:spcPct val="150000"/>
              </a:lnSpc>
              <a:spcBef>
                <a:spcPts val="100"/>
              </a:spcBef>
            </a:pPr>
            <a:r>
              <a:rPr lang="fr-CA" sz="2400" b="1" dirty="0">
                <a:solidFill>
                  <a:schemeClr val="bg1"/>
                </a:solidFill>
              </a:rPr>
              <a:t>Enseignante : Asma </a:t>
            </a:r>
            <a:r>
              <a:rPr lang="fr-CA" sz="2400" b="1" dirty="0" err="1">
                <a:solidFill>
                  <a:schemeClr val="bg1"/>
                </a:solidFill>
              </a:rPr>
              <a:t>Aouichat</a:t>
            </a:r>
            <a:br>
              <a:rPr lang="fr-CA" sz="2400" b="1" dirty="0">
                <a:solidFill>
                  <a:schemeClr val="bg1"/>
                </a:solidFill>
              </a:rPr>
            </a:br>
            <a:r>
              <a:rPr lang="fr-CA" sz="2400" b="1" dirty="0">
                <a:solidFill>
                  <a:schemeClr val="bg1"/>
                </a:solidFill>
              </a:rPr>
              <a:t>contact : MIO</a:t>
            </a:r>
            <a:endParaRPr lang="fr-CA" sz="2400" dirty="0">
              <a:solidFill>
                <a:schemeClr val="bg1"/>
              </a:solidFill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9E77A43-F247-D1CA-BF14-D7F60FA475D0}"/>
              </a:ext>
            </a:extLst>
          </p:cNvPr>
          <p:cNvSpPr txBox="1">
            <a:spLocks/>
          </p:cNvSpPr>
          <p:nvPr/>
        </p:nvSpPr>
        <p:spPr>
          <a:xfrm>
            <a:off x="353288" y="3429000"/>
            <a:ext cx="113157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ln>
                  <a:noFill/>
                </a:ln>
                <a:solidFill>
                  <a:srgbClr val="000066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5080" algn="ctr">
              <a:spcBef>
                <a:spcPts val="100"/>
              </a:spcBef>
            </a:pPr>
            <a:r>
              <a:rPr lang="fr-FR" sz="4000" b="1" dirty="0">
                <a:solidFill>
                  <a:schemeClr val="tx1"/>
                </a:solidFill>
              </a:rPr>
              <a:t>Présentation du cours</a:t>
            </a:r>
          </a:p>
          <a:p>
            <a:pPr marL="12700" marR="5080" algn="ctr">
              <a:spcBef>
                <a:spcPts val="100"/>
              </a:spcBef>
            </a:pPr>
            <a:r>
              <a:rPr lang="fr-FR" sz="4000" b="1" dirty="0">
                <a:solidFill>
                  <a:schemeClr val="bg1"/>
                </a:solidFill>
              </a:rPr>
              <a:t>420-7A3-FE</a:t>
            </a:r>
            <a:endParaRPr lang="fr-CA" sz="4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D3438-7F71-EADF-2FC4-B03330C50915}"/>
              </a:ext>
            </a:extLst>
          </p:cNvPr>
          <p:cNvSpPr txBox="1"/>
          <p:nvPr/>
        </p:nvSpPr>
        <p:spPr>
          <a:xfrm>
            <a:off x="1767840" y="731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endParaRPr lang="en-D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2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7200" y="230725"/>
            <a:ext cx="29718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fr-CA" b="1" dirty="0">
                <a:solidFill>
                  <a:srgbClr val="005E4F"/>
                </a:solidFill>
                <a:latin typeface="Century Gothic" panose="020B0502020202020204" pitchFamily="34" charset="0"/>
              </a:rPr>
              <a:t>Sommaire</a:t>
            </a:r>
            <a:endParaRPr lang="fr-CA" dirty="0">
              <a:solidFill>
                <a:srgbClr val="005E4F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2FAB345-1315-713C-C6B2-055181743E86}"/>
              </a:ext>
            </a:extLst>
          </p:cNvPr>
          <p:cNvGraphicFramePr/>
          <p:nvPr/>
        </p:nvGraphicFramePr>
        <p:xfrm>
          <a:off x="2032000" y="1066800"/>
          <a:ext cx="8128000" cy="5071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42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3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9ADF3-6EEF-3A8B-B153-AA3809FA5DF9}"/>
              </a:ext>
            </a:extLst>
          </p:cNvPr>
          <p:cNvSpPr txBox="1"/>
          <p:nvPr/>
        </p:nvSpPr>
        <p:spPr>
          <a:xfrm>
            <a:off x="2929270" y="3249650"/>
            <a:ext cx="6198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1" spc="-20" dirty="0">
                <a:solidFill>
                  <a:srgbClr val="005E7B"/>
                </a:solidFill>
              </a:rPr>
              <a:t>que</a:t>
            </a:r>
            <a:endParaRPr lang="en-D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152400" y="2888143"/>
            <a:ext cx="9286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Présentation du cours</a:t>
            </a:r>
            <a:endParaRPr lang="en-US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23ABC3-11CB-30EA-9E3A-46C6B171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819400"/>
            <a:ext cx="2301950" cy="230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6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3FE01CAB-02AB-D3A2-DFDA-D7E6C967D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1" y="2564240"/>
            <a:ext cx="6903720" cy="38137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4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Objectif du Cours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16CCC-AEDF-574D-6EF7-02EB1B44F4CE}"/>
              </a:ext>
            </a:extLst>
          </p:cNvPr>
          <p:cNvSpPr txBox="1"/>
          <p:nvPr/>
        </p:nvSpPr>
        <p:spPr>
          <a:xfrm>
            <a:off x="4800600" y="2898105"/>
            <a:ext cx="6903720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Comprendre</a:t>
            </a:r>
            <a:r>
              <a:rPr lang="en-US" sz="2000" dirty="0">
                <a:latin typeface="Century Gothic" panose="020B0502020202020204" pitchFamily="34" charset="0"/>
              </a:rPr>
              <a:t> la structure et le </a:t>
            </a:r>
            <a:r>
              <a:rPr lang="en-US" sz="2000" dirty="0" err="1">
                <a:latin typeface="Century Gothic" panose="020B0502020202020204" pitchFamily="34" charset="0"/>
              </a:rPr>
              <a:t>fonctionnement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d’une</a:t>
            </a:r>
            <a:r>
              <a:rPr lang="en-US" sz="2000" dirty="0">
                <a:latin typeface="Century Gothic" panose="020B0502020202020204" pitchFamily="34" charset="0"/>
              </a:rPr>
              <a:t> application Web </a:t>
            </a:r>
            <a:r>
              <a:rPr lang="en-US" sz="2000" dirty="0" err="1">
                <a:latin typeface="Century Gothic" panose="020B0502020202020204" pitchFamily="34" charset="0"/>
              </a:rPr>
              <a:t>existante</a:t>
            </a:r>
            <a:r>
              <a:rPr lang="en-US" sz="2000" dirty="0">
                <a:latin typeface="Century Gothic" panose="020B0502020202020204" pitchFamily="34" charset="0"/>
              </a:rPr>
              <a:t>.</a:t>
            </a:r>
            <a:endParaRPr lang="fr-CA" sz="20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44C2B-B412-F209-D2F9-571D26893ADB}"/>
              </a:ext>
            </a:extLst>
          </p:cNvPr>
          <p:cNvSpPr txBox="1"/>
          <p:nvPr/>
        </p:nvSpPr>
        <p:spPr>
          <a:xfrm>
            <a:off x="4919590" y="5194315"/>
            <a:ext cx="6559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Travailler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en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équipe</a:t>
            </a:r>
            <a:r>
              <a:rPr lang="en-US" sz="2000" dirty="0">
                <a:latin typeface="Century Gothic" panose="020B0502020202020204" pitchFamily="34" charset="0"/>
              </a:rPr>
              <a:t> dans un </a:t>
            </a:r>
            <a:r>
              <a:rPr lang="en-US" sz="2000" dirty="0" err="1">
                <a:latin typeface="Century Gothic" panose="020B0502020202020204" pitchFamily="34" charset="0"/>
              </a:rPr>
              <a:t>contexte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professionnel</a:t>
            </a:r>
            <a:r>
              <a:rPr lang="en-US" sz="2000" dirty="0">
                <a:latin typeface="Century Gothic" panose="020B0502020202020204" pitchFamily="34" charset="0"/>
              </a:rPr>
              <a:t> avec </a:t>
            </a:r>
            <a:r>
              <a:rPr lang="en-US" sz="2000" dirty="0" err="1">
                <a:latin typeface="Century Gothic" panose="020B0502020202020204" pitchFamily="34" charset="0"/>
              </a:rPr>
              <a:t>outils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réels</a:t>
            </a:r>
            <a:r>
              <a:rPr lang="en-US" sz="20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F9E74-8B70-2DE0-3FD7-B54E5B8C018F}"/>
              </a:ext>
            </a:extLst>
          </p:cNvPr>
          <p:cNvSpPr txBox="1"/>
          <p:nvPr/>
        </p:nvSpPr>
        <p:spPr>
          <a:xfrm>
            <a:off x="868967" y="1556206"/>
            <a:ext cx="9189433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CA" sz="2000" dirty="0">
                <a:latin typeface="Century Gothic" panose="020B0502020202020204" pitchFamily="34" charset="0"/>
              </a:rPr>
              <a:t>Acquérir une compréhension des processus de développement logiciel en utilisant les techniques </a:t>
            </a:r>
            <a:r>
              <a:rPr lang="fr-CA" sz="2000" b="1" dirty="0">
                <a:latin typeface="Century Gothic" panose="020B0502020202020204" pitchFamily="34" charset="0"/>
              </a:rPr>
              <a:t>agiles</a:t>
            </a:r>
            <a:r>
              <a:rPr lang="fr-CA" sz="2000" dirty="0">
                <a:latin typeface="Century Gothic" panose="020B0502020202020204" pitchFamily="34" charset="0"/>
              </a:rPr>
              <a:t>, tout en explorant des aspects clés tels que :</a:t>
            </a:r>
          </a:p>
          <a:p>
            <a:pPr algn="l" rtl="0">
              <a:lnSpc>
                <a:spcPct val="150000"/>
              </a:lnSpc>
            </a:pPr>
            <a:endParaRPr lang="fr-CA" sz="2000" dirty="0">
              <a:latin typeface="Century Gothic" panose="020B0502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B02290-0559-3E3A-A7BA-FBAB4C43C74A}"/>
              </a:ext>
            </a:extLst>
          </p:cNvPr>
          <p:cNvSpPr txBox="1"/>
          <p:nvPr/>
        </p:nvSpPr>
        <p:spPr>
          <a:xfrm>
            <a:off x="4815839" y="4333398"/>
            <a:ext cx="704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 err="1">
                <a:latin typeface="Century Gothic" panose="020B0502020202020204" pitchFamily="34" charset="0"/>
              </a:rPr>
              <a:t>Être</a:t>
            </a:r>
            <a:r>
              <a:rPr lang="en-US" dirty="0">
                <a:latin typeface="Century Gothic" panose="020B0502020202020204" pitchFamily="34" charset="0"/>
              </a:rPr>
              <a:t> capable </a:t>
            </a:r>
            <a:r>
              <a:rPr lang="en-US" dirty="0" err="1">
                <a:latin typeface="Century Gothic" panose="020B0502020202020204" pitchFamily="34" charset="0"/>
              </a:rPr>
              <a:t>d’y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apporter</a:t>
            </a:r>
            <a:r>
              <a:rPr lang="en-US" dirty="0">
                <a:latin typeface="Century Gothic" panose="020B0502020202020204" pitchFamily="34" charset="0"/>
              </a:rPr>
              <a:t> des modifications stables et </a:t>
            </a:r>
            <a:r>
              <a:rPr lang="en-US" dirty="0" err="1">
                <a:latin typeface="Century Gothic" panose="020B0502020202020204" pitchFamily="34" charset="0"/>
              </a:rPr>
              <a:t>documentées</a:t>
            </a:r>
            <a:r>
              <a:rPr lang="en-US" dirty="0">
                <a:latin typeface="Century Gothic" panose="020B0502020202020204" pitchFamily="34" charset="0"/>
              </a:rPr>
              <a:t>.</a:t>
            </a:r>
            <a:endParaRPr lang="fr-CA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03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5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Pourquoi ce cours est-il important ?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868967" y="1531276"/>
            <a:ext cx="10351926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fr-CA" sz="2400" dirty="0">
                <a:latin typeface="Century Gothic" panose="020B0502020202020204" pitchFamily="34" charset="0"/>
              </a:rPr>
              <a:t>Ce cours vous prépare à :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Intervenir sur des applications déjà en production.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Comprendre et analyser du code existant.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Effectuer des modifications sécuritaires et efficaces.</a:t>
            </a:r>
          </a:p>
          <a:p>
            <a:pPr marL="342900" indent="-3429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Utiliser des outils professionnels :</a:t>
            </a:r>
          </a:p>
          <a:p>
            <a:pPr marL="2632075" lvl="3" indent="-334963" algn="l" rtl="0">
              <a:lnSpc>
                <a:spcPct val="150000"/>
              </a:lnSpc>
              <a:buFont typeface="Wingdings" pitchFamily="2" charset="2"/>
              <a:buChar char="Ø"/>
            </a:pPr>
            <a:r>
              <a:rPr lang="fr-CA" sz="2400" dirty="0">
                <a:latin typeface="Century Gothic" panose="020B0502020202020204" pitchFamily="34" charset="0"/>
              </a:rPr>
              <a:t>Git / GitHub</a:t>
            </a:r>
          </a:p>
          <a:p>
            <a:pPr marL="2632075" lvl="3" indent="-334963" algn="l" rtl="0">
              <a:lnSpc>
                <a:spcPct val="150000"/>
              </a:lnSpc>
              <a:buFont typeface="Wingdings" pitchFamily="2" charset="2"/>
              <a:buChar char="Ø"/>
            </a:pPr>
            <a:r>
              <a:rPr lang="fr-CA" sz="2400" dirty="0">
                <a:latin typeface="Century Gothic" panose="020B0502020202020204" pitchFamily="34" charset="0"/>
              </a:rPr>
              <a:t>Tests fonctionnels</a:t>
            </a:r>
          </a:p>
          <a:p>
            <a:pPr marL="2632075" lvl="3" indent="-334963" algn="l" rtl="0">
              <a:lnSpc>
                <a:spcPct val="150000"/>
              </a:lnSpc>
              <a:buFont typeface="Wingdings" pitchFamily="2" charset="2"/>
              <a:buChar char="Ø"/>
            </a:pPr>
            <a:r>
              <a:rPr lang="fr-CA" sz="2400" dirty="0">
                <a:latin typeface="Century Gothic" panose="020B0502020202020204" pitchFamily="34" charset="0"/>
              </a:rPr>
              <a:t>Documentation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55303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164B-EC17-59C1-E457-20D7FB14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Lien avec les </a:t>
            </a:r>
            <a:r>
              <a:rPr lang="en-US" dirty="0" err="1"/>
              <a:t>cours</a:t>
            </a:r>
            <a:r>
              <a:rPr lang="en-US" dirty="0"/>
              <a:t> </a:t>
            </a:r>
            <a:r>
              <a:rPr lang="en-US" dirty="0" err="1"/>
              <a:t>précédents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913B0-B05E-0536-8D88-A9ACAA28D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4838248"/>
          </a:xfrm>
        </p:spPr>
        <p:txBody>
          <a:bodyPr/>
          <a:lstStyle/>
          <a:p>
            <a:pPr marL="92075" lvl="1">
              <a:lnSpc>
                <a:spcPct val="200000"/>
              </a:lnSpc>
            </a:pPr>
            <a:r>
              <a:rPr lang="en-US" sz="2000" dirty="0">
                <a:latin typeface="Century Gothic" panose="020B0502020202020204" pitchFamily="34" charset="0"/>
              </a:rPr>
              <a:t>Ce </a:t>
            </a:r>
            <a:r>
              <a:rPr lang="en-US" sz="2000" dirty="0" err="1">
                <a:latin typeface="Century Gothic" panose="020B0502020202020204" pitchFamily="34" charset="0"/>
              </a:rPr>
              <a:t>cours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s’appuie</a:t>
            </a:r>
            <a:r>
              <a:rPr lang="en-US" sz="2000" dirty="0">
                <a:latin typeface="Century Gothic" panose="020B0502020202020204" pitchFamily="34" charset="0"/>
              </a:rPr>
              <a:t> sur :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420-705-FE</a:t>
            </a:r>
            <a:r>
              <a:rPr lang="en-US" sz="2000" dirty="0">
                <a:latin typeface="Century Gothic" panose="020B0502020202020204" pitchFamily="34" charset="0"/>
              </a:rPr>
              <a:t> → Interfaces Web (HTML, CSS, JavaScript)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420-RE3-SH</a:t>
            </a:r>
            <a:r>
              <a:rPr lang="en-US" sz="2000" dirty="0">
                <a:latin typeface="Century Gothic" panose="020B0502020202020204" pitchFamily="34" charset="0"/>
              </a:rPr>
              <a:t> → </a:t>
            </a:r>
            <a:r>
              <a:rPr lang="en-US" sz="2000" dirty="0" err="1">
                <a:latin typeface="Century Gothic" panose="020B0502020202020204" pitchFamily="34" charset="0"/>
              </a:rPr>
              <a:t>Outils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numériques</a:t>
            </a:r>
            <a:r>
              <a:rPr lang="en-US" sz="2000" dirty="0">
                <a:latin typeface="Century Gothic" panose="020B0502020202020204" pitchFamily="34" charset="0"/>
              </a:rPr>
              <a:t> pour le </a:t>
            </a:r>
            <a:r>
              <a:rPr lang="en-US" sz="2000" dirty="0" err="1">
                <a:latin typeface="Century Gothic" panose="020B0502020202020204" pitchFamily="34" charset="0"/>
              </a:rPr>
              <a:t>développement</a:t>
            </a:r>
            <a:endParaRPr lang="en-US" sz="2000" dirty="0">
              <a:latin typeface="Century Gothic" panose="020B0502020202020204" pitchFamily="34" charset="0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420-7B4-FE</a:t>
            </a:r>
            <a:r>
              <a:rPr lang="en-US" sz="2000" dirty="0">
                <a:latin typeface="Century Gothic" panose="020B0502020202020204" pitchFamily="34" charset="0"/>
              </a:rPr>
              <a:t> → Bases de </a:t>
            </a:r>
            <a:r>
              <a:rPr lang="en-US" sz="2000" dirty="0" err="1">
                <a:latin typeface="Century Gothic" panose="020B0502020202020204" pitchFamily="34" charset="0"/>
              </a:rPr>
              <a:t>données</a:t>
            </a:r>
            <a:endParaRPr lang="en-US" sz="2000" dirty="0">
              <a:latin typeface="Century Gothic" panose="020B0502020202020204" pitchFamily="34" charset="0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420-7A4-FE</a:t>
            </a:r>
            <a:r>
              <a:rPr lang="en-US" sz="2000" dirty="0">
                <a:latin typeface="Century Gothic" panose="020B0502020202020204" pitchFamily="34" charset="0"/>
              </a:rPr>
              <a:t> → </a:t>
            </a:r>
            <a:r>
              <a:rPr lang="en-US" sz="2000" dirty="0" err="1">
                <a:latin typeface="Century Gothic" panose="020B0502020202020204" pitchFamily="34" charset="0"/>
              </a:rPr>
              <a:t>Environnement</a:t>
            </a:r>
            <a:r>
              <a:rPr lang="en-US" sz="2000" dirty="0">
                <a:latin typeface="Century Gothic" panose="020B0502020202020204" pitchFamily="34" charset="0"/>
              </a:rPr>
              <a:t> Web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420-715-FE</a:t>
            </a:r>
            <a:r>
              <a:rPr lang="en-US" sz="2000" dirty="0">
                <a:latin typeface="Century Gothic" panose="020B0502020202020204" pitchFamily="34" charset="0"/>
              </a:rPr>
              <a:t> → </a:t>
            </a:r>
            <a:r>
              <a:rPr lang="en-US" sz="2000" dirty="0" err="1">
                <a:latin typeface="Century Gothic" panose="020B0502020202020204" pitchFamily="34" charset="0"/>
              </a:rPr>
              <a:t>Programmation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transactionnelle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côté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serveur</a:t>
            </a:r>
            <a:endParaRPr lang="en-US" sz="2000" dirty="0">
              <a:latin typeface="Century Gothic" panose="020B0502020202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Ce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cours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consolide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toutes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ces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compétences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dans un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projet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i="1" dirty="0" err="1">
                <a:solidFill>
                  <a:srgbClr val="03723A"/>
                </a:solidFill>
                <a:latin typeface="Century Gothic" panose="020B0502020202020204" pitchFamily="34" charset="0"/>
              </a:rPr>
              <a:t>réel</a:t>
            </a:r>
            <a:r>
              <a:rPr lang="en-US" sz="2000" b="1" i="1" dirty="0">
                <a:solidFill>
                  <a:srgbClr val="03723A"/>
                </a:solidFill>
                <a:latin typeface="Century Gothic" panose="020B0502020202020204" pitchFamily="34" charset="0"/>
              </a:rPr>
              <a:t>.</a:t>
            </a:r>
            <a:endParaRPr lang="en-US" sz="2000" b="1" dirty="0">
              <a:solidFill>
                <a:srgbClr val="03723A"/>
              </a:solidFill>
              <a:latin typeface="Century Gothic" panose="020B0502020202020204" pitchFamily="34" charset="0"/>
            </a:endParaRPr>
          </a:p>
          <a:p>
            <a:pPr marL="0" algn="l" rtl="0">
              <a:lnSpc>
                <a:spcPct val="200000"/>
              </a:lnSpc>
            </a:pPr>
            <a:endParaRPr lang="en-DZ" sz="2000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A8BB-3252-65E3-7EB3-974EA282A9A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451DA-112C-9C32-D43A-9A7EA11DDD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6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22414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E626-1BE5-C43F-56D6-346DC914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r>
              <a:rPr lang="en-US" dirty="0"/>
              <a:t>Ce que </a:t>
            </a:r>
            <a:r>
              <a:rPr lang="en-US" dirty="0" err="1"/>
              <a:t>vous</a:t>
            </a:r>
            <a:r>
              <a:rPr lang="en-US" dirty="0"/>
              <a:t> </a:t>
            </a:r>
            <a:r>
              <a:rPr lang="en-US" dirty="0" err="1"/>
              <a:t>saurez</a:t>
            </a:r>
            <a:r>
              <a:rPr lang="en-US" dirty="0"/>
              <a:t> faire </a:t>
            </a:r>
            <a:r>
              <a:rPr lang="en-US" dirty="0" err="1"/>
              <a:t>à</a:t>
            </a:r>
            <a:r>
              <a:rPr lang="en-US" dirty="0"/>
              <a:t> la fin du </a:t>
            </a:r>
            <a:r>
              <a:rPr lang="en-US" dirty="0" err="1"/>
              <a:t>cours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C3964-6846-E18C-1EDD-3A57283BC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5866" y="1981200"/>
            <a:ext cx="10494645" cy="4454104"/>
          </a:xfrm>
        </p:spPr>
        <p:txBody>
          <a:bodyPr/>
          <a:lstStyle/>
          <a:p>
            <a:pPr marL="342900" indent="-342900" algn="l" rtl="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2400" dirty="0" err="1">
                <a:latin typeface="Century Gothic" panose="020B0502020202020204" pitchFamily="34" charset="0"/>
              </a:rPr>
              <a:t>Analyser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une</a:t>
            </a:r>
            <a:r>
              <a:rPr lang="en-US" sz="2400" dirty="0">
                <a:latin typeface="Century Gothic" panose="020B0502020202020204" pitchFamily="34" charset="0"/>
              </a:rPr>
              <a:t> application Web </a:t>
            </a:r>
            <a:r>
              <a:rPr lang="en-US" sz="2400" dirty="0" err="1">
                <a:latin typeface="Century Gothic" panose="020B0502020202020204" pitchFamily="34" charset="0"/>
              </a:rPr>
              <a:t>existante</a:t>
            </a:r>
            <a:endParaRPr lang="en-US" sz="2400" dirty="0">
              <a:latin typeface="Century Gothic" panose="020B0502020202020204" pitchFamily="34" charset="0"/>
            </a:endParaRPr>
          </a:p>
          <a:p>
            <a:pPr marL="342900" indent="-342900" algn="l" rtl="0">
              <a:lnSpc>
                <a:spcPct val="250000"/>
              </a:lnSpc>
              <a:buFont typeface="Wingdings" pitchFamily="2" charset="2"/>
              <a:buChar char="q"/>
            </a:pPr>
            <a:r>
              <a:rPr lang="en-DZ" sz="2400" dirty="0">
                <a:latin typeface="Century Gothic" panose="020B0502020202020204" pitchFamily="34" charset="0"/>
              </a:rPr>
              <a:t> </a:t>
            </a:r>
            <a:r>
              <a:rPr lang="en-US" sz="2400" dirty="0">
                <a:latin typeface="Century Gothic" panose="020B0502020202020204" pitchFamily="34" charset="0"/>
              </a:rPr>
              <a:t>Identifier et </a:t>
            </a:r>
            <a:r>
              <a:rPr lang="en-US" sz="2400" dirty="0" err="1">
                <a:latin typeface="Century Gothic" panose="020B0502020202020204" pitchFamily="34" charset="0"/>
              </a:rPr>
              <a:t>corriger</a:t>
            </a:r>
            <a:r>
              <a:rPr lang="en-US" sz="2400" dirty="0">
                <a:latin typeface="Century Gothic" panose="020B0502020202020204" pitchFamily="34" charset="0"/>
              </a:rPr>
              <a:t> les problems</a:t>
            </a:r>
          </a:p>
          <a:p>
            <a:pPr marL="342900" indent="-342900" algn="l" rtl="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2400" dirty="0" err="1">
                <a:latin typeface="Century Gothic" panose="020B0502020202020204" pitchFamily="34" charset="0"/>
              </a:rPr>
              <a:t>Ajouter</a:t>
            </a:r>
            <a:r>
              <a:rPr lang="en-US" sz="2400" dirty="0">
                <a:latin typeface="Century Gothic" panose="020B0502020202020204" pitchFamily="34" charset="0"/>
              </a:rPr>
              <a:t> de </a:t>
            </a:r>
            <a:r>
              <a:rPr lang="en-US" sz="2400" dirty="0" err="1">
                <a:latin typeface="Century Gothic" panose="020B0502020202020204" pitchFamily="34" charset="0"/>
              </a:rPr>
              <a:t>nouvelles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fonctionnalités</a:t>
            </a:r>
            <a:endParaRPr lang="en-US" sz="2400" dirty="0">
              <a:latin typeface="Century Gothic" panose="020B0502020202020204" pitchFamily="34" charset="0"/>
            </a:endParaRPr>
          </a:p>
          <a:p>
            <a:pPr marL="342900" indent="-342900" algn="l" rtl="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2400" dirty="0">
                <a:latin typeface="Century Gothic" panose="020B0502020202020204" pitchFamily="34" charset="0"/>
              </a:rPr>
              <a:t>Documenter et tester </a:t>
            </a:r>
            <a:r>
              <a:rPr lang="en-US" sz="2400" dirty="0" err="1">
                <a:latin typeface="Century Gothic" panose="020B0502020202020204" pitchFamily="34" charset="0"/>
              </a:rPr>
              <a:t>vos</a:t>
            </a:r>
            <a:r>
              <a:rPr lang="en-US" sz="2400" dirty="0">
                <a:latin typeface="Century Gothic" panose="020B0502020202020204" pitchFamily="34" charset="0"/>
              </a:rPr>
              <a:t> modifications</a:t>
            </a:r>
          </a:p>
          <a:p>
            <a:pPr marL="342900" indent="-342900" algn="l" rtl="0">
              <a:lnSpc>
                <a:spcPct val="250000"/>
              </a:lnSpc>
              <a:buFont typeface="Wingdings" pitchFamily="2" charset="2"/>
              <a:buChar char="q"/>
            </a:pPr>
            <a:r>
              <a:rPr lang="en-US" sz="2400" dirty="0" err="1">
                <a:latin typeface="Century Gothic" panose="020B0502020202020204" pitchFamily="34" charset="0"/>
              </a:rPr>
              <a:t>Collaborer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efficacement</a:t>
            </a:r>
            <a:r>
              <a:rPr lang="en-US" sz="2400" dirty="0">
                <a:latin typeface="Century Gothic" panose="020B0502020202020204" pitchFamily="34" charset="0"/>
              </a:rPr>
              <a:t> avec </a:t>
            </a:r>
            <a:r>
              <a:rPr lang="en-US" sz="2400" dirty="0" err="1">
                <a:latin typeface="Century Gothic" panose="020B0502020202020204" pitchFamily="34" charset="0"/>
              </a:rPr>
              <a:t>votre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latin typeface="Century Gothic" panose="020B0502020202020204" pitchFamily="34" charset="0"/>
              </a:rPr>
              <a:t>équipe</a:t>
            </a:r>
            <a:endParaRPr lang="en-DZ" sz="2400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46299-7268-5FA7-0446-B69963B8046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E1A35-1F7B-4584-70CD-4B9BEA9265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7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1652307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A3DF-C349-5B78-FB6D-109573CB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Outils</a:t>
            </a:r>
            <a:r>
              <a:rPr lang="en-US" dirty="0"/>
              <a:t> et technologies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8B212-FD92-1CBB-9222-05BA56B6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526144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b="1" dirty="0" err="1">
                <a:latin typeface="Century Gothic" panose="020B0502020202020204" pitchFamily="34" charset="0"/>
              </a:rPr>
              <a:t>Outils</a:t>
            </a:r>
            <a:r>
              <a:rPr lang="en-US" sz="2000" b="1" dirty="0"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latin typeface="Century Gothic" panose="020B0502020202020204" pitchFamily="34" charset="0"/>
              </a:rPr>
              <a:t>utilisés</a:t>
            </a:r>
            <a:r>
              <a:rPr lang="en-US" sz="2000" b="1" dirty="0">
                <a:latin typeface="Century Gothic" panose="020B0502020202020204" pitchFamily="34" charset="0"/>
              </a:rPr>
              <a:t> dans le </a:t>
            </a:r>
            <a:r>
              <a:rPr lang="en-US" sz="2000" b="1" dirty="0" err="1">
                <a:latin typeface="Century Gothic" panose="020B0502020202020204" pitchFamily="34" charset="0"/>
              </a:rPr>
              <a:t>cours</a:t>
            </a:r>
            <a:r>
              <a:rPr lang="en-US" sz="2000" b="1" dirty="0">
                <a:latin typeface="Century Gothic" panose="020B0502020202020204" pitchFamily="34" charset="0"/>
              </a:rPr>
              <a:t> :</a:t>
            </a:r>
            <a:endParaRPr lang="en-US" sz="2000" dirty="0">
              <a:latin typeface="Century Gothic" panose="020B0502020202020204" pitchFamily="34" charset="0"/>
            </a:endParaRP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Git / GitHub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Environnement</a:t>
            </a:r>
            <a:r>
              <a:rPr lang="en-US" sz="2000" dirty="0">
                <a:latin typeface="Century Gothic" panose="020B0502020202020204" pitchFamily="34" charset="0"/>
              </a:rPr>
              <a:t> de </a:t>
            </a:r>
            <a:r>
              <a:rPr lang="en-US" sz="2000" dirty="0" err="1">
                <a:latin typeface="Century Gothic" panose="020B0502020202020204" pitchFamily="34" charset="0"/>
              </a:rPr>
              <a:t>développement</a:t>
            </a:r>
            <a:r>
              <a:rPr lang="en-US" sz="2000" dirty="0">
                <a:latin typeface="Century Gothic" panose="020B0502020202020204" pitchFamily="34" charset="0"/>
              </a:rPr>
              <a:t> Web (VS Code, PHP, MySQL)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Tests </a:t>
            </a:r>
            <a:r>
              <a:rPr lang="en-US" sz="2000" dirty="0" err="1">
                <a:latin typeface="Century Gothic" panose="020B0502020202020204" pitchFamily="34" charset="0"/>
              </a:rPr>
              <a:t>fonctionnels</a:t>
            </a:r>
            <a:r>
              <a:rPr lang="en-US" sz="2000" dirty="0">
                <a:latin typeface="Century Gothic" panose="020B0502020202020204" pitchFamily="34" charset="0"/>
              </a:rPr>
              <a:t> et plans de test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Documentation technique</a:t>
            </a:r>
          </a:p>
          <a:p>
            <a:pPr lvl="1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entury Gothic" panose="020B0502020202020204" pitchFamily="34" charset="0"/>
              </a:rPr>
              <a:t>Outils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collaboratifs</a:t>
            </a:r>
            <a:r>
              <a:rPr lang="en-US" sz="2000" dirty="0">
                <a:latin typeface="Century Gothic" panose="020B0502020202020204" pitchFamily="34" charset="0"/>
              </a:rPr>
              <a:t> (Trello, Teams, etc.)</a:t>
            </a:r>
          </a:p>
          <a:p>
            <a:pPr marL="0" algn="l" rtl="0">
              <a:lnSpc>
                <a:spcPct val="250000"/>
              </a:lnSpc>
            </a:pPr>
            <a:endParaRPr lang="en-DZ" sz="2000" dirty="0">
              <a:latin typeface="Century Gothic" panose="020B0502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AB45-2D8D-9463-0D72-993A66EEFB4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0C00D8-9237-FCC1-A0F9-036AF6399C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8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4907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16DE-5712-0F50-3745-9DD3EEBEB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Évaluations</a:t>
            </a:r>
            <a:r>
              <a:rPr lang="en-US" dirty="0"/>
              <a:t> formatives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89F28-481D-F4F2-0B98-D3F5D722B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292" y="1604899"/>
            <a:ext cx="10494645" cy="3128229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sz="2400" b="1" dirty="0" err="1"/>
              <a:t>Laboratoires</a:t>
            </a:r>
            <a:r>
              <a:rPr lang="en-US" sz="2400" b="1" dirty="0"/>
              <a:t> </a:t>
            </a:r>
            <a:r>
              <a:rPr lang="en-US" sz="2400" b="1" dirty="0" err="1"/>
              <a:t>individuels</a:t>
            </a:r>
            <a:r>
              <a:rPr lang="en-US" sz="2400" dirty="0"/>
              <a:t> : mise </a:t>
            </a:r>
            <a:r>
              <a:rPr lang="en-US" sz="2400" dirty="0" err="1"/>
              <a:t>en</a:t>
            </a:r>
            <a:r>
              <a:rPr lang="en-US" sz="2400" dirty="0"/>
              <a:t> pratique </a:t>
            </a:r>
            <a:r>
              <a:rPr lang="en-US" sz="2400" dirty="0" err="1"/>
              <a:t>immédiate</a:t>
            </a:r>
            <a:r>
              <a:rPr lang="en-US" sz="2400" dirty="0"/>
              <a:t>.</a:t>
            </a:r>
          </a:p>
          <a:p>
            <a:pPr>
              <a:lnSpc>
                <a:spcPct val="300000"/>
              </a:lnSpc>
            </a:pPr>
            <a:r>
              <a:rPr lang="en-US" sz="2400" b="1" dirty="0" err="1"/>
              <a:t>Compléments</a:t>
            </a:r>
            <a:r>
              <a:rPr lang="en-US" sz="2400" b="1" dirty="0"/>
              <a:t> </a:t>
            </a:r>
            <a:r>
              <a:rPr lang="en-US" sz="2400" b="1" dirty="0" err="1"/>
              <a:t>à</a:t>
            </a:r>
            <a:r>
              <a:rPr lang="en-US" sz="2400" b="1" dirty="0"/>
              <a:t> la </a:t>
            </a:r>
            <a:r>
              <a:rPr lang="en-US" sz="2400" b="1" dirty="0" err="1"/>
              <a:t>maison</a:t>
            </a:r>
            <a:r>
              <a:rPr lang="en-US" sz="2400" dirty="0"/>
              <a:t> pour </a:t>
            </a:r>
            <a:r>
              <a:rPr lang="en-US" sz="2400" dirty="0" err="1"/>
              <a:t>approfondir</a:t>
            </a:r>
            <a:r>
              <a:rPr lang="en-US" sz="2400" dirty="0"/>
              <a:t> les notions.</a:t>
            </a:r>
          </a:p>
          <a:p>
            <a:pPr marL="0" algn="l" rtl="0">
              <a:lnSpc>
                <a:spcPct val="300000"/>
              </a:lnSpc>
            </a:pPr>
            <a:endParaRPr lang="en-DZ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055D-3F13-46E7-6438-7ABF8AF991C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C22A7-A812-973F-CFCB-C30A1F7D1D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9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304301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10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 err="1"/>
              <a:t>Évaluations</a:t>
            </a:r>
            <a:r>
              <a:rPr lang="en-US" sz="3600" dirty="0"/>
              <a:t> </a:t>
            </a:r>
            <a:r>
              <a:rPr lang="en-US" sz="3600" dirty="0" err="1"/>
              <a:t>sommatives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914400" y="1403045"/>
            <a:ext cx="10363200" cy="514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00000"/>
              </a:lnSpc>
            </a:pPr>
            <a:r>
              <a:rPr lang="fr-CA" sz="2400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Évaluations : </a:t>
            </a:r>
          </a:p>
          <a:p>
            <a:pPr algn="l" rtl="0">
              <a:lnSpc>
                <a:spcPct val="200000"/>
              </a:lnSpc>
            </a:pPr>
            <a:r>
              <a:rPr lang="fr-CA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	Examen de mi-session </a:t>
            </a:r>
            <a:r>
              <a:rPr lang="fr-CA" sz="2400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(</a:t>
            </a:r>
            <a:r>
              <a:rPr lang="fr-CA" sz="2400" b="1" i="0" dirty="0">
                <a:solidFill>
                  <a:srgbClr val="005D4F"/>
                </a:solidFill>
                <a:effectLst/>
                <a:latin typeface="Century Gothic" panose="020B0502020202020204" pitchFamily="34" charset="0"/>
              </a:rPr>
              <a:t>20-11-2025</a:t>
            </a:r>
            <a:r>
              <a:rPr lang="fr-CA" sz="2400" b="1" i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</a:t>
            </a:r>
            <a:r>
              <a:rPr lang="fr-CA" sz="2400" b="0" i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40</a:t>
            </a:r>
            <a:r>
              <a:rPr lang="fr-CA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%</a:t>
            </a:r>
          </a:p>
          <a:p>
            <a:pPr algn="l" rtl="0">
              <a:lnSpc>
                <a:spcPct val="200000"/>
              </a:lnSpc>
            </a:pP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	Projet de session :</a:t>
            </a:r>
          </a:p>
          <a:p>
            <a:pPr marL="1566863" indent="-41275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Évaluation 1(</a:t>
            </a:r>
            <a:r>
              <a:rPr lang="fr-CA" sz="2400" b="1" dirty="0">
                <a:solidFill>
                  <a:srgbClr val="005D4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Mardi 4 Novembre</a:t>
            </a:r>
            <a:r>
              <a:rPr lang="en-DZ" sz="2400" b="1" dirty="0">
                <a:solidFill>
                  <a:srgbClr val="005D4F"/>
                </a:solidFill>
                <a:effectLst/>
              </a:rPr>
              <a:t> </a:t>
            </a:r>
            <a:r>
              <a:rPr lang="en-DZ" sz="2400" dirty="0">
                <a:effectLst/>
              </a:rPr>
              <a:t>)</a:t>
            </a: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 : 10 %</a:t>
            </a:r>
          </a:p>
          <a:p>
            <a:pPr marL="1566863" indent="-41275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Évaluation 2 (</a:t>
            </a:r>
            <a:r>
              <a:rPr lang="fr-CA" sz="2400" b="1" dirty="0">
                <a:solidFill>
                  <a:srgbClr val="005D4F"/>
                </a:solidFill>
                <a:latin typeface="Century Gothic" panose="020B0502020202020204" pitchFamily="34" charset="0"/>
              </a:rPr>
              <a:t>Mardi 18 Novembre</a:t>
            </a: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): 10 %</a:t>
            </a:r>
          </a:p>
          <a:p>
            <a:pPr marL="1566863" indent="-41275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Évaluation 3 (</a:t>
            </a:r>
            <a:r>
              <a:rPr lang="fr-CA" sz="2400" b="1" dirty="0">
                <a:solidFill>
                  <a:srgbClr val="005D4F"/>
                </a:solidFill>
                <a:latin typeface="Century Gothic" panose="020B0502020202020204" pitchFamily="34" charset="0"/>
              </a:rPr>
              <a:t>Mardi 02 Décembre </a:t>
            </a: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): 10%</a:t>
            </a:r>
          </a:p>
          <a:p>
            <a:pPr marL="1566863" indent="-41275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Présentation finale du projet (</a:t>
            </a:r>
            <a:r>
              <a:rPr lang="fr-CA" sz="2400" b="1" dirty="0">
                <a:solidFill>
                  <a:srgbClr val="005D4F"/>
                </a:solidFill>
                <a:latin typeface="Century Gothic" panose="020B0502020202020204" pitchFamily="34" charset="0"/>
              </a:rPr>
              <a:t>Mardi 16 Décembre</a:t>
            </a:r>
            <a:r>
              <a:rPr lang="fr-CA" sz="2400" dirty="0">
                <a:solidFill>
                  <a:srgbClr val="000000"/>
                </a:solidFill>
                <a:latin typeface="Century Gothic" panose="020B0502020202020204" pitchFamily="34" charset="0"/>
              </a:rPr>
              <a:t>): 30%</a:t>
            </a:r>
            <a:endParaRPr lang="fr-CA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5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6018-0C63-60AF-E8AD-EDAA6BFF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16" y="424434"/>
            <a:ext cx="9450705" cy="1292662"/>
          </a:xfrm>
        </p:spPr>
        <p:txBody>
          <a:bodyPr/>
          <a:lstStyle/>
          <a:p>
            <a:pPr algn="ctr" rtl="0"/>
            <a:r>
              <a:rPr lang="en-US" dirty="0" err="1"/>
              <a:t>Projet</a:t>
            </a:r>
            <a:r>
              <a:rPr lang="en-US" dirty="0"/>
              <a:t> de session (</a:t>
            </a:r>
            <a:r>
              <a:rPr lang="en-US" dirty="0" err="1"/>
              <a:t>évaluation</a:t>
            </a:r>
            <a:r>
              <a:rPr lang="en-US" dirty="0"/>
              <a:t> finale)</a:t>
            </a:r>
            <a:endParaRPr lang="en-D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12F3B-A9CA-D89D-2387-697187E69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916" y="2100110"/>
            <a:ext cx="10494645" cy="324839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200" b="1" dirty="0">
                <a:latin typeface="Century Gothic" panose="020B0502020202020204" pitchFamily="34" charset="0"/>
              </a:rPr>
              <a:t>Modifier un </a:t>
            </a:r>
            <a:r>
              <a:rPr lang="en-US" sz="2200" b="1" dirty="0" err="1">
                <a:latin typeface="Century Gothic" panose="020B0502020202020204" pitchFamily="34" charset="0"/>
              </a:rPr>
              <a:t>système</a:t>
            </a:r>
            <a:r>
              <a:rPr lang="en-US" sz="2200" b="1" dirty="0">
                <a:latin typeface="Century Gothic" panose="020B0502020202020204" pitchFamily="34" charset="0"/>
              </a:rPr>
              <a:t> Web </a:t>
            </a:r>
            <a:r>
              <a:rPr lang="en-US" sz="2200" b="1" dirty="0" err="1">
                <a:latin typeface="Century Gothic" panose="020B0502020202020204" pitchFamily="34" charset="0"/>
              </a:rPr>
              <a:t>existant</a:t>
            </a:r>
            <a:r>
              <a:rPr lang="en-US" sz="2200" dirty="0">
                <a:latin typeface="Century Gothic" panose="020B0502020202020204" pitchFamily="34" charset="0"/>
              </a:rPr>
              <a:t> </a:t>
            </a:r>
            <a:r>
              <a:rPr lang="en-US" sz="2200" dirty="0" err="1">
                <a:latin typeface="Century Gothic" panose="020B0502020202020204" pitchFamily="34" charset="0"/>
              </a:rPr>
              <a:t>selon</a:t>
            </a:r>
            <a:r>
              <a:rPr lang="en-US" sz="2200" dirty="0">
                <a:latin typeface="Century Gothic" panose="020B0502020202020204" pitchFamily="34" charset="0"/>
              </a:rPr>
              <a:t> les </a:t>
            </a:r>
            <a:r>
              <a:rPr lang="en-US" sz="2200" dirty="0" err="1">
                <a:latin typeface="Century Gothic" panose="020B0502020202020204" pitchFamily="34" charset="0"/>
              </a:rPr>
              <a:t>besoins</a:t>
            </a:r>
            <a:r>
              <a:rPr lang="en-US" sz="2200" dirty="0">
                <a:latin typeface="Century Gothic" panose="020B0502020202020204" pitchFamily="34" charset="0"/>
              </a:rPr>
              <a:t> d’un client </a:t>
            </a:r>
            <a:r>
              <a:rPr lang="en-US" sz="2200" dirty="0" err="1">
                <a:latin typeface="Century Gothic" panose="020B0502020202020204" pitchFamily="34" charset="0"/>
              </a:rPr>
              <a:t>fictif</a:t>
            </a:r>
            <a:r>
              <a:rPr lang="en-US" sz="2200" dirty="0">
                <a:latin typeface="Century Gothic" panose="020B0502020202020204" pitchFamily="34" charset="0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entury Gothic" panose="020B0502020202020204" pitchFamily="34" charset="0"/>
              </a:rPr>
              <a:t>Équipes</a:t>
            </a:r>
            <a:r>
              <a:rPr lang="en-US" sz="2200" dirty="0">
                <a:latin typeface="Century Gothic" panose="020B0502020202020204" pitchFamily="34" charset="0"/>
              </a:rPr>
              <a:t> de 3 </a:t>
            </a:r>
            <a:r>
              <a:rPr lang="en-US" sz="2200" dirty="0" err="1">
                <a:latin typeface="Century Gothic" panose="020B0502020202020204" pitchFamily="34" charset="0"/>
              </a:rPr>
              <a:t>à</a:t>
            </a:r>
            <a:r>
              <a:rPr lang="en-US" sz="2200" dirty="0">
                <a:latin typeface="Century Gothic" panose="020B0502020202020204" pitchFamily="34" charset="0"/>
              </a:rPr>
              <a:t> 4 </a:t>
            </a:r>
            <a:r>
              <a:rPr lang="en-US" sz="2200" dirty="0" err="1">
                <a:latin typeface="Century Gothic" panose="020B0502020202020204" pitchFamily="34" charset="0"/>
              </a:rPr>
              <a:t>personnes</a:t>
            </a:r>
            <a:r>
              <a:rPr lang="en-US" sz="2200" dirty="0">
                <a:latin typeface="Century Gothic" panose="020B0502020202020204" pitchFamily="34" charset="0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entury Gothic" panose="020B0502020202020204" pitchFamily="34" charset="0"/>
              </a:rPr>
              <a:t>Intégration</a:t>
            </a:r>
            <a:r>
              <a:rPr lang="en-US" sz="2200" dirty="0">
                <a:latin typeface="Century Gothic" panose="020B0502020202020204" pitchFamily="34" charset="0"/>
              </a:rPr>
              <a:t> des </a:t>
            </a:r>
            <a:r>
              <a:rPr lang="en-US" sz="2200" dirty="0" err="1">
                <a:latin typeface="Century Gothic" panose="020B0502020202020204" pitchFamily="34" charset="0"/>
              </a:rPr>
              <a:t>fonctionnalités</a:t>
            </a:r>
            <a:r>
              <a:rPr lang="en-US" sz="2200" dirty="0">
                <a:latin typeface="Century Gothic" panose="020B0502020202020204" pitchFamily="34" charset="0"/>
              </a:rPr>
              <a:t>, documentation et tests.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entury Gothic" panose="020B0502020202020204" pitchFamily="34" charset="0"/>
              </a:rPr>
              <a:t>Évaluation</a:t>
            </a:r>
            <a:r>
              <a:rPr lang="en-US" sz="2200" dirty="0">
                <a:latin typeface="Century Gothic" panose="020B0502020202020204" pitchFamily="34" charset="0"/>
              </a:rPr>
              <a:t> de la </a:t>
            </a:r>
            <a:r>
              <a:rPr lang="en-US" sz="2200" b="1" dirty="0" err="1">
                <a:latin typeface="Century Gothic" panose="020B0502020202020204" pitchFamily="34" charset="0"/>
              </a:rPr>
              <a:t>qualité</a:t>
            </a:r>
            <a:r>
              <a:rPr lang="en-US" sz="2200" b="1" dirty="0">
                <a:latin typeface="Century Gothic" panose="020B0502020202020204" pitchFamily="34" charset="0"/>
              </a:rPr>
              <a:t> du travail </a:t>
            </a:r>
            <a:r>
              <a:rPr lang="en-US" sz="2200" b="1" dirty="0" err="1">
                <a:latin typeface="Century Gothic" panose="020B0502020202020204" pitchFamily="34" charset="0"/>
              </a:rPr>
              <a:t>collectif</a:t>
            </a:r>
            <a:r>
              <a:rPr lang="en-US" sz="2200" dirty="0">
                <a:latin typeface="Century Gothic" panose="020B0502020202020204" pitchFamily="34" charset="0"/>
              </a:rPr>
              <a:t> et </a:t>
            </a:r>
            <a:r>
              <a:rPr lang="en-US" sz="2200" b="1" dirty="0" err="1">
                <a:latin typeface="Century Gothic" panose="020B0502020202020204" pitchFamily="34" charset="0"/>
              </a:rPr>
              <a:t>individuel</a:t>
            </a:r>
            <a:r>
              <a:rPr lang="en-US" sz="22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48B00-7553-10EA-5330-870253533A7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E11E8-C44C-4FD1-8DBF-1932104349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11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650514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12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Absence ou retard au cours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849474" y="1822402"/>
            <a:ext cx="103519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latin typeface="Century Gothic" panose="020B0502020202020204" pitchFamily="34" charset="0"/>
              </a:rPr>
              <a:t>En cas d’absence</a:t>
            </a:r>
            <a:r>
              <a:rPr lang="fr-CA" sz="2400" dirty="0">
                <a:latin typeface="Century Gothic" panose="020B0502020202020204" pitchFamily="34" charset="0"/>
              </a:rPr>
              <a:t> :</a:t>
            </a:r>
          </a:p>
          <a:p>
            <a:endParaRPr lang="fr-CA" sz="2400" dirty="0">
              <a:latin typeface="Century Gothic" panose="020B0502020202020204" pitchFamily="34" charset="0"/>
            </a:endParaRPr>
          </a:p>
          <a:p>
            <a:pPr marL="1354138" indent="-233363"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Consultez et étudiez les notes de cours, et contactez-moi si vous avez des questions.</a:t>
            </a:r>
          </a:p>
          <a:p>
            <a:pPr marL="1354138" indent="-233363">
              <a:buFont typeface="Arial" panose="020B0604020202020204" pitchFamily="34" charset="0"/>
              <a:buChar char="•"/>
            </a:pPr>
            <a:endParaRPr lang="fr-CA" sz="2400" dirty="0">
              <a:latin typeface="Century Gothic" panose="020B0502020202020204" pitchFamily="34" charset="0"/>
            </a:endParaRPr>
          </a:p>
          <a:p>
            <a:pPr marL="1354138" indent="-233363">
              <a:buFont typeface="Arial" panose="020B0604020202020204" pitchFamily="34" charset="0"/>
              <a:buChar char="•"/>
            </a:pPr>
            <a:r>
              <a:rPr lang="fr-CA" sz="2400" dirty="0">
                <a:latin typeface="Century Gothic" panose="020B0502020202020204" pitchFamily="34" charset="0"/>
              </a:rPr>
              <a:t>Pour une absence à un examen, informez-moi dès que possible. </a:t>
            </a:r>
          </a:p>
          <a:p>
            <a:pPr>
              <a:buFont typeface="Arial" panose="020B0604020202020204" pitchFamily="34" charset="0"/>
              <a:buChar char="•"/>
            </a:pPr>
            <a:endParaRPr lang="fr-CA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62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13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Plan du cours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0E5135-739F-9E78-93EB-44F819E0C02C}"/>
              </a:ext>
            </a:extLst>
          </p:cNvPr>
          <p:cNvSpPr txBox="1"/>
          <p:nvPr/>
        </p:nvSpPr>
        <p:spPr>
          <a:xfrm>
            <a:off x="849474" y="1822402"/>
            <a:ext cx="10351926" cy="57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fr-CA" sz="2400" dirty="0">
                <a:latin typeface="Century Gothic" panose="020B0502020202020204" pitchFamily="34" charset="0"/>
              </a:rPr>
              <a:t>Voir le plan du cours sur Omnivox </a:t>
            </a:r>
          </a:p>
        </p:txBody>
      </p:sp>
    </p:spTree>
    <p:extLst>
      <p:ext uri="{BB962C8B-B14F-4D97-AF65-F5344CB8AC3E}">
        <p14:creationId xmlns:p14="http://schemas.microsoft.com/office/powerpoint/2010/main" val="354825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14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Ressources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1230474" y="1531436"/>
            <a:ext cx="10351926" cy="445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fr-CA" sz="2400" b="1" dirty="0">
                <a:latin typeface="Century Gothic" panose="020B0502020202020204" pitchFamily="34" charset="0"/>
              </a:rPr>
              <a:t>Diapositives</a:t>
            </a:r>
            <a:r>
              <a:rPr lang="fr-CA" sz="2400" dirty="0">
                <a:latin typeface="Century Gothic" panose="020B0502020202020204" pitchFamily="34" charset="0"/>
              </a:rPr>
              <a:t> : Contiennent les concepts clés.</a:t>
            </a:r>
          </a:p>
          <a:p>
            <a:pPr algn="just" rtl="0">
              <a:lnSpc>
                <a:spcPct val="150000"/>
              </a:lnSpc>
            </a:pPr>
            <a:endParaRPr lang="fr-CA" sz="2400" b="1" dirty="0">
              <a:latin typeface="Century Gothic" panose="020B0502020202020204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fr-CA" sz="2400" b="1" dirty="0">
                <a:latin typeface="Century Gothic" panose="020B0502020202020204" pitchFamily="34" charset="0"/>
              </a:rPr>
              <a:t>Sites de références</a:t>
            </a:r>
            <a:r>
              <a:rPr lang="fr-CA" sz="2400" dirty="0">
                <a:latin typeface="Century Gothic" panose="020B0502020202020204" pitchFamily="34" charset="0"/>
              </a:rPr>
              <a:t> : Fournis à la fin des diapositives.</a:t>
            </a:r>
          </a:p>
          <a:p>
            <a:pPr algn="just" rtl="0">
              <a:lnSpc>
                <a:spcPct val="150000"/>
              </a:lnSpc>
            </a:pPr>
            <a:endParaRPr lang="fr-CA" sz="2400" b="1" dirty="0">
              <a:latin typeface="Century Gothic" panose="020B0502020202020204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fr-CA" sz="2400" b="1" dirty="0">
                <a:latin typeface="Century Gothic" panose="020B0502020202020204" pitchFamily="34" charset="0"/>
              </a:rPr>
              <a:t>Exercices</a:t>
            </a:r>
            <a:r>
              <a:rPr lang="fr-CA" sz="2400" dirty="0">
                <a:latin typeface="Century Gothic" panose="020B0502020202020204" pitchFamily="34" charset="0"/>
              </a:rPr>
              <a:t> : Disponibles pour approfondir vos connaissances.</a:t>
            </a:r>
          </a:p>
          <a:p>
            <a:pPr algn="just" rtl="0">
              <a:lnSpc>
                <a:spcPct val="150000"/>
              </a:lnSpc>
            </a:pPr>
            <a:endParaRPr lang="fr-CA" sz="2400" b="1" dirty="0">
              <a:latin typeface="Century Gothic" panose="020B0502020202020204" pitchFamily="34" charset="0"/>
            </a:endParaRPr>
          </a:p>
          <a:p>
            <a:pPr algn="just" rtl="0">
              <a:lnSpc>
                <a:spcPct val="150000"/>
              </a:lnSpc>
            </a:pPr>
            <a:r>
              <a:rPr lang="fr-CA" sz="2400" b="1" dirty="0">
                <a:latin typeface="Century Gothic" panose="020B0502020202020204" pitchFamily="34" charset="0"/>
              </a:rPr>
              <a:t>Internet</a:t>
            </a:r>
            <a:r>
              <a:rPr lang="fr-CA" sz="2400" dirty="0">
                <a:latin typeface="Century Gothic" panose="020B0502020202020204" pitchFamily="34" charset="0"/>
              </a:rPr>
              <a:t> : Utilisez les sites de références pour compléter votre apprentissage.</a:t>
            </a:r>
          </a:p>
        </p:txBody>
      </p:sp>
    </p:spTree>
    <p:extLst>
      <p:ext uri="{BB962C8B-B14F-4D97-AF65-F5344CB8AC3E}">
        <p14:creationId xmlns:p14="http://schemas.microsoft.com/office/powerpoint/2010/main" val="155571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668E-D70C-33D2-AB38-5F0EA20155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C0BC9-C288-4510-AE19-7EC6D9446E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15</a:t>
            </a:fld>
            <a:endParaRPr lang="en-DZ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08F24A1-3ECA-7DEA-375C-96DC483B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967" y="573625"/>
            <a:ext cx="94682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fr-CA" sz="3600" b="1" dirty="0">
                <a:solidFill>
                  <a:srgbClr val="005E4F"/>
                </a:solidFill>
                <a:effectLst/>
                <a:latin typeface="Century Gothic" panose="020B0502020202020204" pitchFamily="34" charset="0"/>
              </a:rPr>
              <a:t>Règles de conduite en classe</a:t>
            </a:r>
            <a:endParaRPr lang="fr-CA" sz="3600" dirty="0">
              <a:solidFill>
                <a:srgbClr val="005E4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EBE6-DDE2-1847-B036-4A8784F7DC1C}"/>
              </a:ext>
            </a:extLst>
          </p:cNvPr>
          <p:cNvSpPr txBox="1"/>
          <p:nvPr/>
        </p:nvSpPr>
        <p:spPr>
          <a:xfrm>
            <a:off x="849474" y="1822402"/>
            <a:ext cx="10351926" cy="390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CA" sz="2400" dirty="0">
                <a:latin typeface="Century Gothic" panose="020B0502020202020204" pitchFamily="34" charset="0"/>
              </a:rPr>
              <a:t>Une </a:t>
            </a:r>
            <a:r>
              <a:rPr lang="fr-CA" sz="2400" b="1" i="1" dirty="0">
                <a:latin typeface="Century Gothic" panose="020B0502020202020204" pitchFamily="34" charset="0"/>
              </a:rPr>
              <a:t>présence régulière </a:t>
            </a:r>
            <a:r>
              <a:rPr lang="fr-CA" sz="2400" dirty="0">
                <a:latin typeface="Century Gothic" panose="020B0502020202020204" pitchFamily="34" charset="0"/>
              </a:rPr>
              <a:t>est essentielle pour suivre le contenu du cours et participer aux discussions.</a:t>
            </a:r>
          </a:p>
          <a:p>
            <a:pPr algn="just"/>
            <a:endParaRPr lang="fr-CA" sz="2400" dirty="0">
              <a:latin typeface="Century Gothic" panose="020B0502020202020204" pitchFamily="34" charset="0"/>
            </a:endParaRPr>
          </a:p>
          <a:p>
            <a:pPr algn="just"/>
            <a:r>
              <a:rPr lang="fr-CA" sz="2400" b="1" i="1" dirty="0">
                <a:latin typeface="Century Gothic" panose="020B0502020202020204" pitchFamily="34" charset="0"/>
              </a:rPr>
              <a:t>Arrivez à l’heure </a:t>
            </a:r>
            <a:r>
              <a:rPr lang="fr-CA" sz="2400" dirty="0">
                <a:latin typeface="Century Gothic" panose="020B0502020202020204" pitchFamily="34" charset="0"/>
              </a:rPr>
              <a:t>pour ne pas manquer d’informations importantes ou d’instructions.</a:t>
            </a:r>
          </a:p>
          <a:p>
            <a:pPr algn="just"/>
            <a:endParaRPr lang="fr-CA" sz="2400" b="1" dirty="0">
              <a:latin typeface="Century Gothic" panose="020B0502020202020204" pitchFamily="34" charset="0"/>
            </a:endParaRPr>
          </a:p>
          <a:p>
            <a:pPr algn="just"/>
            <a:endParaRPr lang="fr-CA" sz="2400" b="1" dirty="0">
              <a:latin typeface="Century Gothic" panose="020B0502020202020204" pitchFamily="34" charset="0"/>
            </a:endParaRPr>
          </a:p>
          <a:p>
            <a:pPr algn="just"/>
            <a:r>
              <a:rPr lang="fr-CA" sz="2400" i="1" u="sng" dirty="0">
                <a:latin typeface="Century Gothic" panose="020B0502020202020204" pitchFamily="34" charset="0"/>
              </a:rPr>
              <a:t>Gardez votre caméra </a:t>
            </a:r>
            <a:r>
              <a:rPr lang="fr-CA" sz="2400" dirty="0">
                <a:latin typeface="Century Gothic" panose="020B0502020202020204" pitchFamily="34" charset="0"/>
              </a:rPr>
              <a:t>allumée pendant le cours pour favoriser l’engagement et la participation.</a:t>
            </a:r>
          </a:p>
          <a:p>
            <a:pPr algn="just" rtl="0">
              <a:lnSpc>
                <a:spcPct val="150000"/>
              </a:lnSpc>
            </a:pPr>
            <a:endParaRPr lang="fr-CA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15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CB31F-5981-DFBF-457B-7C3B6DE0181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DB7E0AF-378D-1B48-9C16-3BC335C4FC1F}" type="datetime1">
              <a:rPr lang="en-US" smtClean="0"/>
              <a:t>10/30/25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46455-6170-7CCB-70AE-83E1AAA2D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16</a:t>
            </a:fld>
            <a:endParaRPr lang="en-D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01774-7F32-4072-01CA-9B507DFE2AA0}"/>
              </a:ext>
            </a:extLst>
          </p:cNvPr>
          <p:cNvSpPr/>
          <p:nvPr/>
        </p:nvSpPr>
        <p:spPr>
          <a:xfrm>
            <a:off x="-152400" y="2057400"/>
            <a:ext cx="12344400" cy="3657600"/>
          </a:xfrm>
          <a:prstGeom prst="rect">
            <a:avLst/>
          </a:prstGeom>
          <a:solidFill>
            <a:srgbClr val="005E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540EFD-9134-3027-184E-0B37195ACC87}"/>
              </a:ext>
            </a:extLst>
          </p:cNvPr>
          <p:cNvSpPr/>
          <p:nvPr/>
        </p:nvSpPr>
        <p:spPr>
          <a:xfrm>
            <a:off x="8458200" y="2362200"/>
            <a:ext cx="3733800" cy="33528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035C73-7125-FA08-3A39-B8AFBE613C8F}"/>
              </a:ext>
            </a:extLst>
          </p:cNvPr>
          <p:cNvSpPr/>
          <p:nvPr/>
        </p:nvSpPr>
        <p:spPr>
          <a:xfrm>
            <a:off x="8610600" y="2514601"/>
            <a:ext cx="3429000" cy="3048000"/>
          </a:xfrm>
          <a:prstGeom prst="ellipse">
            <a:avLst/>
          </a:prstGeom>
          <a:solidFill>
            <a:schemeClr val="bg1"/>
          </a:solidFill>
          <a:ln w="38100" cmpd="thinThick">
            <a:solidFill>
              <a:srgbClr val="FF13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D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143940-A943-3C07-C35A-E921A1C4E4CE}"/>
              </a:ext>
            </a:extLst>
          </p:cNvPr>
          <p:cNvSpPr txBox="1"/>
          <p:nvPr/>
        </p:nvSpPr>
        <p:spPr>
          <a:xfrm>
            <a:off x="304800" y="3352800"/>
            <a:ext cx="92866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5400" b="1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Projets</a:t>
            </a:r>
            <a:endParaRPr lang="fr-CA" sz="54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79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523E1-E55B-5AEA-171C-C4430ED3F86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ECCD63FE-7FF2-6248-8F4A-9EA2B028BC44}" type="datetime1">
              <a:rPr lang="en-US" smtClean="0"/>
              <a:t>10/30/25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29C19-21E0-AF1B-B616-9A41316580F3}"/>
              </a:ext>
            </a:extLst>
          </p:cNvPr>
          <p:cNvSpPr/>
          <p:nvPr/>
        </p:nvSpPr>
        <p:spPr>
          <a:xfrm>
            <a:off x="381000" y="1447800"/>
            <a:ext cx="14020800" cy="3429000"/>
          </a:xfrm>
          <a:prstGeom prst="rect">
            <a:avLst/>
          </a:prstGeom>
          <a:solidFill>
            <a:srgbClr val="005D4F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DZ" sz="7200" b="1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99870-5572-56F8-F48E-EACC4D056A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DZ" smtClean="0"/>
              <a:t>17</a:t>
            </a:fld>
            <a:endParaRPr lang="en-DZ"/>
          </a:p>
        </p:txBody>
      </p:sp>
    </p:spTree>
    <p:extLst>
      <p:ext uri="{BB962C8B-B14F-4D97-AF65-F5344CB8AC3E}">
        <p14:creationId xmlns:p14="http://schemas.microsoft.com/office/powerpoint/2010/main" val="302106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23874</TotalTime>
  <Words>555</Words>
  <Application>Microsoft Macintosh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Verdana</vt:lpstr>
      <vt:lpstr>Wingdings</vt:lpstr>
      <vt:lpstr>Office Theme</vt:lpstr>
      <vt:lpstr>Modification d’un système existant</vt:lpstr>
      <vt:lpstr>Sommaire</vt:lpstr>
      <vt:lpstr>PowerPoint Presentation</vt:lpstr>
      <vt:lpstr>Objectif du Cours</vt:lpstr>
      <vt:lpstr>Pourquoi ce cours est-il important ?</vt:lpstr>
      <vt:lpstr>Lien avec les cours précédents</vt:lpstr>
      <vt:lpstr>Ce que vous saurez faire à la fin du cours</vt:lpstr>
      <vt:lpstr>Outils et technologies</vt:lpstr>
      <vt:lpstr>Évaluations formatives</vt:lpstr>
      <vt:lpstr>Évaluations sommatives</vt:lpstr>
      <vt:lpstr>Projet de session (évaluation finale)</vt:lpstr>
      <vt:lpstr>Absence ou retard au cours</vt:lpstr>
      <vt:lpstr>Plan du cours</vt:lpstr>
      <vt:lpstr>Ressources</vt:lpstr>
      <vt:lpstr>Règles de conduite en classe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asma aouichat</cp:lastModifiedBy>
  <cp:revision>576</cp:revision>
  <dcterms:created xsi:type="dcterms:W3CDTF">2024-08-07T18:18:50Z</dcterms:created>
  <dcterms:modified xsi:type="dcterms:W3CDTF">2025-10-30T11:54:47Z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2024-08-07T00:00:00Z</vt:filetime>
  </property>
  <property fmtid="{D5CDD505-2E9C-101B-9397-08002B2CF9AE}" pid="5" name="Producer">
    <vt:lpwstr>Microsoft® PowerPoint® for Microsoft 365</vt:lpwstr>
  </property>
</Properties>
</file>