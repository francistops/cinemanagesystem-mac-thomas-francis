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56" r:id="rId2"/>
    <p:sldId id="564" r:id="rId3"/>
    <p:sldId id="598" r:id="rId4"/>
    <p:sldId id="692" r:id="rId5"/>
    <p:sldId id="707" r:id="rId6"/>
    <p:sldId id="704" r:id="rId7"/>
    <p:sldId id="706" r:id="rId8"/>
    <p:sldId id="705" r:id="rId9"/>
    <p:sldId id="635" r:id="rId10"/>
    <p:sldId id="708" r:id="rId11"/>
    <p:sldId id="709" r:id="rId12"/>
    <p:sldId id="710" r:id="rId13"/>
    <p:sldId id="711" r:id="rId14"/>
    <p:sldId id="712" r:id="rId15"/>
    <p:sldId id="713" r:id="rId16"/>
    <p:sldId id="714" r:id="rId17"/>
    <p:sldId id="721" r:id="rId18"/>
    <p:sldId id="722" r:id="rId19"/>
    <p:sldId id="724" r:id="rId20"/>
    <p:sldId id="725" r:id="rId21"/>
    <p:sldId id="727" r:id="rId22"/>
    <p:sldId id="728" r:id="rId23"/>
    <p:sldId id="729" r:id="rId24"/>
    <p:sldId id="730" r:id="rId25"/>
    <p:sldId id="731" r:id="rId26"/>
    <p:sldId id="737" r:id="rId27"/>
    <p:sldId id="732" r:id="rId28"/>
    <p:sldId id="734" r:id="rId29"/>
    <p:sldId id="735" r:id="rId30"/>
    <p:sldId id="736" r:id="rId31"/>
    <p:sldId id="746" r:id="rId32"/>
    <p:sldId id="739" r:id="rId33"/>
    <p:sldId id="740" r:id="rId34"/>
    <p:sldId id="741" r:id="rId35"/>
    <p:sldId id="742" r:id="rId36"/>
    <p:sldId id="743" r:id="rId37"/>
    <p:sldId id="744" r:id="rId38"/>
    <p:sldId id="745" r:id="rId39"/>
    <p:sldId id="600" r:id="rId40"/>
    <p:sldId id="715" r:id="rId41"/>
    <p:sldId id="716" r:id="rId42"/>
    <p:sldId id="717" r:id="rId43"/>
    <p:sldId id="718" r:id="rId44"/>
    <p:sldId id="719" r:id="rId45"/>
    <p:sldId id="720" r:id="rId46"/>
    <p:sldId id="694" r:id="rId4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1651"/>
    <a:srgbClr val="D72E75"/>
    <a:srgbClr val="005E4F"/>
    <a:srgbClr val="005D4F"/>
    <a:srgbClr val="03723A"/>
    <a:srgbClr val="6FA39B"/>
    <a:srgbClr val="6EA49B"/>
    <a:srgbClr val="2C3C51"/>
    <a:srgbClr val="7F7F7F"/>
    <a:srgbClr val="D970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144"/>
    <p:restoredTop sz="61318"/>
  </p:normalViewPr>
  <p:slideViewPr>
    <p:cSldViewPr>
      <p:cViewPr varScale="1">
        <p:scale>
          <a:sx n="73" d="100"/>
          <a:sy n="73" d="100"/>
        </p:scale>
        <p:origin x="136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498A45-7845-5A44-AC4E-40D3C05EDFB8}" type="doc">
      <dgm:prSet loTypeId="urn:microsoft.com/office/officeart/2008/layout/VerticalCurvedList" loCatId="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9F3EE43-DF23-BA49-ACFA-23C5463479A4}">
      <dgm:prSet phldrT="[Text]"/>
      <dgm:spPr>
        <a:solidFill>
          <a:srgbClr val="005E50"/>
        </a:solidFill>
      </dgm:spPr>
      <dgm:t>
        <a:bodyPr/>
        <a:lstStyle/>
        <a:p>
          <a:r>
            <a:rPr lang="fr-CA" b="1" dirty="0">
              <a:solidFill>
                <a:schemeClr val="bg1"/>
              </a:solidFill>
              <a:effectLst/>
              <a:latin typeface="Century Gothic" panose="020B0502020202020204" pitchFamily="34" charset="0"/>
            </a:rPr>
            <a:t>Développement d’un projet web</a:t>
          </a:r>
          <a:endParaRPr lang="en-US" dirty="0"/>
        </a:p>
      </dgm:t>
    </dgm:pt>
    <dgm:pt modelId="{F295ED8F-96D3-7347-AA8D-E1CF18CAF4D8}" type="parTrans" cxnId="{A3B6D037-B798-DB4B-BB1C-028B2D9539CB}">
      <dgm:prSet/>
      <dgm:spPr/>
      <dgm:t>
        <a:bodyPr/>
        <a:lstStyle/>
        <a:p>
          <a:endParaRPr lang="en-US"/>
        </a:p>
      </dgm:t>
    </dgm:pt>
    <dgm:pt modelId="{3DE32C87-7DAC-DC4E-91CB-5CC61E928741}" type="sibTrans" cxnId="{A3B6D037-B798-DB4B-BB1C-028B2D9539CB}">
      <dgm:prSet/>
      <dgm:spPr/>
      <dgm:t>
        <a:bodyPr/>
        <a:lstStyle/>
        <a:p>
          <a:endParaRPr lang="en-US"/>
        </a:p>
      </dgm:t>
    </dgm:pt>
    <dgm:pt modelId="{71AE1FDA-2AB3-CC45-8843-426EDBD7B1A7}">
      <dgm:prSet phldrT="[Text]"/>
      <dgm:spPr>
        <a:solidFill>
          <a:srgbClr val="005E50"/>
        </a:solidFill>
      </dgm:spPr>
      <dgm:t>
        <a:bodyPr/>
        <a:lstStyle/>
        <a:p>
          <a:r>
            <a:rPr lang="fr-CA" b="1" dirty="0">
              <a:solidFill>
                <a:schemeClr val="bg1"/>
              </a:solidFill>
              <a:effectLst/>
              <a:latin typeface="Century Gothic" panose="020B0502020202020204" pitchFamily="34" charset="0"/>
            </a:rPr>
            <a:t>Pourquoi analyser avant de concevoir ?</a:t>
          </a:r>
          <a:endParaRPr lang="en-US" dirty="0"/>
        </a:p>
      </dgm:t>
    </dgm:pt>
    <dgm:pt modelId="{B05B032F-E420-9647-8D6B-6156DE1532EA}" type="parTrans" cxnId="{9C91B67D-86B6-7B47-AEA7-86584B29E820}">
      <dgm:prSet/>
      <dgm:spPr/>
      <dgm:t>
        <a:bodyPr/>
        <a:lstStyle/>
        <a:p>
          <a:endParaRPr lang="en-US"/>
        </a:p>
      </dgm:t>
    </dgm:pt>
    <dgm:pt modelId="{C26590AB-C74A-6F4B-A0FF-456C156237D1}" type="sibTrans" cxnId="{9C91B67D-86B6-7B47-AEA7-86584B29E820}">
      <dgm:prSet/>
      <dgm:spPr/>
      <dgm:t>
        <a:bodyPr/>
        <a:lstStyle/>
        <a:p>
          <a:endParaRPr lang="en-US"/>
        </a:p>
      </dgm:t>
    </dgm:pt>
    <dgm:pt modelId="{AD1BFB02-89C6-9D4E-997C-C93F10899C45}">
      <dgm:prSet phldrT="[Text]"/>
      <dgm:spPr>
        <a:solidFill>
          <a:srgbClr val="005E50"/>
        </a:solidFill>
      </dgm:spPr>
      <dgm:t>
        <a:bodyPr/>
        <a:lstStyle/>
        <a:p>
          <a:r>
            <a:rPr lang="fr-CA" b="1" dirty="0">
              <a:solidFill>
                <a:schemeClr val="bg1"/>
              </a:solidFill>
              <a:effectLst/>
              <a:latin typeface="Century Gothic" panose="020B0502020202020204" pitchFamily="34" charset="0"/>
            </a:rPr>
            <a:t>Outil de conception : </a:t>
          </a:r>
          <a:r>
            <a:rPr lang="fr-CA" b="1" dirty="0" err="1">
              <a:solidFill>
                <a:schemeClr val="bg1"/>
              </a:solidFill>
              <a:effectLst/>
              <a:latin typeface="Century Gothic" panose="020B0502020202020204" pitchFamily="34" charset="0"/>
            </a:rPr>
            <a:t>Draw.io</a:t>
          </a:r>
          <a:r>
            <a:rPr lang="fr-CA" b="1" dirty="0">
              <a:solidFill>
                <a:schemeClr val="bg1"/>
              </a:solidFill>
              <a:effectLst/>
              <a:latin typeface="Century Gothic" panose="020B0502020202020204" pitchFamily="34" charset="0"/>
            </a:rPr>
            <a:t> (</a:t>
          </a:r>
          <a:r>
            <a:rPr lang="fr-CA" b="1" dirty="0" err="1">
              <a:solidFill>
                <a:schemeClr val="bg1"/>
              </a:solidFill>
              <a:effectLst/>
              <a:latin typeface="Century Gothic" panose="020B0502020202020204" pitchFamily="34" charset="0"/>
            </a:rPr>
            <a:t>diagrams.net</a:t>
          </a:r>
          <a:r>
            <a:rPr lang="fr-CA" b="1" dirty="0">
              <a:solidFill>
                <a:schemeClr val="bg1"/>
              </a:solidFill>
              <a:effectLst/>
              <a:latin typeface="Century Gothic" panose="020B0502020202020204" pitchFamily="34" charset="0"/>
            </a:rPr>
            <a:t>)</a:t>
          </a:r>
          <a:endParaRPr lang="en-US" dirty="0"/>
        </a:p>
      </dgm:t>
    </dgm:pt>
    <dgm:pt modelId="{F04D5B7C-1F95-4142-95A8-584FCE6B9D72}" type="parTrans" cxnId="{49B94CEC-11EB-AB4B-892B-E988A1AEA440}">
      <dgm:prSet/>
      <dgm:spPr/>
      <dgm:t>
        <a:bodyPr/>
        <a:lstStyle/>
        <a:p>
          <a:endParaRPr lang="en-US"/>
        </a:p>
      </dgm:t>
    </dgm:pt>
    <dgm:pt modelId="{073C1E11-C1C1-274C-ABBE-F9A47A3B9BAA}" type="sibTrans" cxnId="{49B94CEC-11EB-AB4B-892B-E988A1AEA440}">
      <dgm:prSet/>
      <dgm:spPr/>
      <dgm:t>
        <a:bodyPr/>
        <a:lstStyle/>
        <a:p>
          <a:endParaRPr lang="en-US"/>
        </a:p>
      </dgm:t>
    </dgm:pt>
    <dgm:pt modelId="{A9A6F463-CF0A-C54B-AABB-4EC7BD6ECF22}">
      <dgm:prSet phldrT="[Text]"/>
      <dgm:spPr>
        <a:solidFill>
          <a:srgbClr val="005E50"/>
        </a:solidFill>
      </dgm:spPr>
      <dgm:t>
        <a:bodyPr/>
        <a:lstStyle/>
        <a:p>
          <a:r>
            <a:rPr lang="en-US" b="1" dirty="0">
              <a:solidFill>
                <a:schemeClr val="bg1"/>
              </a:solidFill>
            </a:rPr>
            <a:t>User Stories</a:t>
          </a:r>
          <a:endParaRPr lang="en-US" b="1" dirty="0">
            <a:latin typeface="Century Gothic" panose="020B0502020202020204" pitchFamily="34" charset="0"/>
          </a:endParaRPr>
        </a:p>
      </dgm:t>
    </dgm:pt>
    <dgm:pt modelId="{892AA904-8160-C44B-AA27-3DD080CF43E3}" type="parTrans" cxnId="{57D4C9FA-D11E-FC4D-861E-73B324F4F8A6}">
      <dgm:prSet/>
      <dgm:spPr/>
      <dgm:t>
        <a:bodyPr/>
        <a:lstStyle/>
        <a:p>
          <a:endParaRPr lang="en-US"/>
        </a:p>
      </dgm:t>
    </dgm:pt>
    <dgm:pt modelId="{3A43A620-FE10-0E44-9C14-23233F705059}" type="sibTrans" cxnId="{57D4C9FA-D11E-FC4D-861E-73B324F4F8A6}">
      <dgm:prSet/>
      <dgm:spPr/>
      <dgm:t>
        <a:bodyPr/>
        <a:lstStyle/>
        <a:p>
          <a:endParaRPr lang="en-US"/>
        </a:p>
      </dgm:t>
    </dgm:pt>
    <dgm:pt modelId="{DDF6A96F-46B4-F448-A9A9-429875F49CC0}" type="pres">
      <dgm:prSet presAssocID="{DB498A45-7845-5A44-AC4E-40D3C05EDFB8}" presName="Name0" presStyleCnt="0">
        <dgm:presLayoutVars>
          <dgm:chMax val="7"/>
          <dgm:chPref val="7"/>
          <dgm:dir/>
        </dgm:presLayoutVars>
      </dgm:prSet>
      <dgm:spPr/>
    </dgm:pt>
    <dgm:pt modelId="{113B2387-CD09-F444-9258-43FFFB801F42}" type="pres">
      <dgm:prSet presAssocID="{DB498A45-7845-5A44-AC4E-40D3C05EDFB8}" presName="Name1" presStyleCnt="0"/>
      <dgm:spPr/>
    </dgm:pt>
    <dgm:pt modelId="{848AD0FE-9A91-DA42-B929-7BEFB105F1F3}" type="pres">
      <dgm:prSet presAssocID="{DB498A45-7845-5A44-AC4E-40D3C05EDFB8}" presName="cycle" presStyleCnt="0"/>
      <dgm:spPr/>
    </dgm:pt>
    <dgm:pt modelId="{5D640FCB-6C16-ED4E-93BE-9C2936E9F2DF}" type="pres">
      <dgm:prSet presAssocID="{DB498A45-7845-5A44-AC4E-40D3C05EDFB8}" presName="srcNode" presStyleLbl="node1" presStyleIdx="0" presStyleCnt="4"/>
      <dgm:spPr/>
    </dgm:pt>
    <dgm:pt modelId="{A6727B89-C50F-1C4B-ACF5-478E22574534}" type="pres">
      <dgm:prSet presAssocID="{DB498A45-7845-5A44-AC4E-40D3C05EDFB8}" presName="conn" presStyleLbl="parChTrans1D2" presStyleIdx="0" presStyleCnt="1"/>
      <dgm:spPr/>
    </dgm:pt>
    <dgm:pt modelId="{D30EF157-86F9-9A48-A11E-F2E5AD46FEAF}" type="pres">
      <dgm:prSet presAssocID="{DB498A45-7845-5A44-AC4E-40D3C05EDFB8}" presName="extraNode" presStyleLbl="node1" presStyleIdx="0" presStyleCnt="4"/>
      <dgm:spPr/>
    </dgm:pt>
    <dgm:pt modelId="{CD5C7528-1856-7D4D-8CCE-CCE7E8ECD167}" type="pres">
      <dgm:prSet presAssocID="{DB498A45-7845-5A44-AC4E-40D3C05EDFB8}" presName="dstNode" presStyleLbl="node1" presStyleIdx="0" presStyleCnt="4"/>
      <dgm:spPr/>
    </dgm:pt>
    <dgm:pt modelId="{40EC4785-D8DF-8747-BC23-B7EBDC7DFBBB}" type="pres">
      <dgm:prSet presAssocID="{09F3EE43-DF23-BA49-ACFA-23C5463479A4}" presName="text_1" presStyleLbl="node1" presStyleIdx="0" presStyleCnt="4">
        <dgm:presLayoutVars>
          <dgm:bulletEnabled val="1"/>
        </dgm:presLayoutVars>
      </dgm:prSet>
      <dgm:spPr/>
    </dgm:pt>
    <dgm:pt modelId="{95F762E1-1C89-BB42-AB1C-3BCA80DDC31F}" type="pres">
      <dgm:prSet presAssocID="{09F3EE43-DF23-BA49-ACFA-23C5463479A4}" presName="accent_1" presStyleCnt="0"/>
      <dgm:spPr/>
    </dgm:pt>
    <dgm:pt modelId="{397B6E2F-67DE-974D-B4A8-590E3674D074}" type="pres">
      <dgm:prSet presAssocID="{09F3EE43-DF23-BA49-ACFA-23C5463479A4}" presName="accentRepeatNode" presStyleLbl="solidFgAcc1" presStyleIdx="0" presStyleCnt="4"/>
      <dgm:spPr>
        <a:ln>
          <a:solidFill>
            <a:srgbClr val="005E4F"/>
          </a:solidFill>
        </a:ln>
      </dgm:spPr>
    </dgm:pt>
    <dgm:pt modelId="{0B08A25A-FF39-C945-A7A8-2D88EE3A78C6}" type="pres">
      <dgm:prSet presAssocID="{71AE1FDA-2AB3-CC45-8843-426EDBD7B1A7}" presName="text_2" presStyleLbl="node1" presStyleIdx="1" presStyleCnt="4">
        <dgm:presLayoutVars>
          <dgm:bulletEnabled val="1"/>
        </dgm:presLayoutVars>
      </dgm:prSet>
      <dgm:spPr/>
    </dgm:pt>
    <dgm:pt modelId="{4F89F71F-BF98-8B4A-88AE-B44AD36B6C5C}" type="pres">
      <dgm:prSet presAssocID="{71AE1FDA-2AB3-CC45-8843-426EDBD7B1A7}" presName="accent_2" presStyleCnt="0"/>
      <dgm:spPr/>
    </dgm:pt>
    <dgm:pt modelId="{D05E951F-5CB7-DE4E-A10F-2D5E7A3FD099}" type="pres">
      <dgm:prSet presAssocID="{71AE1FDA-2AB3-CC45-8843-426EDBD7B1A7}" presName="accentRepeatNode" presStyleLbl="solidFgAcc1" presStyleIdx="1" presStyleCnt="4"/>
      <dgm:spPr>
        <a:ln>
          <a:solidFill>
            <a:srgbClr val="005E4F"/>
          </a:solidFill>
        </a:ln>
      </dgm:spPr>
    </dgm:pt>
    <dgm:pt modelId="{C7608507-CBCB-574D-9B4B-6A4B82A0752B}" type="pres">
      <dgm:prSet presAssocID="{A9A6F463-CF0A-C54B-AABB-4EC7BD6ECF22}" presName="text_3" presStyleLbl="node1" presStyleIdx="2" presStyleCnt="4">
        <dgm:presLayoutVars>
          <dgm:bulletEnabled val="1"/>
        </dgm:presLayoutVars>
      </dgm:prSet>
      <dgm:spPr/>
    </dgm:pt>
    <dgm:pt modelId="{C73DE4F2-86B0-E34E-BFAF-82B5667CC7AF}" type="pres">
      <dgm:prSet presAssocID="{A9A6F463-CF0A-C54B-AABB-4EC7BD6ECF22}" presName="accent_3" presStyleCnt="0"/>
      <dgm:spPr/>
    </dgm:pt>
    <dgm:pt modelId="{8EB438F8-E562-A042-8125-EA20DE13F44D}" type="pres">
      <dgm:prSet presAssocID="{A9A6F463-CF0A-C54B-AABB-4EC7BD6ECF22}" presName="accentRepeatNode" presStyleLbl="solidFgAcc1" presStyleIdx="2" presStyleCnt="4"/>
      <dgm:spPr>
        <a:ln>
          <a:solidFill>
            <a:srgbClr val="005E4F"/>
          </a:solidFill>
        </a:ln>
      </dgm:spPr>
    </dgm:pt>
    <dgm:pt modelId="{F8CF5D35-1D05-1145-A923-B69384F4F0B8}" type="pres">
      <dgm:prSet presAssocID="{AD1BFB02-89C6-9D4E-997C-C93F10899C45}" presName="text_4" presStyleLbl="node1" presStyleIdx="3" presStyleCnt="4">
        <dgm:presLayoutVars>
          <dgm:bulletEnabled val="1"/>
        </dgm:presLayoutVars>
      </dgm:prSet>
      <dgm:spPr/>
    </dgm:pt>
    <dgm:pt modelId="{D073635A-79BD-FA4C-BC5C-1FB039B7887A}" type="pres">
      <dgm:prSet presAssocID="{AD1BFB02-89C6-9D4E-997C-C93F10899C45}" presName="accent_4" presStyleCnt="0"/>
      <dgm:spPr/>
    </dgm:pt>
    <dgm:pt modelId="{2047C73D-E6EA-3F44-ABCE-AD13BE458776}" type="pres">
      <dgm:prSet presAssocID="{AD1BFB02-89C6-9D4E-997C-C93F10899C45}" presName="accentRepeatNode" presStyleLbl="solidFgAcc1" presStyleIdx="3" presStyleCnt="4"/>
      <dgm:spPr>
        <a:ln>
          <a:solidFill>
            <a:srgbClr val="005E4F"/>
          </a:solidFill>
        </a:ln>
      </dgm:spPr>
    </dgm:pt>
  </dgm:ptLst>
  <dgm:cxnLst>
    <dgm:cxn modelId="{A3B6D037-B798-DB4B-BB1C-028B2D9539CB}" srcId="{DB498A45-7845-5A44-AC4E-40D3C05EDFB8}" destId="{09F3EE43-DF23-BA49-ACFA-23C5463479A4}" srcOrd="0" destOrd="0" parTransId="{F295ED8F-96D3-7347-AA8D-E1CF18CAF4D8}" sibTransId="{3DE32C87-7DAC-DC4E-91CB-5CC61E928741}"/>
    <dgm:cxn modelId="{5E26B846-9EB7-E848-86E2-2AB5BD78CFAC}" type="presOf" srcId="{DB498A45-7845-5A44-AC4E-40D3C05EDFB8}" destId="{DDF6A96F-46B4-F448-A9A9-429875F49CC0}" srcOrd="0" destOrd="0" presId="urn:microsoft.com/office/officeart/2008/layout/VerticalCurvedList"/>
    <dgm:cxn modelId="{F3AEAE4F-1CE9-854F-9BC4-1E4A19BC043D}" type="presOf" srcId="{09F3EE43-DF23-BA49-ACFA-23C5463479A4}" destId="{40EC4785-D8DF-8747-BC23-B7EBDC7DFBBB}" srcOrd="0" destOrd="0" presId="urn:microsoft.com/office/officeart/2008/layout/VerticalCurvedList"/>
    <dgm:cxn modelId="{9C91B67D-86B6-7B47-AEA7-86584B29E820}" srcId="{DB498A45-7845-5A44-AC4E-40D3C05EDFB8}" destId="{71AE1FDA-2AB3-CC45-8843-426EDBD7B1A7}" srcOrd="1" destOrd="0" parTransId="{B05B032F-E420-9647-8D6B-6156DE1532EA}" sibTransId="{C26590AB-C74A-6F4B-A0FF-456C156237D1}"/>
    <dgm:cxn modelId="{3BE88383-F496-BB4A-8DA6-DDA4E3654436}" type="presOf" srcId="{71AE1FDA-2AB3-CC45-8843-426EDBD7B1A7}" destId="{0B08A25A-FF39-C945-A7A8-2D88EE3A78C6}" srcOrd="0" destOrd="0" presId="urn:microsoft.com/office/officeart/2008/layout/VerticalCurvedList"/>
    <dgm:cxn modelId="{138E848C-7911-CC41-948A-E013D03DAC53}" type="presOf" srcId="{3DE32C87-7DAC-DC4E-91CB-5CC61E928741}" destId="{A6727B89-C50F-1C4B-ACF5-478E22574534}" srcOrd="0" destOrd="0" presId="urn:microsoft.com/office/officeart/2008/layout/VerticalCurvedList"/>
    <dgm:cxn modelId="{C1FE3ED4-6908-1347-8F81-ED01497E6718}" type="presOf" srcId="{AD1BFB02-89C6-9D4E-997C-C93F10899C45}" destId="{F8CF5D35-1D05-1145-A923-B69384F4F0B8}" srcOrd="0" destOrd="0" presId="urn:microsoft.com/office/officeart/2008/layout/VerticalCurvedList"/>
    <dgm:cxn modelId="{49B94CEC-11EB-AB4B-892B-E988A1AEA440}" srcId="{DB498A45-7845-5A44-AC4E-40D3C05EDFB8}" destId="{AD1BFB02-89C6-9D4E-997C-C93F10899C45}" srcOrd="3" destOrd="0" parTransId="{F04D5B7C-1F95-4142-95A8-584FCE6B9D72}" sibTransId="{073C1E11-C1C1-274C-ABBE-F9A47A3B9BAA}"/>
    <dgm:cxn modelId="{3E6A80F4-A1DB-8742-BCAB-C035465F3DE8}" type="presOf" srcId="{A9A6F463-CF0A-C54B-AABB-4EC7BD6ECF22}" destId="{C7608507-CBCB-574D-9B4B-6A4B82A0752B}" srcOrd="0" destOrd="0" presId="urn:microsoft.com/office/officeart/2008/layout/VerticalCurvedList"/>
    <dgm:cxn modelId="{57D4C9FA-D11E-FC4D-861E-73B324F4F8A6}" srcId="{DB498A45-7845-5A44-AC4E-40D3C05EDFB8}" destId="{A9A6F463-CF0A-C54B-AABB-4EC7BD6ECF22}" srcOrd="2" destOrd="0" parTransId="{892AA904-8160-C44B-AA27-3DD080CF43E3}" sibTransId="{3A43A620-FE10-0E44-9C14-23233F705059}"/>
    <dgm:cxn modelId="{97D97299-18AD-A742-91B7-F66CAB4C6858}" type="presParOf" srcId="{DDF6A96F-46B4-F448-A9A9-429875F49CC0}" destId="{113B2387-CD09-F444-9258-43FFFB801F42}" srcOrd="0" destOrd="0" presId="urn:microsoft.com/office/officeart/2008/layout/VerticalCurvedList"/>
    <dgm:cxn modelId="{CB11B76E-C770-0F43-8805-D2D5791A51E8}" type="presParOf" srcId="{113B2387-CD09-F444-9258-43FFFB801F42}" destId="{848AD0FE-9A91-DA42-B929-7BEFB105F1F3}" srcOrd="0" destOrd="0" presId="urn:microsoft.com/office/officeart/2008/layout/VerticalCurvedList"/>
    <dgm:cxn modelId="{3510F85D-9112-C942-A247-C479A308B2DD}" type="presParOf" srcId="{848AD0FE-9A91-DA42-B929-7BEFB105F1F3}" destId="{5D640FCB-6C16-ED4E-93BE-9C2936E9F2DF}" srcOrd="0" destOrd="0" presId="urn:microsoft.com/office/officeart/2008/layout/VerticalCurvedList"/>
    <dgm:cxn modelId="{317E0FE6-2055-0E4B-AD02-B58E4FB39678}" type="presParOf" srcId="{848AD0FE-9A91-DA42-B929-7BEFB105F1F3}" destId="{A6727B89-C50F-1C4B-ACF5-478E22574534}" srcOrd="1" destOrd="0" presId="urn:microsoft.com/office/officeart/2008/layout/VerticalCurvedList"/>
    <dgm:cxn modelId="{329DAB84-441F-A547-B210-84A8C2D8A53D}" type="presParOf" srcId="{848AD0FE-9A91-DA42-B929-7BEFB105F1F3}" destId="{D30EF157-86F9-9A48-A11E-F2E5AD46FEAF}" srcOrd="2" destOrd="0" presId="urn:microsoft.com/office/officeart/2008/layout/VerticalCurvedList"/>
    <dgm:cxn modelId="{1B2D6332-7160-DF45-8D54-FA9B32427D84}" type="presParOf" srcId="{848AD0FE-9A91-DA42-B929-7BEFB105F1F3}" destId="{CD5C7528-1856-7D4D-8CCE-CCE7E8ECD167}" srcOrd="3" destOrd="0" presId="urn:microsoft.com/office/officeart/2008/layout/VerticalCurvedList"/>
    <dgm:cxn modelId="{A3486546-B052-9D4E-8719-81A5C055E84B}" type="presParOf" srcId="{113B2387-CD09-F444-9258-43FFFB801F42}" destId="{40EC4785-D8DF-8747-BC23-B7EBDC7DFBBB}" srcOrd="1" destOrd="0" presId="urn:microsoft.com/office/officeart/2008/layout/VerticalCurvedList"/>
    <dgm:cxn modelId="{052BCFA5-A0D1-9447-A9AC-55199E31A655}" type="presParOf" srcId="{113B2387-CD09-F444-9258-43FFFB801F42}" destId="{95F762E1-1C89-BB42-AB1C-3BCA80DDC31F}" srcOrd="2" destOrd="0" presId="urn:microsoft.com/office/officeart/2008/layout/VerticalCurvedList"/>
    <dgm:cxn modelId="{C02905D2-3C45-C74B-A42D-49CF7EDD05F9}" type="presParOf" srcId="{95F762E1-1C89-BB42-AB1C-3BCA80DDC31F}" destId="{397B6E2F-67DE-974D-B4A8-590E3674D074}" srcOrd="0" destOrd="0" presId="urn:microsoft.com/office/officeart/2008/layout/VerticalCurvedList"/>
    <dgm:cxn modelId="{2F14DCB5-7E04-B140-B254-6DA780D9A64D}" type="presParOf" srcId="{113B2387-CD09-F444-9258-43FFFB801F42}" destId="{0B08A25A-FF39-C945-A7A8-2D88EE3A78C6}" srcOrd="3" destOrd="0" presId="urn:microsoft.com/office/officeart/2008/layout/VerticalCurvedList"/>
    <dgm:cxn modelId="{CDC6B519-7CF6-3946-BA17-6483EEF8F9EB}" type="presParOf" srcId="{113B2387-CD09-F444-9258-43FFFB801F42}" destId="{4F89F71F-BF98-8B4A-88AE-B44AD36B6C5C}" srcOrd="4" destOrd="0" presId="urn:microsoft.com/office/officeart/2008/layout/VerticalCurvedList"/>
    <dgm:cxn modelId="{5FBFB611-6DE0-5047-9F19-AA5B3FEF3FBD}" type="presParOf" srcId="{4F89F71F-BF98-8B4A-88AE-B44AD36B6C5C}" destId="{D05E951F-5CB7-DE4E-A10F-2D5E7A3FD099}" srcOrd="0" destOrd="0" presId="urn:microsoft.com/office/officeart/2008/layout/VerticalCurvedList"/>
    <dgm:cxn modelId="{F0E4D761-7C19-164E-8021-63C0EF28EF95}" type="presParOf" srcId="{113B2387-CD09-F444-9258-43FFFB801F42}" destId="{C7608507-CBCB-574D-9B4B-6A4B82A0752B}" srcOrd="5" destOrd="0" presId="urn:microsoft.com/office/officeart/2008/layout/VerticalCurvedList"/>
    <dgm:cxn modelId="{5BFA42FD-A76F-3D48-BB45-8043ABCF10E2}" type="presParOf" srcId="{113B2387-CD09-F444-9258-43FFFB801F42}" destId="{C73DE4F2-86B0-E34E-BFAF-82B5667CC7AF}" srcOrd="6" destOrd="0" presId="urn:microsoft.com/office/officeart/2008/layout/VerticalCurvedList"/>
    <dgm:cxn modelId="{26FC81E2-2729-374C-A8EF-2B7761346432}" type="presParOf" srcId="{C73DE4F2-86B0-E34E-BFAF-82B5667CC7AF}" destId="{8EB438F8-E562-A042-8125-EA20DE13F44D}" srcOrd="0" destOrd="0" presId="urn:microsoft.com/office/officeart/2008/layout/VerticalCurvedList"/>
    <dgm:cxn modelId="{1EFA5381-CA70-5242-9EC1-DBAEEB1C8595}" type="presParOf" srcId="{113B2387-CD09-F444-9258-43FFFB801F42}" destId="{F8CF5D35-1D05-1145-A923-B69384F4F0B8}" srcOrd="7" destOrd="0" presId="urn:microsoft.com/office/officeart/2008/layout/VerticalCurvedList"/>
    <dgm:cxn modelId="{F725B6FC-2F47-964D-94B1-A58EED3A5DB4}" type="presParOf" srcId="{113B2387-CD09-F444-9258-43FFFB801F42}" destId="{D073635A-79BD-FA4C-BC5C-1FB039B7887A}" srcOrd="8" destOrd="0" presId="urn:microsoft.com/office/officeart/2008/layout/VerticalCurvedList"/>
    <dgm:cxn modelId="{84A84BE4-764C-744B-B7DF-728CB9A046D7}" type="presParOf" srcId="{D073635A-79BD-FA4C-BC5C-1FB039B7887A}" destId="{2047C73D-E6EA-3F44-ABCE-AD13BE458776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727B89-C50F-1C4B-ACF5-478E22574534}">
      <dsp:nvSpPr>
        <dsp:cNvPr id="0" name=""/>
        <dsp:cNvSpPr/>
      </dsp:nvSpPr>
      <dsp:spPr>
        <a:xfrm>
          <a:off x="-5734240" y="-877703"/>
          <a:ext cx="6826940" cy="6826940"/>
        </a:xfrm>
        <a:prstGeom prst="blockArc">
          <a:avLst>
            <a:gd name="adj1" fmla="val 18900000"/>
            <a:gd name="adj2" fmla="val 2700000"/>
            <a:gd name="adj3" fmla="val 316"/>
          </a:avLst>
        </a:pr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EC4785-D8DF-8747-BC23-B7EBDC7DFBBB}">
      <dsp:nvSpPr>
        <dsp:cNvPr id="0" name=""/>
        <dsp:cNvSpPr/>
      </dsp:nvSpPr>
      <dsp:spPr>
        <a:xfrm>
          <a:off x="571970" y="389899"/>
          <a:ext cx="7484929" cy="780204"/>
        </a:xfrm>
        <a:prstGeom prst="rect">
          <a:avLst/>
        </a:prstGeom>
        <a:solidFill>
          <a:srgbClr val="005E5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928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b="1" kern="1200" dirty="0">
              <a:solidFill>
                <a:schemeClr val="bg1"/>
              </a:solidFill>
              <a:effectLst/>
              <a:latin typeface="Century Gothic" panose="020B0502020202020204" pitchFamily="34" charset="0"/>
            </a:rPr>
            <a:t>Développement d’un projet web</a:t>
          </a:r>
          <a:endParaRPr lang="en-US" sz="2400" kern="1200" dirty="0"/>
        </a:p>
      </dsp:txBody>
      <dsp:txXfrm>
        <a:off x="571970" y="389899"/>
        <a:ext cx="7484929" cy="780204"/>
      </dsp:txXfrm>
    </dsp:sp>
    <dsp:sp modelId="{397B6E2F-67DE-974D-B4A8-590E3674D074}">
      <dsp:nvSpPr>
        <dsp:cNvPr id="0" name=""/>
        <dsp:cNvSpPr/>
      </dsp:nvSpPr>
      <dsp:spPr>
        <a:xfrm>
          <a:off x="84343" y="292373"/>
          <a:ext cx="975255" cy="97525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005E4F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08A25A-FF39-C945-A7A8-2D88EE3A78C6}">
      <dsp:nvSpPr>
        <dsp:cNvPr id="0" name=""/>
        <dsp:cNvSpPr/>
      </dsp:nvSpPr>
      <dsp:spPr>
        <a:xfrm>
          <a:off x="1019280" y="1560409"/>
          <a:ext cx="7037620" cy="780204"/>
        </a:xfrm>
        <a:prstGeom prst="rect">
          <a:avLst/>
        </a:prstGeom>
        <a:solidFill>
          <a:srgbClr val="005E5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928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b="1" kern="1200" dirty="0">
              <a:solidFill>
                <a:schemeClr val="bg1"/>
              </a:solidFill>
              <a:effectLst/>
              <a:latin typeface="Century Gothic" panose="020B0502020202020204" pitchFamily="34" charset="0"/>
            </a:rPr>
            <a:t>Pourquoi analyser avant de concevoir ?</a:t>
          </a:r>
          <a:endParaRPr lang="en-US" sz="2400" kern="1200" dirty="0"/>
        </a:p>
      </dsp:txBody>
      <dsp:txXfrm>
        <a:off x="1019280" y="1560409"/>
        <a:ext cx="7037620" cy="780204"/>
      </dsp:txXfrm>
    </dsp:sp>
    <dsp:sp modelId="{D05E951F-5CB7-DE4E-A10F-2D5E7A3FD099}">
      <dsp:nvSpPr>
        <dsp:cNvPr id="0" name=""/>
        <dsp:cNvSpPr/>
      </dsp:nvSpPr>
      <dsp:spPr>
        <a:xfrm>
          <a:off x="531652" y="1462883"/>
          <a:ext cx="975255" cy="97525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005E4F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608507-CBCB-574D-9B4B-6A4B82A0752B}">
      <dsp:nvSpPr>
        <dsp:cNvPr id="0" name=""/>
        <dsp:cNvSpPr/>
      </dsp:nvSpPr>
      <dsp:spPr>
        <a:xfrm>
          <a:off x="1019280" y="2730919"/>
          <a:ext cx="7037620" cy="780204"/>
        </a:xfrm>
        <a:prstGeom prst="rect">
          <a:avLst/>
        </a:prstGeom>
        <a:solidFill>
          <a:srgbClr val="005E5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928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bg1"/>
              </a:solidFill>
            </a:rPr>
            <a:t>User Stories</a:t>
          </a:r>
          <a:endParaRPr lang="en-US" sz="2400" b="1" kern="1200" dirty="0">
            <a:latin typeface="Century Gothic" panose="020B0502020202020204" pitchFamily="34" charset="0"/>
          </a:endParaRPr>
        </a:p>
      </dsp:txBody>
      <dsp:txXfrm>
        <a:off x="1019280" y="2730919"/>
        <a:ext cx="7037620" cy="780204"/>
      </dsp:txXfrm>
    </dsp:sp>
    <dsp:sp modelId="{8EB438F8-E562-A042-8125-EA20DE13F44D}">
      <dsp:nvSpPr>
        <dsp:cNvPr id="0" name=""/>
        <dsp:cNvSpPr/>
      </dsp:nvSpPr>
      <dsp:spPr>
        <a:xfrm>
          <a:off x="531652" y="2633393"/>
          <a:ext cx="975255" cy="97525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005E4F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CF5D35-1D05-1145-A923-B69384F4F0B8}">
      <dsp:nvSpPr>
        <dsp:cNvPr id="0" name=""/>
        <dsp:cNvSpPr/>
      </dsp:nvSpPr>
      <dsp:spPr>
        <a:xfrm>
          <a:off x="571970" y="3901428"/>
          <a:ext cx="7484929" cy="780204"/>
        </a:xfrm>
        <a:prstGeom prst="rect">
          <a:avLst/>
        </a:prstGeom>
        <a:solidFill>
          <a:srgbClr val="005E5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928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b="1" kern="1200" dirty="0">
              <a:solidFill>
                <a:schemeClr val="bg1"/>
              </a:solidFill>
              <a:effectLst/>
              <a:latin typeface="Century Gothic" panose="020B0502020202020204" pitchFamily="34" charset="0"/>
            </a:rPr>
            <a:t>Outil de conception : </a:t>
          </a:r>
          <a:r>
            <a:rPr lang="fr-CA" sz="2400" b="1" kern="1200" dirty="0" err="1">
              <a:solidFill>
                <a:schemeClr val="bg1"/>
              </a:solidFill>
              <a:effectLst/>
              <a:latin typeface="Century Gothic" panose="020B0502020202020204" pitchFamily="34" charset="0"/>
            </a:rPr>
            <a:t>Draw.io</a:t>
          </a:r>
          <a:r>
            <a:rPr lang="fr-CA" sz="2400" b="1" kern="1200" dirty="0">
              <a:solidFill>
                <a:schemeClr val="bg1"/>
              </a:solidFill>
              <a:effectLst/>
              <a:latin typeface="Century Gothic" panose="020B0502020202020204" pitchFamily="34" charset="0"/>
            </a:rPr>
            <a:t> (</a:t>
          </a:r>
          <a:r>
            <a:rPr lang="fr-CA" sz="2400" b="1" kern="1200" dirty="0" err="1">
              <a:solidFill>
                <a:schemeClr val="bg1"/>
              </a:solidFill>
              <a:effectLst/>
              <a:latin typeface="Century Gothic" panose="020B0502020202020204" pitchFamily="34" charset="0"/>
            </a:rPr>
            <a:t>diagrams.net</a:t>
          </a:r>
          <a:r>
            <a:rPr lang="fr-CA" sz="2400" b="1" kern="1200" dirty="0">
              <a:solidFill>
                <a:schemeClr val="bg1"/>
              </a:solidFill>
              <a:effectLst/>
              <a:latin typeface="Century Gothic" panose="020B0502020202020204" pitchFamily="34" charset="0"/>
            </a:rPr>
            <a:t>)</a:t>
          </a:r>
          <a:endParaRPr lang="en-US" sz="2400" kern="1200" dirty="0"/>
        </a:p>
      </dsp:txBody>
      <dsp:txXfrm>
        <a:off x="571970" y="3901428"/>
        <a:ext cx="7484929" cy="780204"/>
      </dsp:txXfrm>
    </dsp:sp>
    <dsp:sp modelId="{2047C73D-E6EA-3F44-ABCE-AD13BE458776}">
      <dsp:nvSpPr>
        <dsp:cNvPr id="0" name=""/>
        <dsp:cNvSpPr/>
      </dsp:nvSpPr>
      <dsp:spPr>
        <a:xfrm>
          <a:off x="84343" y="3803903"/>
          <a:ext cx="975255" cy="97525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005E4F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25925-7A7F-524B-9864-1C21F04654A4}" type="datetimeFigureOut">
              <a:rPr lang="en-DZ" smtClean="0"/>
              <a:t>30/10/2025</a:t>
            </a:fld>
            <a:endParaRPr lang="en-D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AD30C-B68F-E44E-BBBD-3280F492F30C}" type="slidenum">
              <a:rPr lang="en-DZ" smtClean="0"/>
              <a:t>‹#›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1967890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E50">
              <a:alpha val="56863"/>
            </a:srgbClr>
          </a:solidFill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670047"/>
            <a:ext cx="4037075" cy="418794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892552"/>
            <a:ext cx="1522475" cy="236524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99476" y="0"/>
            <a:ext cx="1604772" cy="11430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09076" y="6092951"/>
            <a:ext cx="993648" cy="765046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98252" y="0"/>
            <a:ext cx="760488" cy="1203960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4191" y="97080"/>
            <a:ext cx="10433685" cy="1140460"/>
          </a:xfrm>
          <a:custGeom>
            <a:avLst/>
            <a:gdLst/>
            <a:ahLst/>
            <a:cxnLst/>
            <a:rect l="l" t="t" r="r" b="b"/>
            <a:pathLst>
              <a:path w="10433685" h="1140460">
                <a:moveTo>
                  <a:pt x="10433304" y="0"/>
                </a:moveTo>
                <a:lnTo>
                  <a:pt x="0" y="0"/>
                </a:lnTo>
                <a:lnTo>
                  <a:pt x="0" y="1139952"/>
                </a:lnTo>
                <a:lnTo>
                  <a:pt x="10433304" y="1139952"/>
                </a:lnTo>
                <a:lnTo>
                  <a:pt x="104333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1128248" y="0"/>
            <a:ext cx="1057910" cy="1140460"/>
          </a:xfrm>
          <a:custGeom>
            <a:avLst/>
            <a:gdLst/>
            <a:ahLst/>
            <a:cxnLst/>
            <a:rect l="l" t="t" r="r" b="b"/>
            <a:pathLst>
              <a:path w="1057909" h="1140460">
                <a:moveTo>
                  <a:pt x="1057655" y="0"/>
                </a:moveTo>
                <a:lnTo>
                  <a:pt x="0" y="0"/>
                </a:lnTo>
                <a:lnTo>
                  <a:pt x="0" y="1139952"/>
                </a:lnTo>
                <a:lnTo>
                  <a:pt x="1057655" y="1139952"/>
                </a:lnTo>
                <a:lnTo>
                  <a:pt x="10576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64811" y="1577466"/>
            <a:ext cx="6438265" cy="2220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000066"/>
                </a:solidFill>
                <a:latin typeface="Verdana"/>
                <a:cs typeface="Verdana"/>
              </a:defRPr>
            </a:lvl1pPr>
          </a:lstStyle>
          <a:p>
            <a:pPr rtl="0"/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C9000-A67C-9347-A4D9-5A1C1BFDF454}" type="datetime1">
              <a:rPr lang="en-US" smtClean="0"/>
              <a:t>10/30/25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8" name="bg object 22">
            <a:extLst>
              <a:ext uri="{FF2B5EF4-FFF2-40B4-BE49-F238E27FC236}">
                <a16:creationId xmlns:a16="http://schemas.microsoft.com/office/drawing/2014/main" id="{FEE0AF0E-E1B6-CE87-E36C-ABCFF71DAEAA}"/>
              </a:ext>
            </a:extLst>
          </p:cNvPr>
          <p:cNvSpPr/>
          <p:nvPr userDrawn="1"/>
        </p:nvSpPr>
        <p:spPr>
          <a:xfrm>
            <a:off x="10415188" y="83576"/>
            <a:ext cx="685800" cy="1143000"/>
          </a:xfrm>
          <a:custGeom>
            <a:avLst/>
            <a:gdLst/>
            <a:ahLst/>
            <a:cxnLst/>
            <a:rect l="l" t="t" r="r" b="b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005F50"/>
          </a:solidFill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pic>
        <p:nvPicPr>
          <p:cNvPr id="1026" name="Picture 2" descr="Cégep de Sherbrooke — Wikipédia">
            <a:extLst>
              <a:ext uri="{FF2B5EF4-FFF2-40B4-BE49-F238E27FC236}">
                <a16:creationId xmlns:a16="http://schemas.microsoft.com/office/drawing/2014/main" id="{3DA05E7A-CD8C-07F2-A476-6ED106F2B9C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9600" y="-162331"/>
            <a:ext cx="4572000" cy="161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Val d'Oise Communication - Votre agence spécialisée développement web">
            <a:extLst>
              <a:ext uri="{FF2B5EF4-FFF2-40B4-BE49-F238E27FC236}">
                <a16:creationId xmlns:a16="http://schemas.microsoft.com/office/drawing/2014/main" id="{F1AF9535-5125-D550-2913-2781FDE86D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30758" y="1203960"/>
            <a:ext cx="5759958" cy="186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005E4F"/>
                </a:solidFill>
                <a:latin typeface="Verdana"/>
                <a:cs typeface="Verdana"/>
              </a:defRPr>
            </a:lvl1pPr>
          </a:lstStyle>
          <a:p>
            <a:pPr rtl="0"/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marL="0" algn="l" rtl="0"/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006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4E5EB-8119-6C48-B8B1-2F61AF1740AA}" type="datetime1">
              <a:rPr lang="en-US" smtClean="0"/>
              <a:t>10/30/25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006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7D8EC-7AA3-F946-ACB6-43A9F0DACD01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E4D95-9BEC-1641-B909-642243EA8BF4}" type="datetime1">
              <a:rPr lang="en-US" smtClean="0"/>
              <a:t>10/30/25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estion de projet : mieux piloter vos équipes et dossiers ?">
            <a:extLst>
              <a:ext uri="{FF2B5EF4-FFF2-40B4-BE49-F238E27FC236}">
                <a16:creationId xmlns:a16="http://schemas.microsoft.com/office/drawing/2014/main" id="{D60D313C-D7C3-BB01-0C26-98ACBCB7C5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9460" y="849342"/>
            <a:ext cx="2617255" cy="158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670047"/>
            <a:ext cx="4037075" cy="418794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2892552"/>
            <a:ext cx="1522475" cy="236524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999476" y="0"/>
            <a:ext cx="1604772" cy="11430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657843" y="6142309"/>
            <a:ext cx="896111" cy="715688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407305" y="0"/>
            <a:ext cx="742381" cy="1194907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10415188" y="83576"/>
            <a:ext cx="685800" cy="1143000"/>
          </a:xfrm>
          <a:custGeom>
            <a:avLst/>
            <a:gdLst/>
            <a:ahLst/>
            <a:cxnLst/>
            <a:rect l="l" t="t" r="r" b="b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005E4F"/>
          </a:solidFill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000066"/>
                </a:solidFill>
                <a:latin typeface="Verdana"/>
                <a:cs typeface="Verdana"/>
              </a:defRPr>
            </a:lvl1pPr>
          </a:lstStyle>
          <a:p>
            <a:pPr rtl="0"/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2292" y="1604899"/>
            <a:ext cx="10494645" cy="4472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marL="0" algn="l" rtl="0"/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06F0C2-6F4A-2E44-96D9-1D00E9A6473F}" type="datetime1">
              <a:rPr lang="en-US" smtClean="0"/>
              <a:t>10/30/25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/>
  <p:txStyles>
    <p:titleStyle>
      <a:lvl1pPr>
        <a:defRPr b="1">
          <a:ln>
            <a:noFill/>
          </a:ln>
          <a:solidFill>
            <a:srgbClr val="005E4F"/>
          </a:solidFill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4648200" y="1308204"/>
            <a:ext cx="754380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lang="fr-FR" sz="4500" b="1" dirty="0">
                <a:solidFill>
                  <a:schemeClr val="bg1"/>
                </a:solidFill>
              </a:rPr>
              <a:t>Modification d’un </a:t>
            </a:r>
            <a:r>
              <a:rPr lang="fr-FR" sz="4500" b="1" dirty="0" err="1">
                <a:solidFill>
                  <a:schemeClr val="bg1"/>
                </a:solidFill>
              </a:rPr>
              <a:t>système</a:t>
            </a:r>
            <a:r>
              <a:rPr lang="fr-FR" sz="4500" b="1" dirty="0">
                <a:solidFill>
                  <a:schemeClr val="bg1"/>
                </a:solidFill>
              </a:rPr>
              <a:t> existant</a:t>
            </a:r>
            <a:endParaRPr lang="fr-CA" sz="4500" b="1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85B0AF8-A98B-F90A-4A19-7F62DF87B427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383414" y="6228397"/>
            <a:ext cx="2804160" cy="492443"/>
          </a:xfrm>
        </p:spPr>
        <p:txBody>
          <a:bodyPr/>
          <a:lstStyle/>
          <a:p>
            <a:fld id="{989042C5-981F-8446-B5E6-599A3AD065DC}" type="datetime1">
              <a:rPr lang="en-US" sz="3200" b="1" smtClean="0">
                <a:solidFill>
                  <a:schemeClr val="bg1"/>
                </a:solidFill>
              </a:rPr>
              <a:t>10/30/25</a:t>
            </a:fld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D01C9-AA34-B8E2-8550-5B22CCDA0E2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1</a:t>
            </a:fld>
            <a:endParaRPr lang="en-DZ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2C7E0785-9F16-D668-BA53-6037D1C8ADDF}"/>
              </a:ext>
            </a:extLst>
          </p:cNvPr>
          <p:cNvSpPr txBox="1">
            <a:spLocks/>
          </p:cNvSpPr>
          <p:nvPr/>
        </p:nvSpPr>
        <p:spPr>
          <a:xfrm>
            <a:off x="6858000" y="5453359"/>
            <a:ext cx="6039679" cy="104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200" b="0" i="0">
                <a:solidFill>
                  <a:srgbClr val="000066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 marR="5080" rtl="0">
              <a:lnSpc>
                <a:spcPct val="150000"/>
              </a:lnSpc>
              <a:spcBef>
                <a:spcPts val="100"/>
              </a:spcBef>
            </a:pPr>
            <a:r>
              <a:rPr lang="fr-CA" sz="2400" b="1" dirty="0">
                <a:solidFill>
                  <a:schemeClr val="bg1"/>
                </a:solidFill>
              </a:rPr>
              <a:t>Enseignante : Asma </a:t>
            </a:r>
            <a:r>
              <a:rPr lang="fr-CA" sz="2400" b="1" dirty="0" err="1">
                <a:solidFill>
                  <a:schemeClr val="bg1"/>
                </a:solidFill>
              </a:rPr>
              <a:t>Aouichat</a:t>
            </a:r>
            <a:br>
              <a:rPr lang="fr-CA" sz="2400" b="1" dirty="0">
                <a:solidFill>
                  <a:schemeClr val="bg1"/>
                </a:solidFill>
              </a:rPr>
            </a:br>
            <a:r>
              <a:rPr lang="fr-CA" sz="2400" b="1" dirty="0">
                <a:solidFill>
                  <a:schemeClr val="bg1"/>
                </a:solidFill>
              </a:rPr>
              <a:t>contact : MIO</a:t>
            </a:r>
            <a:endParaRPr lang="fr-CA" sz="2400" dirty="0">
              <a:solidFill>
                <a:schemeClr val="bg1"/>
              </a:solidFill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09E77A43-F247-D1CA-BF14-D7F60FA475D0}"/>
              </a:ext>
            </a:extLst>
          </p:cNvPr>
          <p:cNvSpPr txBox="1">
            <a:spLocks/>
          </p:cNvSpPr>
          <p:nvPr/>
        </p:nvSpPr>
        <p:spPr>
          <a:xfrm>
            <a:off x="353288" y="3429000"/>
            <a:ext cx="113157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200" b="0" i="0">
                <a:ln>
                  <a:noFill/>
                </a:ln>
                <a:solidFill>
                  <a:srgbClr val="000066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 marR="5080" algn="ctr">
              <a:spcBef>
                <a:spcPts val="100"/>
              </a:spcBef>
            </a:pPr>
            <a:r>
              <a:rPr lang="fr-FR" sz="4000" b="1" dirty="0">
                <a:solidFill>
                  <a:schemeClr val="tx1"/>
                </a:solidFill>
              </a:rPr>
              <a:t>Analyse et conception d’interfaces Web</a:t>
            </a:r>
            <a:endParaRPr lang="fr-CA" sz="40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3D3438-7F71-EADF-2FC4-B03330C50915}"/>
              </a:ext>
            </a:extLst>
          </p:cNvPr>
          <p:cNvSpPr txBox="1"/>
          <p:nvPr/>
        </p:nvSpPr>
        <p:spPr>
          <a:xfrm>
            <a:off x="1767840" y="7315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endParaRPr lang="en-DZ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C668E-D70C-33D2-AB38-5F0EA201551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C0BC9-C288-4510-AE19-7EC6D9446E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2</a:t>
            </a:fld>
            <a:endParaRPr lang="en-DZ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B08F24A1-3ECA-7DEA-375C-96DC483BFF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67200" y="230725"/>
            <a:ext cx="297180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fr-CA" b="1" dirty="0">
                <a:solidFill>
                  <a:srgbClr val="005E4F"/>
                </a:solidFill>
                <a:latin typeface="Century Gothic" panose="020B0502020202020204" pitchFamily="34" charset="0"/>
              </a:rPr>
              <a:t>Sommaire</a:t>
            </a:r>
            <a:endParaRPr lang="fr-CA" dirty="0">
              <a:solidFill>
                <a:srgbClr val="005E4F"/>
              </a:solidFill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2FAB345-1315-713C-C6B2-055181743E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8592559"/>
              </p:ext>
            </p:extLst>
          </p:nvPr>
        </p:nvGraphicFramePr>
        <p:xfrm>
          <a:off x="2032000" y="1066800"/>
          <a:ext cx="8128000" cy="5071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9425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C668E-D70C-33D2-AB38-5F0EA201551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C0BC9-C288-4510-AE19-7EC6D9446E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3</a:t>
            </a:fld>
            <a:endParaRPr lang="en-DZ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B08F24A1-3ECA-7DEA-375C-96DC483BFF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8967" y="573625"/>
            <a:ext cx="946827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fr-CA" sz="3600" b="1" dirty="0">
                <a:solidFill>
                  <a:srgbClr val="005E4F"/>
                </a:solidFill>
                <a:effectLst/>
                <a:latin typeface="Century Gothic" panose="020B0502020202020204" pitchFamily="34" charset="0"/>
              </a:rPr>
              <a:t>Objectif </a:t>
            </a:r>
            <a:endParaRPr lang="fr-CA" sz="3600" dirty="0">
              <a:solidFill>
                <a:srgbClr val="005E4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DF9E74-8B70-2DE0-3FD7-B54E5B8C018F}"/>
              </a:ext>
            </a:extLst>
          </p:cNvPr>
          <p:cNvSpPr txBox="1"/>
          <p:nvPr/>
        </p:nvSpPr>
        <p:spPr>
          <a:xfrm>
            <a:off x="1147806" y="1229636"/>
            <a:ext cx="9189433" cy="545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Comprendre</a:t>
            </a:r>
            <a:r>
              <a:rPr lang="en-US" sz="2000" dirty="0"/>
              <a:t> la démarche </a:t>
            </a:r>
            <a:r>
              <a:rPr lang="en-US" sz="2000" dirty="0" err="1"/>
              <a:t>d’analyse</a:t>
            </a:r>
            <a:r>
              <a:rPr lang="en-US" sz="2000" dirty="0"/>
              <a:t> des </a:t>
            </a:r>
            <a:r>
              <a:rPr lang="en-US" sz="2000" dirty="0" err="1"/>
              <a:t>besoins</a:t>
            </a:r>
            <a:r>
              <a:rPr lang="en-US" sz="2000" dirty="0"/>
              <a:t> dans un </a:t>
            </a:r>
            <a:r>
              <a:rPr lang="en-US" sz="2000" dirty="0" err="1"/>
              <a:t>projet</a:t>
            </a:r>
            <a:r>
              <a:rPr lang="en-US" sz="2000" dirty="0"/>
              <a:t> web.</a:t>
            </a:r>
          </a:p>
          <a:p>
            <a:pPr marL="342900" indent="-3429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Identifier les </a:t>
            </a:r>
            <a:r>
              <a:rPr lang="en-US" sz="2000" dirty="0" err="1"/>
              <a:t>utilisateurs</a:t>
            </a:r>
            <a:r>
              <a:rPr lang="en-US" sz="2000" dirty="0"/>
              <a:t>, </a:t>
            </a:r>
            <a:r>
              <a:rPr lang="en-US" sz="2000" dirty="0" err="1"/>
              <a:t>leurs</a:t>
            </a:r>
            <a:r>
              <a:rPr lang="en-US" sz="2000" dirty="0"/>
              <a:t> </a:t>
            </a:r>
            <a:r>
              <a:rPr lang="en-US" sz="2000" dirty="0" err="1"/>
              <a:t>attentes</a:t>
            </a:r>
            <a:r>
              <a:rPr lang="en-US" sz="2000" dirty="0"/>
              <a:t> et </a:t>
            </a:r>
            <a:r>
              <a:rPr lang="en-US" sz="2000" dirty="0" err="1"/>
              <a:t>leurs</a:t>
            </a:r>
            <a:r>
              <a:rPr lang="en-US" sz="2000" dirty="0"/>
              <a:t> </a:t>
            </a:r>
            <a:r>
              <a:rPr lang="en-US" sz="2000" dirty="0" err="1"/>
              <a:t>contraintes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Rédiger</a:t>
            </a:r>
            <a:r>
              <a:rPr lang="en-US" sz="2000" dirty="0"/>
              <a:t> un </a:t>
            </a:r>
            <a:r>
              <a:rPr lang="en-US" sz="2000" b="1" dirty="0"/>
              <a:t>cahier des charges</a:t>
            </a:r>
            <a:r>
              <a:rPr lang="en-US" sz="2000" dirty="0"/>
              <a:t> </a:t>
            </a:r>
            <a:r>
              <a:rPr lang="en-US" sz="2000" dirty="0" err="1"/>
              <a:t>clair</a:t>
            </a:r>
            <a:r>
              <a:rPr lang="en-US" sz="2000" dirty="0"/>
              <a:t> et exploitable.</a:t>
            </a:r>
          </a:p>
          <a:p>
            <a:pPr marL="342900" indent="-3429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Concevoir</a:t>
            </a:r>
            <a:r>
              <a:rPr lang="en-US" sz="2000" dirty="0"/>
              <a:t> des </a:t>
            </a:r>
            <a:r>
              <a:rPr lang="en-US" sz="2000" b="1" dirty="0"/>
              <a:t>user stories</a:t>
            </a:r>
            <a:r>
              <a:rPr lang="en-US" sz="2000" dirty="0"/>
              <a:t> et les </a:t>
            </a:r>
            <a:r>
              <a:rPr lang="en-US" sz="2000" dirty="0" err="1"/>
              <a:t>relier</a:t>
            </a:r>
            <a:r>
              <a:rPr lang="en-US" sz="2000" dirty="0"/>
              <a:t> aux </a:t>
            </a:r>
            <a:r>
              <a:rPr lang="en-US" sz="2000" dirty="0" err="1"/>
              <a:t>fonctionnalités</a:t>
            </a:r>
            <a:r>
              <a:rPr lang="en-US" sz="2000" dirty="0"/>
              <a:t> du </a:t>
            </a:r>
            <a:r>
              <a:rPr lang="en-US" sz="2000" dirty="0" err="1"/>
              <a:t>système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Utiliser</a:t>
            </a:r>
            <a:r>
              <a:rPr lang="en-US" sz="2000" dirty="0"/>
              <a:t> </a:t>
            </a:r>
            <a:r>
              <a:rPr lang="en-US" sz="2000" b="1" dirty="0" err="1"/>
              <a:t>Draw.io</a:t>
            </a:r>
            <a:r>
              <a:rPr lang="en-US" sz="2000" b="1" dirty="0"/>
              <a:t> (</a:t>
            </a:r>
            <a:r>
              <a:rPr lang="en-US" sz="2000" b="1" dirty="0" err="1"/>
              <a:t>diagrams.net</a:t>
            </a:r>
            <a:r>
              <a:rPr lang="en-US" sz="2000" b="1" dirty="0"/>
              <a:t>)</a:t>
            </a:r>
            <a:r>
              <a:rPr lang="en-US" sz="2000" dirty="0"/>
              <a:t> pour </a:t>
            </a:r>
            <a:r>
              <a:rPr lang="en-US" sz="2000" dirty="0" err="1"/>
              <a:t>modéliser</a:t>
            </a:r>
            <a:r>
              <a:rPr lang="en-US" sz="2000" dirty="0"/>
              <a:t> des interfaces et </a:t>
            </a:r>
            <a:r>
              <a:rPr lang="en-US" sz="2000" dirty="0" err="1"/>
              <a:t>parcours</a:t>
            </a:r>
            <a:r>
              <a:rPr lang="en-US" sz="2000" dirty="0"/>
              <a:t> </a:t>
            </a:r>
            <a:r>
              <a:rPr lang="en-US" sz="2000" dirty="0" err="1"/>
              <a:t>utilisateurs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9038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CB31F-5981-DFBF-457B-7C3B6DE0181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46455-6170-7CCB-70AE-83E1AAA2D0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4</a:t>
            </a:fld>
            <a:endParaRPr lang="en-DZ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C01774-7F32-4072-01CA-9B507DFE2AA0}"/>
              </a:ext>
            </a:extLst>
          </p:cNvPr>
          <p:cNvSpPr/>
          <p:nvPr/>
        </p:nvSpPr>
        <p:spPr>
          <a:xfrm>
            <a:off x="-152400" y="2057400"/>
            <a:ext cx="12344400" cy="3657600"/>
          </a:xfrm>
          <a:prstGeom prst="rect">
            <a:avLst/>
          </a:prstGeom>
          <a:solidFill>
            <a:srgbClr val="005E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540EFD-9134-3027-184E-0B37195ACC87}"/>
              </a:ext>
            </a:extLst>
          </p:cNvPr>
          <p:cNvSpPr/>
          <p:nvPr/>
        </p:nvSpPr>
        <p:spPr>
          <a:xfrm>
            <a:off x="8458200" y="2362200"/>
            <a:ext cx="3733800" cy="3352800"/>
          </a:xfrm>
          <a:prstGeom prst="ellipse">
            <a:avLst/>
          </a:prstGeom>
          <a:solidFill>
            <a:schemeClr val="bg1"/>
          </a:solidFill>
          <a:ln w="38100" cmpd="thinThick">
            <a:solidFill>
              <a:srgbClr val="FF1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035C73-7125-FA08-3A39-B8AFBE613C8F}"/>
              </a:ext>
            </a:extLst>
          </p:cNvPr>
          <p:cNvSpPr/>
          <p:nvPr/>
        </p:nvSpPr>
        <p:spPr>
          <a:xfrm>
            <a:off x="8610600" y="2514601"/>
            <a:ext cx="3429000" cy="3048000"/>
          </a:xfrm>
          <a:prstGeom prst="ellipse">
            <a:avLst/>
          </a:prstGeom>
          <a:solidFill>
            <a:schemeClr val="bg1"/>
          </a:solidFill>
          <a:ln w="38100" cmpd="thinThick">
            <a:solidFill>
              <a:srgbClr val="FF1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E9ADF3-6EEF-3A8B-B153-AA3809FA5DF9}"/>
              </a:ext>
            </a:extLst>
          </p:cNvPr>
          <p:cNvSpPr txBox="1"/>
          <p:nvPr/>
        </p:nvSpPr>
        <p:spPr>
          <a:xfrm>
            <a:off x="2929270" y="3249650"/>
            <a:ext cx="6198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b="1" spc="-20" dirty="0">
                <a:solidFill>
                  <a:srgbClr val="005E7B"/>
                </a:solidFill>
              </a:rPr>
              <a:t>que</a:t>
            </a:r>
            <a:endParaRPr lang="en-DZ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143940-A943-3C07-C35A-E921A1C4E4CE}"/>
              </a:ext>
            </a:extLst>
          </p:cNvPr>
          <p:cNvSpPr txBox="1"/>
          <p:nvPr/>
        </p:nvSpPr>
        <p:spPr>
          <a:xfrm>
            <a:off x="152400" y="2888143"/>
            <a:ext cx="928663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5400" b="1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Développement d’un projet web</a:t>
            </a:r>
            <a:endParaRPr lang="en-US" sz="5400" dirty="0">
              <a:solidFill>
                <a:schemeClr val="bg1"/>
              </a:solidFill>
              <a:effectLst/>
              <a:latin typeface="Century Gothic" panose="020B0502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23ABC3-11CB-30EA-9E3A-46C6B171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819400"/>
            <a:ext cx="2301950" cy="230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662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00B81-148D-37F6-CCE7-F4F97F086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CEA90-BD4F-925C-E114-F827CEF91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008CE-873F-0099-3249-0BAD8C6789F0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06869A-DE5D-AAC4-ABF0-25CE99B9AE2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5</a:t>
            </a:fld>
            <a:endParaRPr lang="en-DZ"/>
          </a:p>
        </p:txBody>
      </p:sp>
      <p:pic>
        <p:nvPicPr>
          <p:cNvPr id="4098" name="Picture 2" descr="Les processus de développement ou cycles de vie du logiciel – Models&amp;Code">
            <a:extLst>
              <a:ext uri="{FF2B5EF4-FFF2-40B4-BE49-F238E27FC236}">
                <a16:creationId xmlns:a16="http://schemas.microsoft.com/office/drawing/2014/main" id="{48DA985D-6B19-1A0F-9609-7A915CA87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964" y="1604899"/>
            <a:ext cx="73533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C2C8942-2811-6C75-8C10-FCF1F735C668}"/>
              </a:ext>
            </a:extLst>
          </p:cNvPr>
          <p:cNvSpPr txBox="1">
            <a:spLocks/>
          </p:cNvSpPr>
          <p:nvPr/>
        </p:nvSpPr>
        <p:spPr>
          <a:xfrm>
            <a:off x="877316" y="576834"/>
            <a:ext cx="9450705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ln>
                  <a:noFill/>
                </a:ln>
                <a:solidFill>
                  <a:srgbClr val="005E4F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en-DZ"/>
              <a:t>Cycle de vie d’un projet</a:t>
            </a:r>
            <a:endParaRPr lang="en-DZ" dirty="0"/>
          </a:p>
        </p:txBody>
      </p:sp>
    </p:spTree>
    <p:extLst>
      <p:ext uri="{BB962C8B-B14F-4D97-AF65-F5344CB8AC3E}">
        <p14:creationId xmlns:p14="http://schemas.microsoft.com/office/powerpoint/2010/main" val="1391861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51F8C-A149-0E47-69CF-D7D7526E3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DZ" dirty="0"/>
              <a:t>Cycle de vie d’un projet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0B1F6-808F-1A0C-CD21-300941905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CC86E-67CA-C371-EFFA-32089309ADCD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802A66-5E11-3CA3-2553-E2E503E1017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6</a:t>
            </a:fld>
            <a:endParaRPr lang="en-DZ"/>
          </a:p>
        </p:txBody>
      </p:sp>
      <p:pic>
        <p:nvPicPr>
          <p:cNvPr id="2050" name="Picture 2" descr="le développement logiciel et SDLC : étapes et bonnes pratiques -">
            <a:extLst>
              <a:ext uri="{FF2B5EF4-FFF2-40B4-BE49-F238E27FC236}">
                <a16:creationId xmlns:a16="http://schemas.microsoft.com/office/drawing/2014/main" id="{05D3B0F7-EF1A-7081-858F-9B8F6AA79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775" y="2267966"/>
            <a:ext cx="10033000" cy="416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9921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7535D-CE7C-EE48-FCC7-26EE32A0D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ABE75-5770-6E42-AD80-2394CAB3B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E18F2-4890-B9B7-BF32-EAFE3D6CACC0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3EADC2-60F4-2FA8-CB16-0881DBD8918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7</a:t>
            </a:fld>
            <a:endParaRPr lang="en-DZ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D51C0F8B-408E-044D-1BAE-DB65A9E78450}"/>
              </a:ext>
            </a:extLst>
          </p:cNvPr>
          <p:cNvSpPr/>
          <p:nvPr/>
        </p:nvSpPr>
        <p:spPr>
          <a:xfrm>
            <a:off x="259079" y="1295400"/>
            <a:ext cx="1228090" cy="758190"/>
          </a:xfrm>
          <a:custGeom>
            <a:avLst/>
            <a:gdLst/>
            <a:ahLst/>
            <a:cxnLst/>
            <a:rect l="l" t="t" r="r" b="b"/>
            <a:pathLst>
              <a:path w="1228090" h="758189">
                <a:moveTo>
                  <a:pt x="1101217" y="0"/>
                </a:moveTo>
                <a:lnTo>
                  <a:pt x="126364" y="0"/>
                </a:lnTo>
                <a:lnTo>
                  <a:pt x="77179" y="9930"/>
                </a:lnTo>
                <a:lnTo>
                  <a:pt x="37012" y="37012"/>
                </a:lnTo>
                <a:lnTo>
                  <a:pt x="9930" y="77179"/>
                </a:lnTo>
                <a:lnTo>
                  <a:pt x="0" y="126364"/>
                </a:lnTo>
                <a:lnTo>
                  <a:pt x="0" y="631824"/>
                </a:lnTo>
                <a:lnTo>
                  <a:pt x="9930" y="681010"/>
                </a:lnTo>
                <a:lnTo>
                  <a:pt x="37012" y="721177"/>
                </a:lnTo>
                <a:lnTo>
                  <a:pt x="77179" y="748259"/>
                </a:lnTo>
                <a:lnTo>
                  <a:pt x="126364" y="758189"/>
                </a:lnTo>
                <a:lnTo>
                  <a:pt x="1101217" y="758189"/>
                </a:lnTo>
                <a:lnTo>
                  <a:pt x="1150402" y="748259"/>
                </a:lnTo>
                <a:lnTo>
                  <a:pt x="1190569" y="721177"/>
                </a:lnTo>
                <a:lnTo>
                  <a:pt x="1217651" y="681010"/>
                </a:lnTo>
                <a:lnTo>
                  <a:pt x="1227582" y="631824"/>
                </a:lnTo>
                <a:lnTo>
                  <a:pt x="1227582" y="126364"/>
                </a:lnTo>
                <a:lnTo>
                  <a:pt x="1217651" y="77179"/>
                </a:lnTo>
                <a:lnTo>
                  <a:pt x="1190569" y="37012"/>
                </a:lnTo>
                <a:lnTo>
                  <a:pt x="1150402" y="9930"/>
                </a:lnTo>
                <a:lnTo>
                  <a:pt x="1101217" y="0"/>
                </a:lnTo>
                <a:close/>
              </a:path>
            </a:pathLst>
          </a:custGeom>
          <a:solidFill>
            <a:srgbClr val="D87198"/>
          </a:solidFill>
        </p:spPr>
        <p:txBody>
          <a:bodyPr wrap="square" lIns="0" tIns="0" rIns="0" bIns="0" rtlCol="0"/>
          <a:lstStyle/>
          <a:p>
            <a:pPr algn="l" rtl="0"/>
            <a:endParaRPr lang="fr-CA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AD8C3EA8-0C76-19BF-9914-8E7396D121E0}"/>
              </a:ext>
            </a:extLst>
          </p:cNvPr>
          <p:cNvSpPr txBox="1"/>
          <p:nvPr/>
        </p:nvSpPr>
        <p:spPr>
          <a:xfrm>
            <a:off x="515468" y="1562868"/>
            <a:ext cx="71501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CA" sz="1200" dirty="0">
                <a:solidFill>
                  <a:srgbClr val="FFFFFF"/>
                </a:solidFill>
                <a:latin typeface="Roboto"/>
                <a:cs typeface="Roboto"/>
              </a:rPr>
              <a:t>Exigences</a:t>
            </a:r>
            <a:endParaRPr lang="fr-CA" sz="1200" dirty="0">
              <a:latin typeface="Roboto"/>
              <a:cs typeface="Roboto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FC40B6EB-4E72-9DE7-0244-B0A51B550928}"/>
              </a:ext>
            </a:extLst>
          </p:cNvPr>
          <p:cNvSpPr/>
          <p:nvPr/>
        </p:nvSpPr>
        <p:spPr>
          <a:xfrm>
            <a:off x="873252" y="1605531"/>
            <a:ext cx="1228090" cy="1336040"/>
          </a:xfrm>
          <a:custGeom>
            <a:avLst/>
            <a:gdLst/>
            <a:ahLst/>
            <a:cxnLst/>
            <a:rect l="l" t="t" r="r" b="b"/>
            <a:pathLst>
              <a:path w="1228089" h="1336039">
                <a:moveTo>
                  <a:pt x="893826" y="503682"/>
                </a:moveTo>
                <a:lnTo>
                  <a:pt x="858774" y="503682"/>
                </a:lnTo>
                <a:lnTo>
                  <a:pt x="858774" y="122682"/>
                </a:lnTo>
                <a:lnTo>
                  <a:pt x="849122" y="74930"/>
                </a:lnTo>
                <a:lnTo>
                  <a:pt x="822833" y="35941"/>
                </a:lnTo>
                <a:lnTo>
                  <a:pt x="783844" y="9652"/>
                </a:lnTo>
                <a:lnTo>
                  <a:pt x="736092" y="0"/>
                </a:lnTo>
                <a:lnTo>
                  <a:pt x="613410" y="0"/>
                </a:lnTo>
                <a:lnTo>
                  <a:pt x="613410" y="70104"/>
                </a:lnTo>
                <a:lnTo>
                  <a:pt x="736092" y="70104"/>
                </a:lnTo>
                <a:lnTo>
                  <a:pt x="756551" y="74244"/>
                </a:lnTo>
                <a:lnTo>
                  <a:pt x="773264" y="85509"/>
                </a:lnTo>
                <a:lnTo>
                  <a:pt x="784529" y="102222"/>
                </a:lnTo>
                <a:lnTo>
                  <a:pt x="788670" y="122682"/>
                </a:lnTo>
                <a:lnTo>
                  <a:pt x="788670" y="503682"/>
                </a:lnTo>
                <a:lnTo>
                  <a:pt x="753618" y="503682"/>
                </a:lnTo>
                <a:lnTo>
                  <a:pt x="823722" y="573786"/>
                </a:lnTo>
                <a:lnTo>
                  <a:pt x="893826" y="503682"/>
                </a:lnTo>
                <a:close/>
              </a:path>
              <a:path w="1228089" h="1336039">
                <a:moveTo>
                  <a:pt x="1227582" y="703973"/>
                </a:moveTo>
                <a:lnTo>
                  <a:pt x="1217650" y="654786"/>
                </a:lnTo>
                <a:lnTo>
                  <a:pt x="1190561" y="614616"/>
                </a:lnTo>
                <a:lnTo>
                  <a:pt x="1150391" y="587540"/>
                </a:lnTo>
                <a:lnTo>
                  <a:pt x="1101217" y="577608"/>
                </a:lnTo>
                <a:lnTo>
                  <a:pt x="126365" y="577608"/>
                </a:lnTo>
                <a:lnTo>
                  <a:pt x="77177" y="587540"/>
                </a:lnTo>
                <a:lnTo>
                  <a:pt x="37007" y="614616"/>
                </a:lnTo>
                <a:lnTo>
                  <a:pt x="9918" y="654786"/>
                </a:lnTo>
                <a:lnTo>
                  <a:pt x="0" y="703973"/>
                </a:lnTo>
                <a:lnTo>
                  <a:pt x="0" y="1209433"/>
                </a:lnTo>
                <a:lnTo>
                  <a:pt x="9918" y="1258620"/>
                </a:lnTo>
                <a:lnTo>
                  <a:pt x="37007" y="1298778"/>
                </a:lnTo>
                <a:lnTo>
                  <a:pt x="77177" y="1325867"/>
                </a:lnTo>
                <a:lnTo>
                  <a:pt x="126365" y="1335798"/>
                </a:lnTo>
                <a:lnTo>
                  <a:pt x="1101217" y="1335798"/>
                </a:lnTo>
                <a:lnTo>
                  <a:pt x="1150391" y="1325867"/>
                </a:lnTo>
                <a:lnTo>
                  <a:pt x="1190561" y="1298778"/>
                </a:lnTo>
                <a:lnTo>
                  <a:pt x="1217650" y="1258620"/>
                </a:lnTo>
                <a:lnTo>
                  <a:pt x="1227582" y="1209433"/>
                </a:lnTo>
                <a:lnTo>
                  <a:pt x="1227582" y="703973"/>
                </a:lnTo>
                <a:close/>
              </a:path>
            </a:pathLst>
          </a:custGeom>
          <a:solidFill>
            <a:srgbClr val="64B8CD"/>
          </a:solidFill>
        </p:spPr>
        <p:txBody>
          <a:bodyPr wrap="square" lIns="0" tIns="0" rIns="0" bIns="0" rtlCol="0"/>
          <a:lstStyle/>
          <a:p>
            <a:pPr algn="l" rtl="0"/>
            <a:endParaRPr lang="fr-CA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1FC90DC7-11F0-FC00-706F-7FA823CF5747}"/>
              </a:ext>
            </a:extLst>
          </p:cNvPr>
          <p:cNvSpPr txBox="1"/>
          <p:nvPr/>
        </p:nvSpPr>
        <p:spPr>
          <a:xfrm>
            <a:off x="1206271" y="2450568"/>
            <a:ext cx="5607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CA" sz="1200" dirty="0">
                <a:solidFill>
                  <a:srgbClr val="FFFFFF"/>
                </a:solidFill>
                <a:latin typeface="Roboto"/>
                <a:cs typeface="Roboto"/>
              </a:rPr>
              <a:t>Analyse</a:t>
            </a:r>
            <a:endParaRPr lang="fr-CA" sz="1200" dirty="0">
              <a:latin typeface="Roboto"/>
              <a:cs typeface="Roboto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C76DEE10-07ED-D716-C7CC-8F71879CB3D9}"/>
              </a:ext>
            </a:extLst>
          </p:cNvPr>
          <p:cNvSpPr/>
          <p:nvPr/>
        </p:nvSpPr>
        <p:spPr>
          <a:xfrm>
            <a:off x="1486662" y="2497071"/>
            <a:ext cx="1228090" cy="1332230"/>
          </a:xfrm>
          <a:custGeom>
            <a:avLst/>
            <a:gdLst/>
            <a:ahLst/>
            <a:cxnLst/>
            <a:rect l="l" t="t" r="r" b="b"/>
            <a:pathLst>
              <a:path w="1228089" h="1332229">
                <a:moveTo>
                  <a:pt x="894588" y="503682"/>
                </a:moveTo>
                <a:lnTo>
                  <a:pt x="859536" y="503682"/>
                </a:lnTo>
                <a:lnTo>
                  <a:pt x="859536" y="122682"/>
                </a:lnTo>
                <a:lnTo>
                  <a:pt x="849884" y="74930"/>
                </a:lnTo>
                <a:lnTo>
                  <a:pt x="823595" y="35941"/>
                </a:lnTo>
                <a:lnTo>
                  <a:pt x="784606" y="9652"/>
                </a:lnTo>
                <a:lnTo>
                  <a:pt x="736854" y="0"/>
                </a:lnTo>
                <a:lnTo>
                  <a:pt x="614172" y="0"/>
                </a:lnTo>
                <a:lnTo>
                  <a:pt x="614172" y="70104"/>
                </a:lnTo>
                <a:lnTo>
                  <a:pt x="736854" y="70104"/>
                </a:lnTo>
                <a:lnTo>
                  <a:pt x="757313" y="74244"/>
                </a:lnTo>
                <a:lnTo>
                  <a:pt x="774026" y="85509"/>
                </a:lnTo>
                <a:lnTo>
                  <a:pt x="785291" y="102222"/>
                </a:lnTo>
                <a:lnTo>
                  <a:pt x="789432" y="122682"/>
                </a:lnTo>
                <a:lnTo>
                  <a:pt x="789432" y="503682"/>
                </a:lnTo>
                <a:lnTo>
                  <a:pt x="754380" y="503682"/>
                </a:lnTo>
                <a:lnTo>
                  <a:pt x="824484" y="573786"/>
                </a:lnTo>
                <a:lnTo>
                  <a:pt x="894588" y="503682"/>
                </a:lnTo>
                <a:close/>
              </a:path>
              <a:path w="1228089" h="1332229">
                <a:moveTo>
                  <a:pt x="1227582" y="700163"/>
                </a:moveTo>
                <a:lnTo>
                  <a:pt x="1217650" y="650976"/>
                </a:lnTo>
                <a:lnTo>
                  <a:pt x="1190561" y="610806"/>
                </a:lnTo>
                <a:lnTo>
                  <a:pt x="1150391" y="583730"/>
                </a:lnTo>
                <a:lnTo>
                  <a:pt x="1101217" y="573798"/>
                </a:lnTo>
                <a:lnTo>
                  <a:pt x="126365" y="573798"/>
                </a:lnTo>
                <a:lnTo>
                  <a:pt x="77177" y="583730"/>
                </a:lnTo>
                <a:lnTo>
                  <a:pt x="37007" y="610806"/>
                </a:lnTo>
                <a:lnTo>
                  <a:pt x="9918" y="650976"/>
                </a:lnTo>
                <a:lnTo>
                  <a:pt x="0" y="700163"/>
                </a:lnTo>
                <a:lnTo>
                  <a:pt x="0" y="1205623"/>
                </a:lnTo>
                <a:lnTo>
                  <a:pt x="9918" y="1254810"/>
                </a:lnTo>
                <a:lnTo>
                  <a:pt x="37007" y="1294968"/>
                </a:lnTo>
                <a:lnTo>
                  <a:pt x="77177" y="1322057"/>
                </a:lnTo>
                <a:lnTo>
                  <a:pt x="126365" y="1331988"/>
                </a:lnTo>
                <a:lnTo>
                  <a:pt x="1101217" y="1331988"/>
                </a:lnTo>
                <a:lnTo>
                  <a:pt x="1150391" y="1322057"/>
                </a:lnTo>
                <a:lnTo>
                  <a:pt x="1190561" y="1294968"/>
                </a:lnTo>
                <a:lnTo>
                  <a:pt x="1217650" y="1254810"/>
                </a:lnTo>
                <a:lnTo>
                  <a:pt x="1227582" y="1205623"/>
                </a:lnTo>
                <a:lnTo>
                  <a:pt x="1227582" y="700163"/>
                </a:lnTo>
                <a:close/>
              </a:path>
            </a:pathLst>
          </a:custGeom>
          <a:solidFill>
            <a:srgbClr val="A5376A"/>
          </a:solidFill>
        </p:spPr>
        <p:txBody>
          <a:bodyPr wrap="square" lIns="0" tIns="0" rIns="0" bIns="0" rtlCol="0"/>
          <a:lstStyle/>
          <a:p>
            <a:pPr algn="l" rtl="0"/>
            <a:endParaRPr lang="fr-CA"/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38A0FC77-4C73-9D9A-251E-C20A3CF3834C}"/>
              </a:ext>
            </a:extLst>
          </p:cNvPr>
          <p:cNvSpPr txBox="1"/>
          <p:nvPr/>
        </p:nvSpPr>
        <p:spPr>
          <a:xfrm>
            <a:off x="1701239" y="3338265"/>
            <a:ext cx="79946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CA" sz="1200">
                <a:solidFill>
                  <a:srgbClr val="FFFFFF"/>
                </a:solidFill>
                <a:latin typeface="Roboto"/>
                <a:cs typeface="Roboto"/>
              </a:rPr>
              <a:t>Conception</a:t>
            </a:r>
            <a:endParaRPr lang="fr-CA" sz="1200">
              <a:latin typeface="Roboto"/>
              <a:cs typeface="Roboto"/>
            </a:endParaRPr>
          </a:p>
        </p:txBody>
      </p:sp>
      <p:grpSp>
        <p:nvGrpSpPr>
          <p:cNvPr id="12" name="object 8">
            <a:extLst>
              <a:ext uri="{FF2B5EF4-FFF2-40B4-BE49-F238E27FC236}">
                <a16:creationId xmlns:a16="http://schemas.microsoft.com/office/drawing/2014/main" id="{31A24BA4-0A22-D646-B657-89733A15A2DE}"/>
              </a:ext>
            </a:extLst>
          </p:cNvPr>
          <p:cNvGrpSpPr/>
          <p:nvPr/>
        </p:nvGrpSpPr>
        <p:grpSpPr>
          <a:xfrm>
            <a:off x="2714244" y="2183130"/>
            <a:ext cx="2245360" cy="2129790"/>
            <a:chOff x="2714244" y="1850138"/>
            <a:chExt cx="2245360" cy="2129790"/>
          </a:xfrm>
        </p:grpSpPr>
        <p:sp>
          <p:nvSpPr>
            <p:cNvPr id="13" name="object 9">
              <a:extLst>
                <a:ext uri="{FF2B5EF4-FFF2-40B4-BE49-F238E27FC236}">
                  <a16:creationId xmlns:a16="http://schemas.microsoft.com/office/drawing/2014/main" id="{EE6614DB-E186-291C-38F3-72EFA1A77A66}"/>
                </a:ext>
              </a:extLst>
            </p:cNvPr>
            <p:cNvSpPr/>
            <p:nvPr/>
          </p:nvSpPr>
          <p:spPr>
            <a:xfrm>
              <a:off x="2714244" y="3019044"/>
              <a:ext cx="280670" cy="574675"/>
            </a:xfrm>
            <a:custGeom>
              <a:avLst/>
              <a:gdLst/>
              <a:ahLst/>
              <a:cxnLst/>
              <a:rect l="l" t="t" r="r" b="b"/>
              <a:pathLst>
                <a:path w="280669" h="574675">
                  <a:moveTo>
                    <a:pt x="122682" y="0"/>
                  </a:moveTo>
                  <a:lnTo>
                    <a:pt x="0" y="0"/>
                  </a:lnTo>
                  <a:lnTo>
                    <a:pt x="0" y="70104"/>
                  </a:lnTo>
                  <a:lnTo>
                    <a:pt x="122682" y="70104"/>
                  </a:lnTo>
                  <a:lnTo>
                    <a:pt x="143145" y="74236"/>
                  </a:lnTo>
                  <a:lnTo>
                    <a:pt x="159858" y="85505"/>
                  </a:lnTo>
                  <a:lnTo>
                    <a:pt x="171127" y="102218"/>
                  </a:lnTo>
                  <a:lnTo>
                    <a:pt x="175260" y="122682"/>
                  </a:lnTo>
                  <a:lnTo>
                    <a:pt x="175260" y="504444"/>
                  </a:lnTo>
                  <a:lnTo>
                    <a:pt x="140208" y="504444"/>
                  </a:lnTo>
                  <a:lnTo>
                    <a:pt x="210311" y="574548"/>
                  </a:lnTo>
                  <a:lnTo>
                    <a:pt x="280416" y="504444"/>
                  </a:lnTo>
                  <a:lnTo>
                    <a:pt x="245364" y="504444"/>
                  </a:lnTo>
                  <a:lnTo>
                    <a:pt x="245364" y="122682"/>
                  </a:lnTo>
                  <a:lnTo>
                    <a:pt x="235722" y="74929"/>
                  </a:lnTo>
                  <a:lnTo>
                    <a:pt x="209430" y="35933"/>
                  </a:lnTo>
                  <a:lnTo>
                    <a:pt x="170434" y="9641"/>
                  </a:lnTo>
                  <a:lnTo>
                    <a:pt x="122682" y="0"/>
                  </a:lnTo>
                  <a:close/>
                </a:path>
              </a:pathLst>
            </a:custGeom>
            <a:solidFill>
              <a:srgbClr val="2980B8">
                <a:alpha val="85098"/>
              </a:srgbClr>
            </a:solidFill>
          </p:spPr>
          <p:txBody>
            <a:bodyPr wrap="square" lIns="0" tIns="0" rIns="0" bIns="0" rtlCol="0"/>
            <a:lstStyle/>
            <a:p>
              <a:endParaRPr lang="fr-CA"/>
            </a:p>
          </p:txBody>
        </p:sp>
        <p:sp>
          <p:nvSpPr>
            <p:cNvPr id="14" name="object 10">
              <a:extLst>
                <a:ext uri="{FF2B5EF4-FFF2-40B4-BE49-F238E27FC236}">
                  <a16:creationId xmlns:a16="http://schemas.microsoft.com/office/drawing/2014/main" id="{02F18BC5-222B-1ECF-02C5-87B0687E85C3}"/>
                </a:ext>
              </a:extLst>
            </p:cNvPr>
            <p:cNvSpPr/>
            <p:nvPr/>
          </p:nvSpPr>
          <p:spPr>
            <a:xfrm>
              <a:off x="3345561" y="2229996"/>
              <a:ext cx="322580" cy="1743075"/>
            </a:xfrm>
            <a:custGeom>
              <a:avLst/>
              <a:gdLst/>
              <a:ahLst/>
              <a:cxnLst/>
              <a:rect l="l" t="t" r="r" b="b"/>
              <a:pathLst>
                <a:path w="322579" h="1743075">
                  <a:moveTo>
                    <a:pt x="0" y="1743011"/>
                  </a:moveTo>
                  <a:lnTo>
                    <a:pt x="193001" y="1743011"/>
                  </a:lnTo>
                  <a:lnTo>
                    <a:pt x="193001" y="0"/>
                  </a:lnTo>
                  <a:lnTo>
                    <a:pt x="322491" y="0"/>
                  </a:lnTo>
                </a:path>
              </a:pathLst>
            </a:custGeom>
            <a:ln w="38100">
              <a:solidFill>
                <a:srgbClr val="D72E75"/>
              </a:solidFill>
            </a:ln>
          </p:spPr>
          <p:txBody>
            <a:bodyPr wrap="square" lIns="0" tIns="0" rIns="0" bIns="0" rtlCol="0"/>
            <a:lstStyle/>
            <a:p>
              <a:pPr algn="l" rtl="0"/>
              <a:endParaRPr lang="fr-CA"/>
            </a:p>
          </p:txBody>
        </p:sp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94A9A492-FA7C-6984-7581-983F88A69153}"/>
                </a:ext>
              </a:extLst>
            </p:cNvPr>
            <p:cNvSpPr/>
            <p:nvPr/>
          </p:nvSpPr>
          <p:spPr>
            <a:xfrm>
              <a:off x="3655359" y="2191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4969"/>
            </a:solidFill>
          </p:spPr>
          <p:txBody>
            <a:bodyPr wrap="square" lIns="0" tIns="0" rIns="0" bIns="0" rtlCol="0"/>
            <a:lstStyle/>
            <a:p>
              <a:endParaRPr lang="fr-CA"/>
            </a:p>
          </p:txBody>
        </p:sp>
        <p:sp>
          <p:nvSpPr>
            <p:cNvPr id="16" name="object 12">
              <a:extLst>
                <a:ext uri="{FF2B5EF4-FFF2-40B4-BE49-F238E27FC236}">
                  <a16:creationId xmlns:a16="http://schemas.microsoft.com/office/drawing/2014/main" id="{21C0B527-666C-8D39-9E52-B2757CDFFFA2}"/>
                </a:ext>
              </a:extLst>
            </p:cNvPr>
            <p:cNvSpPr/>
            <p:nvPr/>
          </p:nvSpPr>
          <p:spPr>
            <a:xfrm>
              <a:off x="3731513" y="1850138"/>
              <a:ext cx="1228090" cy="758190"/>
            </a:xfrm>
            <a:custGeom>
              <a:avLst/>
              <a:gdLst/>
              <a:ahLst/>
              <a:cxnLst/>
              <a:rect l="l" t="t" r="r" b="b"/>
              <a:pathLst>
                <a:path w="1228089" h="758189">
                  <a:moveTo>
                    <a:pt x="1101217" y="0"/>
                  </a:moveTo>
                  <a:lnTo>
                    <a:pt x="126364" y="0"/>
                  </a:lnTo>
                  <a:lnTo>
                    <a:pt x="77179" y="9930"/>
                  </a:lnTo>
                  <a:lnTo>
                    <a:pt x="37012" y="37012"/>
                  </a:lnTo>
                  <a:lnTo>
                    <a:pt x="9930" y="77179"/>
                  </a:lnTo>
                  <a:lnTo>
                    <a:pt x="0" y="126364"/>
                  </a:lnTo>
                  <a:lnTo>
                    <a:pt x="0" y="631824"/>
                  </a:lnTo>
                  <a:lnTo>
                    <a:pt x="9930" y="681010"/>
                  </a:lnTo>
                  <a:lnTo>
                    <a:pt x="37012" y="721177"/>
                  </a:lnTo>
                  <a:lnTo>
                    <a:pt x="77179" y="748259"/>
                  </a:lnTo>
                  <a:lnTo>
                    <a:pt x="126364" y="758189"/>
                  </a:lnTo>
                  <a:lnTo>
                    <a:pt x="1101217" y="758189"/>
                  </a:lnTo>
                  <a:lnTo>
                    <a:pt x="1150402" y="748259"/>
                  </a:lnTo>
                  <a:lnTo>
                    <a:pt x="1190569" y="721177"/>
                  </a:lnTo>
                  <a:lnTo>
                    <a:pt x="1217651" y="681010"/>
                  </a:lnTo>
                  <a:lnTo>
                    <a:pt x="1227582" y="631824"/>
                  </a:lnTo>
                  <a:lnTo>
                    <a:pt x="1227582" y="126364"/>
                  </a:lnTo>
                  <a:lnTo>
                    <a:pt x="1217651" y="77179"/>
                  </a:lnTo>
                  <a:lnTo>
                    <a:pt x="1190569" y="37012"/>
                  </a:lnTo>
                  <a:lnTo>
                    <a:pt x="1150402" y="9930"/>
                  </a:lnTo>
                  <a:lnTo>
                    <a:pt x="1101217" y="0"/>
                  </a:lnTo>
                  <a:close/>
                </a:path>
              </a:pathLst>
            </a:custGeom>
            <a:solidFill>
              <a:srgbClr val="64B8CD">
                <a:alpha val="85098"/>
              </a:srgbClr>
            </a:solidFill>
          </p:spPr>
          <p:txBody>
            <a:bodyPr wrap="square" lIns="0" tIns="0" rIns="0" bIns="0" rtlCol="0"/>
            <a:lstStyle/>
            <a:p>
              <a:pPr algn="l" rtl="0"/>
              <a:endParaRPr lang="fr-CA"/>
            </a:p>
          </p:txBody>
        </p:sp>
      </p:grpSp>
      <p:sp>
        <p:nvSpPr>
          <p:cNvPr id="17" name="object 13">
            <a:extLst>
              <a:ext uri="{FF2B5EF4-FFF2-40B4-BE49-F238E27FC236}">
                <a16:creationId xmlns:a16="http://schemas.microsoft.com/office/drawing/2014/main" id="{E572FE33-36B8-A65E-180C-2E02E4D9047A}"/>
              </a:ext>
            </a:extLst>
          </p:cNvPr>
          <p:cNvSpPr txBox="1"/>
          <p:nvPr/>
        </p:nvSpPr>
        <p:spPr>
          <a:xfrm>
            <a:off x="4064510" y="2450568"/>
            <a:ext cx="5607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CA" sz="1200" dirty="0">
                <a:solidFill>
                  <a:srgbClr val="FFFFFF"/>
                </a:solidFill>
                <a:latin typeface="Roboto"/>
                <a:cs typeface="Roboto"/>
              </a:rPr>
              <a:t>Analyse</a:t>
            </a:r>
            <a:endParaRPr lang="fr-CA" sz="1200" dirty="0">
              <a:latin typeface="Roboto"/>
              <a:cs typeface="Roboto"/>
            </a:endParaRPr>
          </a:p>
        </p:txBody>
      </p:sp>
      <p:sp>
        <p:nvSpPr>
          <p:cNvPr id="18" name="object 14">
            <a:extLst>
              <a:ext uri="{FF2B5EF4-FFF2-40B4-BE49-F238E27FC236}">
                <a16:creationId xmlns:a16="http://schemas.microsoft.com/office/drawing/2014/main" id="{5696D3B9-B011-DCFD-F717-B4AB80A0E063}"/>
              </a:ext>
            </a:extLst>
          </p:cNvPr>
          <p:cNvSpPr/>
          <p:nvPr/>
        </p:nvSpPr>
        <p:spPr>
          <a:xfrm>
            <a:off x="4344924" y="2497071"/>
            <a:ext cx="1228090" cy="1332230"/>
          </a:xfrm>
          <a:custGeom>
            <a:avLst/>
            <a:gdLst/>
            <a:ahLst/>
            <a:cxnLst/>
            <a:rect l="l" t="t" r="r" b="b"/>
            <a:pathLst>
              <a:path w="1228089" h="1332229">
                <a:moveTo>
                  <a:pt x="894588" y="503682"/>
                </a:moveTo>
                <a:lnTo>
                  <a:pt x="859536" y="503682"/>
                </a:lnTo>
                <a:lnTo>
                  <a:pt x="859536" y="122682"/>
                </a:lnTo>
                <a:lnTo>
                  <a:pt x="849884" y="74930"/>
                </a:lnTo>
                <a:lnTo>
                  <a:pt x="823595" y="35941"/>
                </a:lnTo>
                <a:lnTo>
                  <a:pt x="784606" y="9652"/>
                </a:lnTo>
                <a:lnTo>
                  <a:pt x="736854" y="0"/>
                </a:lnTo>
                <a:lnTo>
                  <a:pt x="614172" y="0"/>
                </a:lnTo>
                <a:lnTo>
                  <a:pt x="614172" y="70104"/>
                </a:lnTo>
                <a:lnTo>
                  <a:pt x="736854" y="70104"/>
                </a:lnTo>
                <a:lnTo>
                  <a:pt x="757313" y="74244"/>
                </a:lnTo>
                <a:lnTo>
                  <a:pt x="774026" y="85509"/>
                </a:lnTo>
                <a:lnTo>
                  <a:pt x="785291" y="102222"/>
                </a:lnTo>
                <a:lnTo>
                  <a:pt x="789432" y="122682"/>
                </a:lnTo>
                <a:lnTo>
                  <a:pt x="789432" y="503682"/>
                </a:lnTo>
                <a:lnTo>
                  <a:pt x="754380" y="503682"/>
                </a:lnTo>
                <a:lnTo>
                  <a:pt x="824484" y="573786"/>
                </a:lnTo>
                <a:lnTo>
                  <a:pt x="894588" y="503682"/>
                </a:lnTo>
                <a:close/>
              </a:path>
              <a:path w="1228089" h="1332229">
                <a:moveTo>
                  <a:pt x="1227582" y="700163"/>
                </a:moveTo>
                <a:lnTo>
                  <a:pt x="1217650" y="650976"/>
                </a:lnTo>
                <a:lnTo>
                  <a:pt x="1190561" y="610806"/>
                </a:lnTo>
                <a:lnTo>
                  <a:pt x="1150391" y="583730"/>
                </a:lnTo>
                <a:lnTo>
                  <a:pt x="1101217" y="573798"/>
                </a:lnTo>
                <a:lnTo>
                  <a:pt x="126365" y="573798"/>
                </a:lnTo>
                <a:lnTo>
                  <a:pt x="77177" y="583730"/>
                </a:lnTo>
                <a:lnTo>
                  <a:pt x="37007" y="610806"/>
                </a:lnTo>
                <a:lnTo>
                  <a:pt x="9918" y="650976"/>
                </a:lnTo>
                <a:lnTo>
                  <a:pt x="0" y="700163"/>
                </a:lnTo>
                <a:lnTo>
                  <a:pt x="0" y="1205623"/>
                </a:lnTo>
                <a:lnTo>
                  <a:pt x="9918" y="1254810"/>
                </a:lnTo>
                <a:lnTo>
                  <a:pt x="37007" y="1294968"/>
                </a:lnTo>
                <a:lnTo>
                  <a:pt x="77177" y="1322057"/>
                </a:lnTo>
                <a:lnTo>
                  <a:pt x="126365" y="1331988"/>
                </a:lnTo>
                <a:lnTo>
                  <a:pt x="1101217" y="1331988"/>
                </a:lnTo>
                <a:lnTo>
                  <a:pt x="1150391" y="1322057"/>
                </a:lnTo>
                <a:lnTo>
                  <a:pt x="1190561" y="1294968"/>
                </a:lnTo>
                <a:lnTo>
                  <a:pt x="1217650" y="1254810"/>
                </a:lnTo>
                <a:lnTo>
                  <a:pt x="1227582" y="1205623"/>
                </a:lnTo>
                <a:lnTo>
                  <a:pt x="1227582" y="700163"/>
                </a:lnTo>
                <a:close/>
              </a:path>
            </a:pathLst>
          </a:custGeom>
          <a:solidFill>
            <a:srgbClr val="A5376A">
              <a:alpha val="85098"/>
            </a:srgbClr>
          </a:solidFill>
        </p:spPr>
        <p:txBody>
          <a:bodyPr wrap="square" lIns="0" tIns="0" rIns="0" bIns="0" rtlCol="0"/>
          <a:lstStyle/>
          <a:p>
            <a:pPr algn="l" rtl="0"/>
            <a:endParaRPr lang="fr-CA"/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4780442A-ECFA-DE79-02DA-066EC10D6E93}"/>
              </a:ext>
            </a:extLst>
          </p:cNvPr>
          <p:cNvSpPr txBox="1"/>
          <p:nvPr/>
        </p:nvSpPr>
        <p:spPr>
          <a:xfrm>
            <a:off x="4559479" y="3338265"/>
            <a:ext cx="79946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CA" sz="1200" dirty="0">
                <a:solidFill>
                  <a:srgbClr val="FFFFFF"/>
                </a:solidFill>
                <a:latin typeface="Roboto"/>
                <a:cs typeface="Roboto"/>
              </a:rPr>
              <a:t>Conception</a:t>
            </a:r>
            <a:endParaRPr lang="fr-CA" sz="1200" dirty="0">
              <a:latin typeface="Roboto"/>
              <a:cs typeface="Roboto"/>
            </a:endParaRPr>
          </a:p>
        </p:txBody>
      </p:sp>
      <p:grpSp>
        <p:nvGrpSpPr>
          <p:cNvPr id="20" name="object 16">
            <a:extLst>
              <a:ext uri="{FF2B5EF4-FFF2-40B4-BE49-F238E27FC236}">
                <a16:creationId xmlns:a16="http://schemas.microsoft.com/office/drawing/2014/main" id="{55F4FFDA-4336-6AF2-B218-AC49AA0E3DB3}"/>
              </a:ext>
            </a:extLst>
          </p:cNvPr>
          <p:cNvGrpSpPr/>
          <p:nvPr/>
        </p:nvGrpSpPr>
        <p:grpSpPr>
          <a:xfrm>
            <a:off x="5572505" y="2183130"/>
            <a:ext cx="2245360" cy="2129790"/>
            <a:chOff x="5572505" y="1850138"/>
            <a:chExt cx="2245360" cy="2129790"/>
          </a:xfrm>
        </p:grpSpPr>
        <p:sp>
          <p:nvSpPr>
            <p:cNvPr id="21" name="object 17">
              <a:extLst>
                <a:ext uri="{FF2B5EF4-FFF2-40B4-BE49-F238E27FC236}">
                  <a16:creationId xmlns:a16="http://schemas.microsoft.com/office/drawing/2014/main" id="{560D7A86-587C-CA26-879E-4462C7D934B2}"/>
                </a:ext>
              </a:extLst>
            </p:cNvPr>
            <p:cNvSpPr/>
            <p:nvPr/>
          </p:nvSpPr>
          <p:spPr>
            <a:xfrm>
              <a:off x="5572505" y="3019044"/>
              <a:ext cx="280670" cy="574675"/>
            </a:xfrm>
            <a:custGeom>
              <a:avLst/>
              <a:gdLst/>
              <a:ahLst/>
              <a:cxnLst/>
              <a:rect l="l" t="t" r="r" b="b"/>
              <a:pathLst>
                <a:path w="280670" h="574675">
                  <a:moveTo>
                    <a:pt x="122682" y="0"/>
                  </a:moveTo>
                  <a:lnTo>
                    <a:pt x="0" y="0"/>
                  </a:lnTo>
                  <a:lnTo>
                    <a:pt x="0" y="70104"/>
                  </a:lnTo>
                  <a:lnTo>
                    <a:pt x="122682" y="70104"/>
                  </a:lnTo>
                  <a:lnTo>
                    <a:pt x="143145" y="74236"/>
                  </a:lnTo>
                  <a:lnTo>
                    <a:pt x="159858" y="85505"/>
                  </a:lnTo>
                  <a:lnTo>
                    <a:pt x="171127" y="102218"/>
                  </a:lnTo>
                  <a:lnTo>
                    <a:pt x="175260" y="122682"/>
                  </a:lnTo>
                  <a:lnTo>
                    <a:pt x="175260" y="504444"/>
                  </a:lnTo>
                  <a:lnTo>
                    <a:pt x="140208" y="504444"/>
                  </a:lnTo>
                  <a:lnTo>
                    <a:pt x="210311" y="574548"/>
                  </a:lnTo>
                  <a:lnTo>
                    <a:pt x="280416" y="504444"/>
                  </a:lnTo>
                  <a:lnTo>
                    <a:pt x="245364" y="504444"/>
                  </a:lnTo>
                  <a:lnTo>
                    <a:pt x="245364" y="122682"/>
                  </a:lnTo>
                  <a:lnTo>
                    <a:pt x="235722" y="74929"/>
                  </a:lnTo>
                  <a:lnTo>
                    <a:pt x="209430" y="35933"/>
                  </a:lnTo>
                  <a:lnTo>
                    <a:pt x="170434" y="9641"/>
                  </a:lnTo>
                  <a:lnTo>
                    <a:pt x="122682" y="0"/>
                  </a:lnTo>
                  <a:close/>
                </a:path>
              </a:pathLst>
            </a:custGeom>
            <a:solidFill>
              <a:srgbClr val="2980B8">
                <a:alpha val="85098"/>
              </a:srgbClr>
            </a:solidFill>
          </p:spPr>
          <p:txBody>
            <a:bodyPr wrap="square" lIns="0" tIns="0" rIns="0" bIns="0" rtlCol="0"/>
            <a:lstStyle/>
            <a:p>
              <a:endParaRPr lang="fr-CA"/>
            </a:p>
          </p:txBody>
        </p:sp>
        <p:sp>
          <p:nvSpPr>
            <p:cNvPr id="22" name="object 18">
              <a:extLst>
                <a:ext uri="{FF2B5EF4-FFF2-40B4-BE49-F238E27FC236}">
                  <a16:creationId xmlns:a16="http://schemas.microsoft.com/office/drawing/2014/main" id="{B1A7EB8A-77FE-6816-44A3-1EAA8293858E}"/>
                </a:ext>
              </a:extLst>
            </p:cNvPr>
            <p:cNvSpPr/>
            <p:nvPr/>
          </p:nvSpPr>
          <p:spPr>
            <a:xfrm>
              <a:off x="6203822" y="2229996"/>
              <a:ext cx="322580" cy="1743075"/>
            </a:xfrm>
            <a:custGeom>
              <a:avLst/>
              <a:gdLst/>
              <a:ahLst/>
              <a:cxnLst/>
              <a:rect l="l" t="t" r="r" b="b"/>
              <a:pathLst>
                <a:path w="322579" h="1743075">
                  <a:moveTo>
                    <a:pt x="0" y="1743011"/>
                  </a:moveTo>
                  <a:lnTo>
                    <a:pt x="193001" y="1743011"/>
                  </a:lnTo>
                  <a:lnTo>
                    <a:pt x="193001" y="0"/>
                  </a:lnTo>
                  <a:lnTo>
                    <a:pt x="322491" y="0"/>
                  </a:lnTo>
                </a:path>
              </a:pathLst>
            </a:custGeom>
            <a:ln w="38100">
              <a:solidFill>
                <a:srgbClr val="D72E75"/>
              </a:solidFill>
            </a:ln>
          </p:spPr>
          <p:txBody>
            <a:bodyPr wrap="square" lIns="0" tIns="0" rIns="0" bIns="0" rtlCol="0"/>
            <a:lstStyle/>
            <a:p>
              <a:pPr algn="l" rtl="0"/>
              <a:endParaRPr lang="fr-CA"/>
            </a:p>
          </p:txBody>
        </p:sp>
        <p:sp>
          <p:nvSpPr>
            <p:cNvPr id="23" name="object 19">
              <a:extLst>
                <a:ext uri="{FF2B5EF4-FFF2-40B4-BE49-F238E27FC236}">
                  <a16:creationId xmlns:a16="http://schemas.microsoft.com/office/drawing/2014/main" id="{E88076BD-1F32-5D85-0997-8160FAAE82AC}"/>
                </a:ext>
              </a:extLst>
            </p:cNvPr>
            <p:cNvSpPr/>
            <p:nvPr/>
          </p:nvSpPr>
          <p:spPr>
            <a:xfrm>
              <a:off x="6513620" y="2191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4969"/>
            </a:solidFill>
          </p:spPr>
          <p:txBody>
            <a:bodyPr wrap="square" lIns="0" tIns="0" rIns="0" bIns="0" rtlCol="0"/>
            <a:lstStyle/>
            <a:p>
              <a:endParaRPr lang="fr-CA"/>
            </a:p>
          </p:txBody>
        </p:sp>
        <p:sp>
          <p:nvSpPr>
            <p:cNvPr id="24" name="object 20">
              <a:extLst>
                <a:ext uri="{FF2B5EF4-FFF2-40B4-BE49-F238E27FC236}">
                  <a16:creationId xmlns:a16="http://schemas.microsoft.com/office/drawing/2014/main" id="{5A9DA921-ED7D-0EC9-AFE5-6C0851F19B8D}"/>
                </a:ext>
              </a:extLst>
            </p:cNvPr>
            <p:cNvSpPr/>
            <p:nvPr/>
          </p:nvSpPr>
          <p:spPr>
            <a:xfrm>
              <a:off x="6589775" y="1850138"/>
              <a:ext cx="1228090" cy="758190"/>
            </a:xfrm>
            <a:custGeom>
              <a:avLst/>
              <a:gdLst/>
              <a:ahLst/>
              <a:cxnLst/>
              <a:rect l="l" t="t" r="r" b="b"/>
              <a:pathLst>
                <a:path w="1228090" h="758189">
                  <a:moveTo>
                    <a:pt x="1101217" y="0"/>
                  </a:moveTo>
                  <a:lnTo>
                    <a:pt x="126364" y="0"/>
                  </a:lnTo>
                  <a:lnTo>
                    <a:pt x="77179" y="9930"/>
                  </a:lnTo>
                  <a:lnTo>
                    <a:pt x="37012" y="37012"/>
                  </a:lnTo>
                  <a:lnTo>
                    <a:pt x="9930" y="77179"/>
                  </a:lnTo>
                  <a:lnTo>
                    <a:pt x="0" y="126364"/>
                  </a:lnTo>
                  <a:lnTo>
                    <a:pt x="0" y="631824"/>
                  </a:lnTo>
                  <a:lnTo>
                    <a:pt x="9930" y="681010"/>
                  </a:lnTo>
                  <a:lnTo>
                    <a:pt x="37012" y="721177"/>
                  </a:lnTo>
                  <a:lnTo>
                    <a:pt x="77179" y="748259"/>
                  </a:lnTo>
                  <a:lnTo>
                    <a:pt x="126364" y="758189"/>
                  </a:lnTo>
                  <a:lnTo>
                    <a:pt x="1101217" y="758189"/>
                  </a:lnTo>
                  <a:lnTo>
                    <a:pt x="1150402" y="748259"/>
                  </a:lnTo>
                  <a:lnTo>
                    <a:pt x="1190569" y="721177"/>
                  </a:lnTo>
                  <a:lnTo>
                    <a:pt x="1217651" y="681010"/>
                  </a:lnTo>
                  <a:lnTo>
                    <a:pt x="1227582" y="631824"/>
                  </a:lnTo>
                  <a:lnTo>
                    <a:pt x="1227582" y="126364"/>
                  </a:lnTo>
                  <a:lnTo>
                    <a:pt x="1217651" y="77179"/>
                  </a:lnTo>
                  <a:lnTo>
                    <a:pt x="1190569" y="37012"/>
                  </a:lnTo>
                  <a:lnTo>
                    <a:pt x="1150402" y="9930"/>
                  </a:lnTo>
                  <a:lnTo>
                    <a:pt x="1101217" y="0"/>
                  </a:lnTo>
                  <a:close/>
                </a:path>
              </a:pathLst>
            </a:custGeom>
            <a:solidFill>
              <a:srgbClr val="64B8CD">
                <a:alpha val="85098"/>
              </a:srgbClr>
            </a:solidFill>
          </p:spPr>
          <p:txBody>
            <a:bodyPr wrap="square" lIns="0" tIns="0" rIns="0" bIns="0" rtlCol="0"/>
            <a:lstStyle/>
            <a:p>
              <a:pPr algn="l" rtl="0"/>
              <a:endParaRPr lang="fr-CA" dirty="0"/>
            </a:p>
          </p:txBody>
        </p:sp>
      </p:grpSp>
      <p:sp>
        <p:nvSpPr>
          <p:cNvPr id="25" name="object 21">
            <a:extLst>
              <a:ext uri="{FF2B5EF4-FFF2-40B4-BE49-F238E27FC236}">
                <a16:creationId xmlns:a16="http://schemas.microsoft.com/office/drawing/2014/main" id="{304B41A1-AF4A-22E5-F566-14C5FF472EC9}"/>
              </a:ext>
            </a:extLst>
          </p:cNvPr>
          <p:cNvSpPr txBox="1"/>
          <p:nvPr/>
        </p:nvSpPr>
        <p:spPr>
          <a:xfrm>
            <a:off x="6922747" y="2450568"/>
            <a:ext cx="5607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CA" sz="1200" dirty="0">
                <a:solidFill>
                  <a:srgbClr val="FFFFFF"/>
                </a:solidFill>
                <a:latin typeface="Roboto"/>
                <a:cs typeface="Roboto"/>
              </a:rPr>
              <a:t>Analyse</a:t>
            </a:r>
            <a:endParaRPr lang="fr-CA" sz="1200" dirty="0">
              <a:latin typeface="Roboto"/>
              <a:cs typeface="Roboto"/>
            </a:endParaRPr>
          </a:p>
        </p:txBody>
      </p:sp>
      <p:sp>
        <p:nvSpPr>
          <p:cNvPr id="26" name="object 22">
            <a:extLst>
              <a:ext uri="{FF2B5EF4-FFF2-40B4-BE49-F238E27FC236}">
                <a16:creationId xmlns:a16="http://schemas.microsoft.com/office/drawing/2014/main" id="{56CF17CD-3E7D-9BB7-30DC-090CE1B7F959}"/>
              </a:ext>
            </a:extLst>
          </p:cNvPr>
          <p:cNvSpPr/>
          <p:nvPr/>
        </p:nvSpPr>
        <p:spPr>
          <a:xfrm>
            <a:off x="7203186" y="2497071"/>
            <a:ext cx="1228090" cy="1332230"/>
          </a:xfrm>
          <a:custGeom>
            <a:avLst/>
            <a:gdLst/>
            <a:ahLst/>
            <a:cxnLst/>
            <a:rect l="l" t="t" r="r" b="b"/>
            <a:pathLst>
              <a:path w="1228090" h="1332229">
                <a:moveTo>
                  <a:pt x="894588" y="503682"/>
                </a:moveTo>
                <a:lnTo>
                  <a:pt x="859536" y="503682"/>
                </a:lnTo>
                <a:lnTo>
                  <a:pt x="859536" y="122682"/>
                </a:lnTo>
                <a:lnTo>
                  <a:pt x="849884" y="74930"/>
                </a:lnTo>
                <a:lnTo>
                  <a:pt x="823595" y="35941"/>
                </a:lnTo>
                <a:lnTo>
                  <a:pt x="784606" y="9652"/>
                </a:lnTo>
                <a:lnTo>
                  <a:pt x="736854" y="0"/>
                </a:lnTo>
                <a:lnTo>
                  <a:pt x="614172" y="0"/>
                </a:lnTo>
                <a:lnTo>
                  <a:pt x="614172" y="70104"/>
                </a:lnTo>
                <a:lnTo>
                  <a:pt x="736854" y="70104"/>
                </a:lnTo>
                <a:lnTo>
                  <a:pt x="757313" y="74244"/>
                </a:lnTo>
                <a:lnTo>
                  <a:pt x="774026" y="85509"/>
                </a:lnTo>
                <a:lnTo>
                  <a:pt x="785291" y="102222"/>
                </a:lnTo>
                <a:lnTo>
                  <a:pt x="789432" y="122682"/>
                </a:lnTo>
                <a:lnTo>
                  <a:pt x="789432" y="503682"/>
                </a:lnTo>
                <a:lnTo>
                  <a:pt x="754380" y="503682"/>
                </a:lnTo>
                <a:lnTo>
                  <a:pt x="824484" y="573786"/>
                </a:lnTo>
                <a:lnTo>
                  <a:pt x="894588" y="503682"/>
                </a:lnTo>
                <a:close/>
              </a:path>
              <a:path w="1228090" h="1332229">
                <a:moveTo>
                  <a:pt x="1227582" y="700163"/>
                </a:moveTo>
                <a:lnTo>
                  <a:pt x="1217650" y="650976"/>
                </a:lnTo>
                <a:lnTo>
                  <a:pt x="1190561" y="610806"/>
                </a:lnTo>
                <a:lnTo>
                  <a:pt x="1150391" y="583730"/>
                </a:lnTo>
                <a:lnTo>
                  <a:pt x="1101217" y="573798"/>
                </a:lnTo>
                <a:lnTo>
                  <a:pt x="126365" y="573798"/>
                </a:lnTo>
                <a:lnTo>
                  <a:pt x="77177" y="583730"/>
                </a:lnTo>
                <a:lnTo>
                  <a:pt x="37007" y="610806"/>
                </a:lnTo>
                <a:lnTo>
                  <a:pt x="9918" y="650976"/>
                </a:lnTo>
                <a:lnTo>
                  <a:pt x="0" y="700163"/>
                </a:lnTo>
                <a:lnTo>
                  <a:pt x="0" y="1205623"/>
                </a:lnTo>
                <a:lnTo>
                  <a:pt x="9918" y="1254810"/>
                </a:lnTo>
                <a:lnTo>
                  <a:pt x="37007" y="1294968"/>
                </a:lnTo>
                <a:lnTo>
                  <a:pt x="77177" y="1322057"/>
                </a:lnTo>
                <a:lnTo>
                  <a:pt x="126365" y="1331988"/>
                </a:lnTo>
                <a:lnTo>
                  <a:pt x="1101217" y="1331988"/>
                </a:lnTo>
                <a:lnTo>
                  <a:pt x="1150391" y="1322057"/>
                </a:lnTo>
                <a:lnTo>
                  <a:pt x="1190561" y="1294968"/>
                </a:lnTo>
                <a:lnTo>
                  <a:pt x="1217650" y="1254810"/>
                </a:lnTo>
                <a:lnTo>
                  <a:pt x="1227582" y="1205623"/>
                </a:lnTo>
                <a:lnTo>
                  <a:pt x="1227582" y="700163"/>
                </a:lnTo>
                <a:close/>
              </a:path>
            </a:pathLst>
          </a:custGeom>
          <a:solidFill>
            <a:srgbClr val="A5376A">
              <a:alpha val="85098"/>
            </a:srgbClr>
          </a:solidFill>
        </p:spPr>
        <p:txBody>
          <a:bodyPr wrap="square" lIns="0" tIns="0" rIns="0" bIns="0" rtlCol="0"/>
          <a:lstStyle/>
          <a:p>
            <a:pPr algn="l" rtl="0"/>
            <a:endParaRPr lang="fr-CA" dirty="0"/>
          </a:p>
        </p:txBody>
      </p:sp>
      <p:sp>
        <p:nvSpPr>
          <p:cNvPr id="27" name="object 23">
            <a:extLst>
              <a:ext uri="{FF2B5EF4-FFF2-40B4-BE49-F238E27FC236}">
                <a16:creationId xmlns:a16="http://schemas.microsoft.com/office/drawing/2014/main" id="{205B2653-E6B6-554C-3A32-B1C3237CC811}"/>
              </a:ext>
            </a:extLst>
          </p:cNvPr>
          <p:cNvSpPr txBox="1"/>
          <p:nvPr/>
        </p:nvSpPr>
        <p:spPr>
          <a:xfrm>
            <a:off x="7417715" y="3338265"/>
            <a:ext cx="79946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CA" sz="1200" dirty="0">
                <a:solidFill>
                  <a:srgbClr val="FFFFFF"/>
                </a:solidFill>
                <a:latin typeface="Roboto"/>
                <a:cs typeface="Roboto"/>
              </a:rPr>
              <a:t>Conception</a:t>
            </a:r>
            <a:endParaRPr lang="fr-CA" sz="1200" dirty="0">
              <a:latin typeface="Roboto"/>
              <a:cs typeface="Roboto"/>
            </a:endParaRPr>
          </a:p>
        </p:txBody>
      </p:sp>
      <p:sp>
        <p:nvSpPr>
          <p:cNvPr id="28" name="object 24">
            <a:extLst>
              <a:ext uri="{FF2B5EF4-FFF2-40B4-BE49-F238E27FC236}">
                <a16:creationId xmlns:a16="http://schemas.microsoft.com/office/drawing/2014/main" id="{7B45B0EF-76EA-8734-5BDA-A01B9575A2DB}"/>
              </a:ext>
            </a:extLst>
          </p:cNvPr>
          <p:cNvSpPr/>
          <p:nvPr/>
        </p:nvSpPr>
        <p:spPr>
          <a:xfrm>
            <a:off x="7817358" y="3352035"/>
            <a:ext cx="1244600" cy="1332230"/>
          </a:xfrm>
          <a:custGeom>
            <a:avLst/>
            <a:gdLst/>
            <a:ahLst/>
            <a:cxnLst/>
            <a:rect l="l" t="t" r="r" b="b"/>
            <a:pathLst>
              <a:path w="1244600" h="1332229">
                <a:moveTo>
                  <a:pt x="893826" y="504444"/>
                </a:moveTo>
                <a:lnTo>
                  <a:pt x="858774" y="504444"/>
                </a:lnTo>
                <a:lnTo>
                  <a:pt x="858774" y="122682"/>
                </a:lnTo>
                <a:lnTo>
                  <a:pt x="849122" y="74930"/>
                </a:lnTo>
                <a:lnTo>
                  <a:pt x="822833" y="35941"/>
                </a:lnTo>
                <a:lnTo>
                  <a:pt x="783844" y="9652"/>
                </a:lnTo>
                <a:lnTo>
                  <a:pt x="736092" y="0"/>
                </a:lnTo>
                <a:lnTo>
                  <a:pt x="613410" y="0"/>
                </a:lnTo>
                <a:lnTo>
                  <a:pt x="613410" y="70104"/>
                </a:lnTo>
                <a:lnTo>
                  <a:pt x="736092" y="70104"/>
                </a:lnTo>
                <a:lnTo>
                  <a:pt x="756551" y="74244"/>
                </a:lnTo>
                <a:lnTo>
                  <a:pt x="773264" y="85509"/>
                </a:lnTo>
                <a:lnTo>
                  <a:pt x="784529" y="102222"/>
                </a:lnTo>
                <a:lnTo>
                  <a:pt x="788670" y="122682"/>
                </a:lnTo>
                <a:lnTo>
                  <a:pt x="788670" y="504444"/>
                </a:lnTo>
                <a:lnTo>
                  <a:pt x="753618" y="504444"/>
                </a:lnTo>
                <a:lnTo>
                  <a:pt x="823722" y="574548"/>
                </a:lnTo>
                <a:lnTo>
                  <a:pt x="893826" y="504444"/>
                </a:lnTo>
                <a:close/>
              </a:path>
              <a:path w="1244600" h="1332229">
                <a:moveTo>
                  <a:pt x="1244346" y="700798"/>
                </a:moveTo>
                <a:lnTo>
                  <a:pt x="1234414" y="651649"/>
                </a:lnTo>
                <a:lnTo>
                  <a:pt x="1207363" y="611530"/>
                </a:lnTo>
                <a:lnTo>
                  <a:pt x="1167244" y="584479"/>
                </a:lnTo>
                <a:lnTo>
                  <a:pt x="1118108" y="574560"/>
                </a:lnTo>
                <a:lnTo>
                  <a:pt x="126238" y="574560"/>
                </a:lnTo>
                <a:lnTo>
                  <a:pt x="77089" y="584479"/>
                </a:lnTo>
                <a:lnTo>
                  <a:pt x="36969" y="611530"/>
                </a:lnTo>
                <a:lnTo>
                  <a:pt x="9918" y="651649"/>
                </a:lnTo>
                <a:lnTo>
                  <a:pt x="0" y="700798"/>
                </a:lnTo>
                <a:lnTo>
                  <a:pt x="0" y="1205750"/>
                </a:lnTo>
                <a:lnTo>
                  <a:pt x="9918" y="1254874"/>
                </a:lnTo>
                <a:lnTo>
                  <a:pt x="36969" y="1295006"/>
                </a:lnTo>
                <a:lnTo>
                  <a:pt x="77089" y="1322057"/>
                </a:lnTo>
                <a:lnTo>
                  <a:pt x="126238" y="1331988"/>
                </a:lnTo>
                <a:lnTo>
                  <a:pt x="1118108" y="1331988"/>
                </a:lnTo>
                <a:lnTo>
                  <a:pt x="1167244" y="1322057"/>
                </a:lnTo>
                <a:lnTo>
                  <a:pt x="1207363" y="1295006"/>
                </a:lnTo>
                <a:lnTo>
                  <a:pt x="1234414" y="1254874"/>
                </a:lnTo>
                <a:lnTo>
                  <a:pt x="1244346" y="1205750"/>
                </a:lnTo>
                <a:lnTo>
                  <a:pt x="1244346" y="700798"/>
                </a:lnTo>
                <a:close/>
              </a:path>
            </a:pathLst>
          </a:custGeom>
          <a:solidFill>
            <a:srgbClr val="267367">
              <a:alpha val="85098"/>
            </a:srgbClr>
          </a:solidFill>
        </p:spPr>
        <p:txBody>
          <a:bodyPr wrap="square" lIns="0" tIns="0" rIns="0" bIns="0" rtlCol="0"/>
          <a:lstStyle/>
          <a:p>
            <a:pPr algn="l" rtl="0"/>
            <a:endParaRPr lang="fr-CA"/>
          </a:p>
        </p:txBody>
      </p:sp>
      <p:sp>
        <p:nvSpPr>
          <p:cNvPr id="29" name="object 25">
            <a:extLst>
              <a:ext uri="{FF2B5EF4-FFF2-40B4-BE49-F238E27FC236}">
                <a16:creationId xmlns:a16="http://schemas.microsoft.com/office/drawing/2014/main" id="{745FF04F-FF4B-7D56-2E6D-C2CED6296111}"/>
              </a:ext>
            </a:extLst>
          </p:cNvPr>
          <p:cNvSpPr txBox="1"/>
          <p:nvPr/>
        </p:nvSpPr>
        <p:spPr>
          <a:xfrm>
            <a:off x="7968777" y="4102141"/>
            <a:ext cx="1087335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209" algn="ctr">
              <a:lnSpc>
                <a:spcPct val="100000"/>
              </a:lnSpc>
              <a:spcBef>
                <a:spcPts val="100"/>
              </a:spcBef>
            </a:pPr>
            <a:r>
              <a:rPr lang="fr-CA" sz="1200" dirty="0">
                <a:solidFill>
                  <a:srgbClr val="FFFFFF"/>
                </a:solidFill>
                <a:latin typeface="Roboto"/>
                <a:cs typeface="Roboto"/>
              </a:rPr>
              <a:t>Déploiement</a:t>
            </a:r>
          </a:p>
          <a:p>
            <a:pPr marL="12700" marR="5080" indent="29209" algn="ctr">
              <a:lnSpc>
                <a:spcPct val="100000"/>
              </a:lnSpc>
              <a:spcBef>
                <a:spcPts val="100"/>
              </a:spcBef>
            </a:pPr>
            <a:r>
              <a:rPr lang="fr-CA" sz="1200" dirty="0">
                <a:solidFill>
                  <a:srgbClr val="FFFFFF"/>
                </a:solidFill>
                <a:latin typeface="Roboto"/>
                <a:cs typeface="Roboto"/>
              </a:rPr>
              <a:t>(incrément 3)</a:t>
            </a:r>
            <a:endParaRPr lang="fr-CA" sz="1200" dirty="0">
              <a:latin typeface="Roboto"/>
              <a:cs typeface="Roboto"/>
            </a:endParaRPr>
          </a:p>
        </p:txBody>
      </p:sp>
      <p:grpSp>
        <p:nvGrpSpPr>
          <p:cNvPr id="30" name="object 26">
            <a:extLst>
              <a:ext uri="{FF2B5EF4-FFF2-40B4-BE49-F238E27FC236}">
                <a16:creationId xmlns:a16="http://schemas.microsoft.com/office/drawing/2014/main" id="{61A4481A-FE98-2AA5-44BC-C5222DADB361}"/>
              </a:ext>
            </a:extLst>
          </p:cNvPr>
          <p:cNvGrpSpPr/>
          <p:nvPr/>
        </p:nvGrpSpPr>
        <p:grpSpPr>
          <a:xfrm>
            <a:off x="7417715" y="4681726"/>
            <a:ext cx="2207357" cy="1386207"/>
            <a:chOff x="7417715" y="4348734"/>
            <a:chExt cx="2207357" cy="1386207"/>
          </a:xfrm>
        </p:grpSpPr>
        <p:sp>
          <p:nvSpPr>
            <p:cNvPr id="31" name="object 27">
              <a:extLst>
                <a:ext uri="{FF2B5EF4-FFF2-40B4-BE49-F238E27FC236}">
                  <a16:creationId xmlns:a16="http://schemas.microsoft.com/office/drawing/2014/main" id="{9F1F1253-44DE-F50B-1F36-A8A6A4E899A2}"/>
                </a:ext>
              </a:extLst>
            </p:cNvPr>
            <p:cNvSpPr/>
            <p:nvPr/>
          </p:nvSpPr>
          <p:spPr>
            <a:xfrm>
              <a:off x="8322563" y="4348734"/>
              <a:ext cx="217170" cy="631190"/>
            </a:xfrm>
            <a:custGeom>
              <a:avLst/>
              <a:gdLst/>
              <a:ahLst/>
              <a:cxnLst/>
              <a:rect l="l" t="t" r="r" b="b"/>
              <a:pathLst>
                <a:path w="217170" h="631189">
                  <a:moveTo>
                    <a:pt x="162877" y="0"/>
                  </a:moveTo>
                  <a:lnTo>
                    <a:pt x="54292" y="0"/>
                  </a:lnTo>
                  <a:lnTo>
                    <a:pt x="54292" y="522351"/>
                  </a:lnTo>
                  <a:lnTo>
                    <a:pt x="0" y="522351"/>
                  </a:lnTo>
                  <a:lnTo>
                    <a:pt x="108585" y="630936"/>
                  </a:lnTo>
                  <a:lnTo>
                    <a:pt x="217170" y="522351"/>
                  </a:lnTo>
                  <a:lnTo>
                    <a:pt x="162877" y="522351"/>
                  </a:lnTo>
                  <a:lnTo>
                    <a:pt x="162877" y="0"/>
                  </a:lnTo>
                  <a:close/>
                </a:path>
              </a:pathLst>
            </a:custGeom>
            <a:solidFill>
              <a:srgbClr val="4391C2"/>
            </a:solidFill>
          </p:spPr>
          <p:txBody>
            <a:bodyPr wrap="square" lIns="0" tIns="0" rIns="0" bIns="0" rtlCol="0"/>
            <a:lstStyle/>
            <a:p>
              <a:endParaRPr lang="fr-CA"/>
            </a:p>
          </p:txBody>
        </p:sp>
        <p:sp>
          <p:nvSpPr>
            <p:cNvPr id="32" name="object 28">
              <a:extLst>
                <a:ext uri="{FF2B5EF4-FFF2-40B4-BE49-F238E27FC236}">
                  <a16:creationId xmlns:a16="http://schemas.microsoft.com/office/drawing/2014/main" id="{87C20FD2-474E-A5A4-38A2-7B2A716AACAB}"/>
                </a:ext>
              </a:extLst>
            </p:cNvPr>
            <p:cNvSpPr/>
            <p:nvPr/>
          </p:nvSpPr>
          <p:spPr>
            <a:xfrm>
              <a:off x="7417715" y="4977386"/>
              <a:ext cx="2207357" cy="757555"/>
            </a:xfrm>
            <a:custGeom>
              <a:avLst/>
              <a:gdLst/>
              <a:ahLst/>
              <a:cxnLst/>
              <a:rect l="l" t="t" r="r" b="b"/>
              <a:pathLst>
                <a:path w="1245234" h="757554">
                  <a:moveTo>
                    <a:pt x="1118870" y="0"/>
                  </a:moveTo>
                  <a:lnTo>
                    <a:pt x="126238" y="0"/>
                  </a:lnTo>
                  <a:lnTo>
                    <a:pt x="77098" y="9919"/>
                  </a:lnTo>
                  <a:lnTo>
                    <a:pt x="36972" y="36972"/>
                  </a:lnTo>
                  <a:lnTo>
                    <a:pt x="9919" y="77098"/>
                  </a:lnTo>
                  <a:lnTo>
                    <a:pt x="0" y="126237"/>
                  </a:lnTo>
                  <a:lnTo>
                    <a:pt x="0" y="631189"/>
                  </a:lnTo>
                  <a:lnTo>
                    <a:pt x="9919" y="680323"/>
                  </a:lnTo>
                  <a:lnTo>
                    <a:pt x="36972" y="720450"/>
                  </a:lnTo>
                  <a:lnTo>
                    <a:pt x="77098" y="747506"/>
                  </a:lnTo>
                  <a:lnTo>
                    <a:pt x="126238" y="757427"/>
                  </a:lnTo>
                  <a:lnTo>
                    <a:pt x="1118870" y="757427"/>
                  </a:lnTo>
                  <a:lnTo>
                    <a:pt x="1168009" y="747506"/>
                  </a:lnTo>
                  <a:lnTo>
                    <a:pt x="1208135" y="720450"/>
                  </a:lnTo>
                  <a:lnTo>
                    <a:pt x="1235188" y="680323"/>
                  </a:lnTo>
                  <a:lnTo>
                    <a:pt x="1245108" y="631189"/>
                  </a:lnTo>
                  <a:lnTo>
                    <a:pt x="1245108" y="126237"/>
                  </a:lnTo>
                  <a:lnTo>
                    <a:pt x="1235188" y="77098"/>
                  </a:lnTo>
                  <a:lnTo>
                    <a:pt x="1208135" y="36972"/>
                  </a:lnTo>
                  <a:lnTo>
                    <a:pt x="1168009" y="9919"/>
                  </a:lnTo>
                  <a:lnTo>
                    <a:pt x="1118870" y="0"/>
                  </a:lnTo>
                  <a:close/>
                </a:path>
              </a:pathLst>
            </a:custGeom>
            <a:solidFill>
              <a:srgbClr val="2980B8">
                <a:alpha val="85098"/>
              </a:srgbClr>
            </a:solidFill>
          </p:spPr>
          <p:txBody>
            <a:bodyPr wrap="square" lIns="0" tIns="0" rIns="0" bIns="0" rtlCol="0"/>
            <a:lstStyle/>
            <a:p>
              <a:pPr algn="l" rtl="0"/>
              <a:endParaRPr lang="fr-CA"/>
            </a:p>
          </p:txBody>
        </p:sp>
      </p:grpSp>
      <p:sp>
        <p:nvSpPr>
          <p:cNvPr id="33" name="object 29">
            <a:extLst>
              <a:ext uri="{FF2B5EF4-FFF2-40B4-BE49-F238E27FC236}">
                <a16:creationId xmlns:a16="http://schemas.microsoft.com/office/drawing/2014/main" id="{07A8607E-B363-D40F-65CB-0863B16A4834}"/>
              </a:ext>
            </a:extLst>
          </p:cNvPr>
          <p:cNvSpPr txBox="1"/>
          <p:nvPr/>
        </p:nvSpPr>
        <p:spPr>
          <a:xfrm>
            <a:off x="7570809" y="5423668"/>
            <a:ext cx="197168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fr-CA" sz="1200" dirty="0">
                <a:solidFill>
                  <a:srgbClr val="FFFFFF"/>
                </a:solidFill>
                <a:latin typeface="Roboto"/>
                <a:cs typeface="Roboto"/>
              </a:rPr>
              <a:t>Exemple : </a:t>
            </a:r>
            <a:r>
              <a:rPr lang="en-US" sz="1200" dirty="0">
                <a:solidFill>
                  <a:schemeClr val="bg1"/>
                </a:solidFill>
              </a:rPr>
              <a:t>Le </a:t>
            </a:r>
            <a:r>
              <a:rPr lang="en-US" sz="1200" dirty="0" err="1">
                <a:solidFill>
                  <a:schemeClr val="bg1"/>
                </a:solidFill>
              </a:rPr>
              <a:t>suivi</a:t>
            </a:r>
            <a:r>
              <a:rPr lang="en-US" sz="1200" dirty="0">
                <a:solidFill>
                  <a:schemeClr val="bg1"/>
                </a:solidFill>
              </a:rPr>
              <a:t> des </a:t>
            </a:r>
            <a:r>
              <a:rPr lang="en-US" sz="1200" dirty="0" err="1">
                <a:solidFill>
                  <a:schemeClr val="bg1"/>
                </a:solidFill>
              </a:rPr>
              <a:t>emprunts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est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introduit</a:t>
            </a:r>
            <a:r>
              <a:rPr lang="en-US" sz="1200" dirty="0">
                <a:solidFill>
                  <a:schemeClr val="bg1"/>
                </a:solidFill>
              </a:rPr>
              <a:t> avec des dates de début et de fin.</a:t>
            </a:r>
            <a:endParaRPr lang="fr-CA" sz="1200" dirty="0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34" name="object 30">
            <a:extLst>
              <a:ext uri="{FF2B5EF4-FFF2-40B4-BE49-F238E27FC236}">
                <a16:creationId xmlns:a16="http://schemas.microsoft.com/office/drawing/2014/main" id="{69F0F009-C0BF-AEC4-A4D4-3569AFEAB113}"/>
              </a:ext>
            </a:extLst>
          </p:cNvPr>
          <p:cNvSpPr/>
          <p:nvPr/>
        </p:nvSpPr>
        <p:spPr>
          <a:xfrm>
            <a:off x="2100833" y="3926586"/>
            <a:ext cx="1244600" cy="757555"/>
          </a:xfrm>
          <a:custGeom>
            <a:avLst/>
            <a:gdLst/>
            <a:ahLst/>
            <a:cxnLst/>
            <a:rect l="l" t="t" r="r" b="b"/>
            <a:pathLst>
              <a:path w="1244600" h="757554">
                <a:moveTo>
                  <a:pt x="1118108" y="0"/>
                </a:moveTo>
                <a:lnTo>
                  <a:pt x="126238" y="0"/>
                </a:lnTo>
                <a:lnTo>
                  <a:pt x="77098" y="9919"/>
                </a:lnTo>
                <a:lnTo>
                  <a:pt x="36972" y="36972"/>
                </a:lnTo>
                <a:lnTo>
                  <a:pt x="9919" y="77098"/>
                </a:lnTo>
                <a:lnTo>
                  <a:pt x="0" y="126238"/>
                </a:lnTo>
                <a:lnTo>
                  <a:pt x="0" y="631190"/>
                </a:lnTo>
                <a:lnTo>
                  <a:pt x="9919" y="680323"/>
                </a:lnTo>
                <a:lnTo>
                  <a:pt x="36972" y="720450"/>
                </a:lnTo>
                <a:lnTo>
                  <a:pt x="77098" y="747506"/>
                </a:lnTo>
                <a:lnTo>
                  <a:pt x="126238" y="757428"/>
                </a:lnTo>
                <a:lnTo>
                  <a:pt x="1118108" y="757428"/>
                </a:lnTo>
                <a:lnTo>
                  <a:pt x="1167247" y="747506"/>
                </a:lnTo>
                <a:lnTo>
                  <a:pt x="1207373" y="720450"/>
                </a:lnTo>
                <a:lnTo>
                  <a:pt x="1234426" y="680323"/>
                </a:lnTo>
                <a:lnTo>
                  <a:pt x="1244346" y="631190"/>
                </a:lnTo>
                <a:lnTo>
                  <a:pt x="1244346" y="126238"/>
                </a:lnTo>
                <a:lnTo>
                  <a:pt x="1234426" y="77098"/>
                </a:lnTo>
                <a:lnTo>
                  <a:pt x="1207373" y="36972"/>
                </a:lnTo>
                <a:lnTo>
                  <a:pt x="1167247" y="9919"/>
                </a:lnTo>
                <a:lnTo>
                  <a:pt x="1118108" y="0"/>
                </a:lnTo>
                <a:close/>
              </a:path>
            </a:pathLst>
          </a:custGeom>
          <a:solidFill>
            <a:srgbClr val="267367"/>
          </a:solidFill>
        </p:spPr>
        <p:txBody>
          <a:bodyPr wrap="square" lIns="0" tIns="0" rIns="0" bIns="0" rtlCol="0"/>
          <a:lstStyle/>
          <a:p>
            <a:pPr algn="l" rtl="0"/>
            <a:endParaRPr lang="fr-CA"/>
          </a:p>
        </p:txBody>
      </p:sp>
      <p:sp>
        <p:nvSpPr>
          <p:cNvPr id="35" name="object 31">
            <a:extLst>
              <a:ext uri="{FF2B5EF4-FFF2-40B4-BE49-F238E27FC236}">
                <a16:creationId xmlns:a16="http://schemas.microsoft.com/office/drawing/2014/main" id="{35F250C6-594C-C801-7206-BD0EC6A6FE49}"/>
              </a:ext>
            </a:extLst>
          </p:cNvPr>
          <p:cNvSpPr txBox="1"/>
          <p:nvPr/>
        </p:nvSpPr>
        <p:spPr>
          <a:xfrm>
            <a:off x="2209800" y="4102141"/>
            <a:ext cx="109313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209" algn="ctr">
              <a:lnSpc>
                <a:spcPct val="100000"/>
              </a:lnSpc>
              <a:spcBef>
                <a:spcPts val="100"/>
              </a:spcBef>
            </a:pPr>
            <a:r>
              <a:rPr lang="fr-CA" sz="1200" dirty="0">
                <a:solidFill>
                  <a:srgbClr val="FFFFFF"/>
                </a:solidFill>
                <a:latin typeface="Roboto"/>
                <a:cs typeface="Roboto"/>
              </a:rPr>
              <a:t>Déploiement</a:t>
            </a:r>
          </a:p>
          <a:p>
            <a:pPr marL="12700" marR="5080" indent="29209" algn="ctr">
              <a:lnSpc>
                <a:spcPct val="100000"/>
              </a:lnSpc>
              <a:spcBef>
                <a:spcPts val="100"/>
              </a:spcBef>
            </a:pPr>
            <a:r>
              <a:rPr lang="fr-CA" sz="1200" dirty="0">
                <a:solidFill>
                  <a:srgbClr val="FFFFFF"/>
                </a:solidFill>
                <a:latin typeface="Roboto"/>
                <a:cs typeface="Roboto"/>
              </a:rPr>
              <a:t>(incrément 1)</a:t>
            </a:r>
            <a:endParaRPr lang="fr-CA" sz="1200" dirty="0">
              <a:latin typeface="Roboto"/>
              <a:cs typeface="Roboto"/>
            </a:endParaRPr>
          </a:p>
        </p:txBody>
      </p:sp>
      <p:grpSp>
        <p:nvGrpSpPr>
          <p:cNvPr id="36" name="object 32">
            <a:extLst>
              <a:ext uri="{FF2B5EF4-FFF2-40B4-BE49-F238E27FC236}">
                <a16:creationId xmlns:a16="http://schemas.microsoft.com/office/drawing/2014/main" id="{255579AB-FDAB-9508-A87D-FD890DB9F005}"/>
              </a:ext>
            </a:extLst>
          </p:cNvPr>
          <p:cNvGrpSpPr/>
          <p:nvPr/>
        </p:nvGrpSpPr>
        <p:grpSpPr>
          <a:xfrm>
            <a:off x="1331594" y="4652007"/>
            <a:ext cx="2732916" cy="1402972"/>
            <a:chOff x="1331594" y="4319015"/>
            <a:chExt cx="2732916" cy="1402972"/>
          </a:xfrm>
        </p:grpSpPr>
        <p:sp>
          <p:nvSpPr>
            <p:cNvPr id="37" name="object 33">
              <a:extLst>
                <a:ext uri="{FF2B5EF4-FFF2-40B4-BE49-F238E27FC236}">
                  <a16:creationId xmlns:a16="http://schemas.microsoft.com/office/drawing/2014/main" id="{B598BA3F-ABE6-7666-C129-FAE1CED4388C}"/>
                </a:ext>
              </a:extLst>
            </p:cNvPr>
            <p:cNvSpPr/>
            <p:nvPr/>
          </p:nvSpPr>
          <p:spPr>
            <a:xfrm>
              <a:off x="2605277" y="4319015"/>
              <a:ext cx="217170" cy="631190"/>
            </a:xfrm>
            <a:custGeom>
              <a:avLst/>
              <a:gdLst/>
              <a:ahLst/>
              <a:cxnLst/>
              <a:rect l="l" t="t" r="r" b="b"/>
              <a:pathLst>
                <a:path w="217169" h="631189">
                  <a:moveTo>
                    <a:pt x="162877" y="0"/>
                  </a:moveTo>
                  <a:lnTo>
                    <a:pt x="54292" y="0"/>
                  </a:lnTo>
                  <a:lnTo>
                    <a:pt x="54292" y="522350"/>
                  </a:lnTo>
                  <a:lnTo>
                    <a:pt x="0" y="522350"/>
                  </a:lnTo>
                  <a:lnTo>
                    <a:pt x="108584" y="630935"/>
                  </a:lnTo>
                  <a:lnTo>
                    <a:pt x="217169" y="522350"/>
                  </a:lnTo>
                  <a:lnTo>
                    <a:pt x="162877" y="522350"/>
                  </a:lnTo>
                  <a:lnTo>
                    <a:pt x="162877" y="0"/>
                  </a:lnTo>
                  <a:close/>
                </a:path>
              </a:pathLst>
            </a:custGeom>
            <a:solidFill>
              <a:srgbClr val="4391C2"/>
            </a:solidFill>
          </p:spPr>
          <p:txBody>
            <a:bodyPr wrap="square" lIns="0" tIns="0" rIns="0" bIns="0" rtlCol="0"/>
            <a:lstStyle/>
            <a:p>
              <a:endParaRPr lang="fr-CA"/>
            </a:p>
          </p:txBody>
        </p:sp>
        <p:sp>
          <p:nvSpPr>
            <p:cNvPr id="38" name="object 34">
              <a:extLst>
                <a:ext uri="{FF2B5EF4-FFF2-40B4-BE49-F238E27FC236}">
                  <a16:creationId xmlns:a16="http://schemas.microsoft.com/office/drawing/2014/main" id="{1A46BDE0-C2A5-2622-D1DD-C52E69619EAE}"/>
                </a:ext>
              </a:extLst>
            </p:cNvPr>
            <p:cNvSpPr/>
            <p:nvPr/>
          </p:nvSpPr>
          <p:spPr>
            <a:xfrm>
              <a:off x="1331594" y="4964432"/>
              <a:ext cx="2732916" cy="757555"/>
            </a:xfrm>
            <a:custGeom>
              <a:avLst/>
              <a:gdLst/>
              <a:ahLst/>
              <a:cxnLst/>
              <a:rect l="l" t="t" r="r" b="b"/>
              <a:pathLst>
                <a:path w="1244600" h="757554">
                  <a:moveTo>
                    <a:pt x="1118108" y="0"/>
                  </a:moveTo>
                  <a:lnTo>
                    <a:pt x="126238" y="0"/>
                  </a:lnTo>
                  <a:lnTo>
                    <a:pt x="77098" y="9919"/>
                  </a:lnTo>
                  <a:lnTo>
                    <a:pt x="36972" y="36972"/>
                  </a:lnTo>
                  <a:lnTo>
                    <a:pt x="9919" y="77098"/>
                  </a:lnTo>
                  <a:lnTo>
                    <a:pt x="0" y="126237"/>
                  </a:lnTo>
                  <a:lnTo>
                    <a:pt x="0" y="631189"/>
                  </a:lnTo>
                  <a:lnTo>
                    <a:pt x="9919" y="680323"/>
                  </a:lnTo>
                  <a:lnTo>
                    <a:pt x="36972" y="720450"/>
                  </a:lnTo>
                  <a:lnTo>
                    <a:pt x="77098" y="747506"/>
                  </a:lnTo>
                  <a:lnTo>
                    <a:pt x="126238" y="757427"/>
                  </a:lnTo>
                  <a:lnTo>
                    <a:pt x="1118108" y="757427"/>
                  </a:lnTo>
                  <a:lnTo>
                    <a:pt x="1167247" y="747506"/>
                  </a:lnTo>
                  <a:lnTo>
                    <a:pt x="1207373" y="720450"/>
                  </a:lnTo>
                  <a:lnTo>
                    <a:pt x="1234426" y="680323"/>
                  </a:lnTo>
                  <a:lnTo>
                    <a:pt x="1244346" y="631189"/>
                  </a:lnTo>
                  <a:lnTo>
                    <a:pt x="1244346" y="126237"/>
                  </a:lnTo>
                  <a:lnTo>
                    <a:pt x="1234426" y="77098"/>
                  </a:lnTo>
                  <a:lnTo>
                    <a:pt x="1207373" y="36972"/>
                  </a:lnTo>
                  <a:lnTo>
                    <a:pt x="1167247" y="9919"/>
                  </a:lnTo>
                  <a:lnTo>
                    <a:pt x="1118108" y="0"/>
                  </a:lnTo>
                  <a:close/>
                </a:path>
              </a:pathLst>
            </a:custGeom>
            <a:solidFill>
              <a:srgbClr val="2980B8">
                <a:alpha val="85098"/>
              </a:srgbClr>
            </a:solidFill>
          </p:spPr>
          <p:txBody>
            <a:bodyPr wrap="square" lIns="0" tIns="0" rIns="0" bIns="0" rtlCol="0"/>
            <a:lstStyle/>
            <a:p>
              <a:pPr algn="l" rtl="0"/>
              <a:endParaRPr lang="fr-CA"/>
            </a:p>
          </p:txBody>
        </p:sp>
      </p:grpSp>
      <p:sp>
        <p:nvSpPr>
          <p:cNvPr id="39" name="object 35">
            <a:extLst>
              <a:ext uri="{FF2B5EF4-FFF2-40B4-BE49-F238E27FC236}">
                <a16:creationId xmlns:a16="http://schemas.microsoft.com/office/drawing/2014/main" id="{34644149-38CB-3CC2-1AF9-5398942C0C25}"/>
              </a:ext>
            </a:extLst>
          </p:cNvPr>
          <p:cNvSpPr txBox="1"/>
          <p:nvPr/>
        </p:nvSpPr>
        <p:spPr>
          <a:xfrm>
            <a:off x="1486662" y="5381486"/>
            <a:ext cx="25427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fr-CA" sz="1200" dirty="0">
                <a:solidFill>
                  <a:schemeClr val="bg1"/>
                </a:solidFill>
                <a:latin typeface="Roboto"/>
                <a:cs typeface="Roboto"/>
              </a:rPr>
              <a:t>Exemple : </a:t>
            </a:r>
            <a:r>
              <a:rPr lang="en-US" sz="1200" dirty="0">
                <a:solidFill>
                  <a:schemeClr val="bg1"/>
                </a:solidFill>
              </a:rPr>
              <a:t>La gestion des livres </a:t>
            </a:r>
            <a:r>
              <a:rPr lang="en-US" sz="1200" dirty="0" err="1">
                <a:solidFill>
                  <a:schemeClr val="bg1"/>
                </a:solidFill>
              </a:rPr>
              <a:t>est</a:t>
            </a:r>
            <a:r>
              <a:rPr lang="en-US" sz="1200" dirty="0">
                <a:solidFill>
                  <a:schemeClr val="bg1"/>
                </a:solidFill>
              </a:rPr>
              <a:t> mise </a:t>
            </a:r>
            <a:r>
              <a:rPr lang="en-US" sz="1200" dirty="0" err="1">
                <a:solidFill>
                  <a:schemeClr val="bg1"/>
                </a:solidFill>
              </a:rPr>
              <a:t>en</a:t>
            </a:r>
            <a:r>
              <a:rPr lang="en-US" sz="1200" dirty="0">
                <a:solidFill>
                  <a:schemeClr val="bg1"/>
                </a:solidFill>
              </a:rPr>
              <a:t> place avec la </a:t>
            </a:r>
            <a:r>
              <a:rPr lang="en-US" sz="1200" dirty="0" err="1">
                <a:solidFill>
                  <a:schemeClr val="bg1"/>
                </a:solidFill>
              </a:rPr>
              <a:t>possibilité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d'ajouter</a:t>
            </a:r>
            <a:r>
              <a:rPr lang="en-US" sz="1200" dirty="0">
                <a:solidFill>
                  <a:schemeClr val="bg1"/>
                </a:solidFill>
              </a:rPr>
              <a:t> et </a:t>
            </a:r>
            <a:r>
              <a:rPr lang="en-US" sz="1200" dirty="0" err="1">
                <a:solidFill>
                  <a:schemeClr val="bg1"/>
                </a:solidFill>
              </a:rPr>
              <a:t>d'afficher</a:t>
            </a:r>
            <a:r>
              <a:rPr lang="en-US" sz="1200" dirty="0">
                <a:solidFill>
                  <a:schemeClr val="bg1"/>
                </a:solidFill>
              </a:rPr>
              <a:t> les livres.</a:t>
            </a:r>
            <a:endParaRPr lang="fr-CA" sz="1200" dirty="0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40" name="object 36">
            <a:extLst>
              <a:ext uri="{FF2B5EF4-FFF2-40B4-BE49-F238E27FC236}">
                <a16:creationId xmlns:a16="http://schemas.microsoft.com/office/drawing/2014/main" id="{EFE3C83B-0697-666F-AB19-4610625742BC}"/>
              </a:ext>
            </a:extLst>
          </p:cNvPr>
          <p:cNvSpPr/>
          <p:nvPr/>
        </p:nvSpPr>
        <p:spPr>
          <a:xfrm>
            <a:off x="4959096" y="3926586"/>
            <a:ext cx="1244600" cy="757555"/>
          </a:xfrm>
          <a:custGeom>
            <a:avLst/>
            <a:gdLst/>
            <a:ahLst/>
            <a:cxnLst/>
            <a:rect l="l" t="t" r="r" b="b"/>
            <a:pathLst>
              <a:path w="1244600" h="757554">
                <a:moveTo>
                  <a:pt x="1118108" y="0"/>
                </a:moveTo>
                <a:lnTo>
                  <a:pt x="126238" y="0"/>
                </a:lnTo>
                <a:lnTo>
                  <a:pt x="77098" y="9919"/>
                </a:lnTo>
                <a:lnTo>
                  <a:pt x="36972" y="36972"/>
                </a:lnTo>
                <a:lnTo>
                  <a:pt x="9919" y="77098"/>
                </a:lnTo>
                <a:lnTo>
                  <a:pt x="0" y="126238"/>
                </a:lnTo>
                <a:lnTo>
                  <a:pt x="0" y="631190"/>
                </a:lnTo>
                <a:lnTo>
                  <a:pt x="9919" y="680323"/>
                </a:lnTo>
                <a:lnTo>
                  <a:pt x="36972" y="720450"/>
                </a:lnTo>
                <a:lnTo>
                  <a:pt x="77098" y="747506"/>
                </a:lnTo>
                <a:lnTo>
                  <a:pt x="126238" y="757428"/>
                </a:lnTo>
                <a:lnTo>
                  <a:pt x="1118108" y="757428"/>
                </a:lnTo>
                <a:lnTo>
                  <a:pt x="1167247" y="747506"/>
                </a:lnTo>
                <a:lnTo>
                  <a:pt x="1207373" y="720450"/>
                </a:lnTo>
                <a:lnTo>
                  <a:pt x="1234426" y="680323"/>
                </a:lnTo>
                <a:lnTo>
                  <a:pt x="1244346" y="631190"/>
                </a:lnTo>
                <a:lnTo>
                  <a:pt x="1244346" y="126238"/>
                </a:lnTo>
                <a:lnTo>
                  <a:pt x="1234426" y="77098"/>
                </a:lnTo>
                <a:lnTo>
                  <a:pt x="1207373" y="36972"/>
                </a:lnTo>
                <a:lnTo>
                  <a:pt x="1167247" y="9919"/>
                </a:lnTo>
                <a:lnTo>
                  <a:pt x="1118108" y="0"/>
                </a:lnTo>
                <a:close/>
              </a:path>
            </a:pathLst>
          </a:custGeom>
          <a:solidFill>
            <a:srgbClr val="267367">
              <a:alpha val="85098"/>
            </a:srgbClr>
          </a:solidFill>
        </p:spPr>
        <p:txBody>
          <a:bodyPr wrap="square" lIns="0" tIns="0" rIns="0" bIns="0" rtlCol="0"/>
          <a:lstStyle/>
          <a:p>
            <a:pPr algn="l" rtl="0"/>
            <a:endParaRPr lang="fr-CA"/>
          </a:p>
        </p:txBody>
      </p:sp>
      <p:sp>
        <p:nvSpPr>
          <p:cNvPr id="41" name="object 37">
            <a:extLst>
              <a:ext uri="{FF2B5EF4-FFF2-40B4-BE49-F238E27FC236}">
                <a16:creationId xmlns:a16="http://schemas.microsoft.com/office/drawing/2014/main" id="{00B0DF0A-9C24-2D1B-92F7-8739B6A6B38F}"/>
              </a:ext>
            </a:extLst>
          </p:cNvPr>
          <p:cNvSpPr txBox="1"/>
          <p:nvPr/>
        </p:nvSpPr>
        <p:spPr>
          <a:xfrm>
            <a:off x="5029200" y="4102141"/>
            <a:ext cx="1093156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209" algn="ctr">
              <a:lnSpc>
                <a:spcPct val="100000"/>
              </a:lnSpc>
              <a:spcBef>
                <a:spcPts val="100"/>
              </a:spcBef>
            </a:pPr>
            <a:r>
              <a:rPr lang="fr-CA" sz="1200" dirty="0">
                <a:solidFill>
                  <a:srgbClr val="FFFFFF"/>
                </a:solidFill>
                <a:latin typeface="Roboto"/>
                <a:cs typeface="Roboto"/>
              </a:rPr>
              <a:t>Déploiement</a:t>
            </a:r>
          </a:p>
          <a:p>
            <a:pPr marL="12700" marR="5080" indent="29209" algn="ctr">
              <a:lnSpc>
                <a:spcPct val="100000"/>
              </a:lnSpc>
              <a:spcBef>
                <a:spcPts val="100"/>
              </a:spcBef>
            </a:pPr>
            <a:r>
              <a:rPr lang="fr-CA" sz="1200" dirty="0">
                <a:solidFill>
                  <a:srgbClr val="FFFFFF"/>
                </a:solidFill>
                <a:latin typeface="Roboto"/>
                <a:cs typeface="Roboto"/>
              </a:rPr>
              <a:t>(incrément 2)</a:t>
            </a:r>
            <a:endParaRPr lang="fr-CA" sz="1200" dirty="0">
              <a:latin typeface="Roboto"/>
              <a:cs typeface="Roboto"/>
            </a:endParaRPr>
          </a:p>
        </p:txBody>
      </p:sp>
      <p:grpSp>
        <p:nvGrpSpPr>
          <p:cNvPr id="42" name="object 38">
            <a:extLst>
              <a:ext uri="{FF2B5EF4-FFF2-40B4-BE49-F238E27FC236}">
                <a16:creationId xmlns:a16="http://schemas.microsoft.com/office/drawing/2014/main" id="{CEEBDFB8-559A-25F3-0DBE-CAD5483675C5}"/>
              </a:ext>
            </a:extLst>
          </p:cNvPr>
          <p:cNvGrpSpPr/>
          <p:nvPr/>
        </p:nvGrpSpPr>
        <p:grpSpPr>
          <a:xfrm>
            <a:off x="4219579" y="4676392"/>
            <a:ext cx="3127782" cy="1404495"/>
            <a:chOff x="4219579" y="4343400"/>
            <a:chExt cx="3127782" cy="1404495"/>
          </a:xfrm>
        </p:grpSpPr>
        <p:sp>
          <p:nvSpPr>
            <p:cNvPr id="43" name="object 39">
              <a:extLst>
                <a:ext uri="{FF2B5EF4-FFF2-40B4-BE49-F238E27FC236}">
                  <a16:creationId xmlns:a16="http://schemas.microsoft.com/office/drawing/2014/main" id="{8CF48E2E-DA04-2873-414F-322D2F6127F7}"/>
                </a:ext>
              </a:extLst>
            </p:cNvPr>
            <p:cNvSpPr/>
            <p:nvPr/>
          </p:nvSpPr>
          <p:spPr>
            <a:xfrm>
              <a:off x="5464302" y="4343400"/>
              <a:ext cx="217170" cy="631190"/>
            </a:xfrm>
            <a:custGeom>
              <a:avLst/>
              <a:gdLst/>
              <a:ahLst/>
              <a:cxnLst/>
              <a:rect l="l" t="t" r="r" b="b"/>
              <a:pathLst>
                <a:path w="217170" h="631189">
                  <a:moveTo>
                    <a:pt x="162877" y="0"/>
                  </a:moveTo>
                  <a:lnTo>
                    <a:pt x="54292" y="0"/>
                  </a:lnTo>
                  <a:lnTo>
                    <a:pt x="54292" y="522351"/>
                  </a:lnTo>
                  <a:lnTo>
                    <a:pt x="0" y="522351"/>
                  </a:lnTo>
                  <a:lnTo>
                    <a:pt x="108584" y="630936"/>
                  </a:lnTo>
                  <a:lnTo>
                    <a:pt x="217169" y="522351"/>
                  </a:lnTo>
                  <a:lnTo>
                    <a:pt x="162877" y="522351"/>
                  </a:lnTo>
                  <a:lnTo>
                    <a:pt x="162877" y="0"/>
                  </a:lnTo>
                  <a:close/>
                </a:path>
              </a:pathLst>
            </a:custGeom>
            <a:solidFill>
              <a:srgbClr val="4391C2"/>
            </a:solidFill>
          </p:spPr>
          <p:txBody>
            <a:bodyPr wrap="square" lIns="0" tIns="0" rIns="0" bIns="0" rtlCol="0"/>
            <a:lstStyle/>
            <a:p>
              <a:endParaRPr lang="fr-CA"/>
            </a:p>
          </p:txBody>
        </p:sp>
        <p:sp>
          <p:nvSpPr>
            <p:cNvPr id="44" name="object 40">
              <a:extLst>
                <a:ext uri="{FF2B5EF4-FFF2-40B4-BE49-F238E27FC236}">
                  <a16:creationId xmlns:a16="http://schemas.microsoft.com/office/drawing/2014/main" id="{8F1F5FEE-3748-B50D-DAA0-61574E77AF6A}"/>
                </a:ext>
              </a:extLst>
            </p:cNvPr>
            <p:cNvSpPr/>
            <p:nvPr/>
          </p:nvSpPr>
          <p:spPr>
            <a:xfrm>
              <a:off x="4219579" y="4990340"/>
              <a:ext cx="3127782" cy="757555"/>
            </a:xfrm>
            <a:custGeom>
              <a:avLst/>
              <a:gdLst/>
              <a:ahLst/>
              <a:cxnLst/>
              <a:rect l="l" t="t" r="r" b="b"/>
              <a:pathLst>
                <a:path w="1244600" h="757554">
                  <a:moveTo>
                    <a:pt x="1118108" y="0"/>
                  </a:moveTo>
                  <a:lnTo>
                    <a:pt x="126238" y="0"/>
                  </a:lnTo>
                  <a:lnTo>
                    <a:pt x="77098" y="9919"/>
                  </a:lnTo>
                  <a:lnTo>
                    <a:pt x="36972" y="36972"/>
                  </a:lnTo>
                  <a:lnTo>
                    <a:pt x="9919" y="77098"/>
                  </a:lnTo>
                  <a:lnTo>
                    <a:pt x="0" y="126237"/>
                  </a:lnTo>
                  <a:lnTo>
                    <a:pt x="0" y="631190"/>
                  </a:lnTo>
                  <a:lnTo>
                    <a:pt x="9919" y="680323"/>
                  </a:lnTo>
                  <a:lnTo>
                    <a:pt x="36972" y="720450"/>
                  </a:lnTo>
                  <a:lnTo>
                    <a:pt x="77098" y="747506"/>
                  </a:lnTo>
                  <a:lnTo>
                    <a:pt x="126238" y="757428"/>
                  </a:lnTo>
                  <a:lnTo>
                    <a:pt x="1118108" y="757428"/>
                  </a:lnTo>
                  <a:lnTo>
                    <a:pt x="1167247" y="747506"/>
                  </a:lnTo>
                  <a:lnTo>
                    <a:pt x="1207373" y="720450"/>
                  </a:lnTo>
                  <a:lnTo>
                    <a:pt x="1234426" y="680323"/>
                  </a:lnTo>
                  <a:lnTo>
                    <a:pt x="1244346" y="631190"/>
                  </a:lnTo>
                  <a:lnTo>
                    <a:pt x="1244346" y="126237"/>
                  </a:lnTo>
                  <a:lnTo>
                    <a:pt x="1234426" y="77098"/>
                  </a:lnTo>
                  <a:lnTo>
                    <a:pt x="1207373" y="36972"/>
                  </a:lnTo>
                  <a:lnTo>
                    <a:pt x="1167247" y="9919"/>
                  </a:lnTo>
                  <a:lnTo>
                    <a:pt x="1118108" y="0"/>
                  </a:lnTo>
                  <a:close/>
                </a:path>
              </a:pathLst>
            </a:custGeom>
            <a:solidFill>
              <a:srgbClr val="2980B8">
                <a:alpha val="85098"/>
              </a:srgbClr>
            </a:solidFill>
          </p:spPr>
          <p:txBody>
            <a:bodyPr wrap="square" lIns="0" tIns="0" rIns="0" bIns="0" rtlCol="0"/>
            <a:lstStyle/>
            <a:p>
              <a:pPr algn="l" rtl="0"/>
              <a:endParaRPr lang="fr-CA"/>
            </a:p>
          </p:txBody>
        </p:sp>
      </p:grpSp>
      <p:sp>
        <p:nvSpPr>
          <p:cNvPr id="45" name="object 41">
            <a:extLst>
              <a:ext uri="{FF2B5EF4-FFF2-40B4-BE49-F238E27FC236}">
                <a16:creationId xmlns:a16="http://schemas.microsoft.com/office/drawing/2014/main" id="{E99D2192-5FE1-F19B-8DEC-BFC8BEE9C0C0}"/>
              </a:ext>
            </a:extLst>
          </p:cNvPr>
          <p:cNvSpPr txBox="1"/>
          <p:nvPr/>
        </p:nvSpPr>
        <p:spPr>
          <a:xfrm>
            <a:off x="4344924" y="5410200"/>
            <a:ext cx="2878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fr-CA" sz="1200" dirty="0">
                <a:solidFill>
                  <a:schemeClr val="bg1"/>
                </a:solidFill>
                <a:latin typeface="Roboto"/>
                <a:cs typeface="Roboto"/>
              </a:rPr>
              <a:t>Exemple :</a:t>
            </a:r>
            <a:r>
              <a:rPr lang="en-US" sz="1200" dirty="0">
                <a:solidFill>
                  <a:schemeClr val="bg1"/>
                </a:solidFill>
              </a:rPr>
              <a:t>La gestion des </a:t>
            </a:r>
            <a:r>
              <a:rPr lang="en-US" sz="1200" dirty="0" err="1">
                <a:solidFill>
                  <a:schemeClr val="bg1"/>
                </a:solidFill>
              </a:rPr>
              <a:t>utilisateurs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est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ajoutée</a:t>
            </a:r>
            <a:r>
              <a:rPr lang="en-US" sz="1200" dirty="0">
                <a:solidFill>
                  <a:schemeClr val="bg1"/>
                </a:solidFill>
              </a:rPr>
              <a:t>, avec la </a:t>
            </a:r>
            <a:r>
              <a:rPr lang="en-US" sz="1200" dirty="0" err="1">
                <a:solidFill>
                  <a:schemeClr val="bg1"/>
                </a:solidFill>
              </a:rPr>
              <a:t>possibilité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d'emprunter</a:t>
            </a:r>
            <a:r>
              <a:rPr lang="en-US" sz="1200" dirty="0">
                <a:solidFill>
                  <a:schemeClr val="bg1"/>
                </a:solidFill>
              </a:rPr>
              <a:t> des livres.</a:t>
            </a:r>
            <a:endParaRPr lang="fr-CA" sz="1200" dirty="0">
              <a:solidFill>
                <a:schemeClr val="bg1"/>
              </a:solidFill>
              <a:latin typeface="Roboto"/>
              <a:cs typeface="Roboto"/>
            </a:endParaRPr>
          </a:p>
        </p:txBody>
      </p:sp>
      <p:grpSp>
        <p:nvGrpSpPr>
          <p:cNvPr id="46" name="object 42">
            <a:extLst>
              <a:ext uri="{FF2B5EF4-FFF2-40B4-BE49-F238E27FC236}">
                <a16:creationId xmlns:a16="http://schemas.microsoft.com/office/drawing/2014/main" id="{6A1CC883-851A-B609-6100-DA0E1EF82AF0}"/>
              </a:ext>
            </a:extLst>
          </p:cNvPr>
          <p:cNvGrpSpPr/>
          <p:nvPr/>
        </p:nvGrpSpPr>
        <p:grpSpPr>
          <a:xfrm>
            <a:off x="9061704" y="3918204"/>
            <a:ext cx="1875789" cy="758190"/>
            <a:chOff x="9061704" y="3585212"/>
            <a:chExt cx="1875789" cy="758190"/>
          </a:xfrm>
        </p:grpSpPr>
        <p:sp>
          <p:nvSpPr>
            <p:cNvPr id="47" name="object 43">
              <a:extLst>
                <a:ext uri="{FF2B5EF4-FFF2-40B4-BE49-F238E27FC236}">
                  <a16:creationId xmlns:a16="http://schemas.microsoft.com/office/drawing/2014/main" id="{5677DA5E-36DB-6D0F-6F30-077DAE8B3A32}"/>
                </a:ext>
              </a:extLst>
            </p:cNvPr>
            <p:cNvSpPr/>
            <p:nvPr/>
          </p:nvSpPr>
          <p:spPr>
            <a:xfrm>
              <a:off x="9061704" y="3864102"/>
              <a:ext cx="631190" cy="217170"/>
            </a:xfrm>
            <a:custGeom>
              <a:avLst/>
              <a:gdLst/>
              <a:ahLst/>
              <a:cxnLst/>
              <a:rect l="l" t="t" r="r" b="b"/>
              <a:pathLst>
                <a:path w="631190" h="217170">
                  <a:moveTo>
                    <a:pt x="522351" y="0"/>
                  </a:moveTo>
                  <a:lnTo>
                    <a:pt x="522351" y="54292"/>
                  </a:lnTo>
                  <a:lnTo>
                    <a:pt x="0" y="54292"/>
                  </a:lnTo>
                  <a:lnTo>
                    <a:pt x="0" y="162877"/>
                  </a:lnTo>
                  <a:lnTo>
                    <a:pt x="522351" y="162877"/>
                  </a:lnTo>
                  <a:lnTo>
                    <a:pt x="522351" y="217170"/>
                  </a:lnTo>
                  <a:lnTo>
                    <a:pt x="630936" y="108585"/>
                  </a:lnTo>
                  <a:lnTo>
                    <a:pt x="522351" y="0"/>
                  </a:lnTo>
                  <a:close/>
                </a:path>
              </a:pathLst>
            </a:custGeom>
            <a:solidFill>
              <a:srgbClr val="D72E75"/>
            </a:solidFill>
            <a:ln>
              <a:solidFill>
                <a:srgbClr val="D72E75"/>
              </a:solidFill>
            </a:ln>
          </p:spPr>
          <p:txBody>
            <a:bodyPr wrap="square" lIns="0" tIns="0" rIns="0" bIns="0" rtlCol="0"/>
            <a:lstStyle/>
            <a:p>
              <a:pPr algn="l" rtl="0"/>
              <a:endParaRPr lang="fr-CA"/>
            </a:p>
          </p:txBody>
        </p:sp>
        <p:sp>
          <p:nvSpPr>
            <p:cNvPr id="48" name="object 44">
              <a:extLst>
                <a:ext uri="{FF2B5EF4-FFF2-40B4-BE49-F238E27FC236}">
                  <a16:creationId xmlns:a16="http://schemas.microsoft.com/office/drawing/2014/main" id="{12CF4C15-02CD-E182-A4B9-A286D5F13C53}"/>
                </a:ext>
              </a:extLst>
            </p:cNvPr>
            <p:cNvSpPr/>
            <p:nvPr/>
          </p:nvSpPr>
          <p:spPr>
            <a:xfrm>
              <a:off x="9692640" y="3585212"/>
              <a:ext cx="1244600" cy="758190"/>
            </a:xfrm>
            <a:custGeom>
              <a:avLst/>
              <a:gdLst/>
              <a:ahLst/>
              <a:cxnLst/>
              <a:rect l="l" t="t" r="r" b="b"/>
              <a:pathLst>
                <a:path w="1244600" h="758189">
                  <a:moveTo>
                    <a:pt x="1117981" y="0"/>
                  </a:moveTo>
                  <a:lnTo>
                    <a:pt x="126364" y="0"/>
                  </a:lnTo>
                  <a:lnTo>
                    <a:pt x="77179" y="9930"/>
                  </a:lnTo>
                  <a:lnTo>
                    <a:pt x="37012" y="37012"/>
                  </a:lnTo>
                  <a:lnTo>
                    <a:pt x="9930" y="77179"/>
                  </a:lnTo>
                  <a:lnTo>
                    <a:pt x="0" y="126364"/>
                  </a:lnTo>
                  <a:lnTo>
                    <a:pt x="0" y="631824"/>
                  </a:lnTo>
                  <a:lnTo>
                    <a:pt x="9930" y="681010"/>
                  </a:lnTo>
                  <a:lnTo>
                    <a:pt x="37012" y="721177"/>
                  </a:lnTo>
                  <a:lnTo>
                    <a:pt x="77179" y="748259"/>
                  </a:lnTo>
                  <a:lnTo>
                    <a:pt x="126364" y="758189"/>
                  </a:lnTo>
                  <a:lnTo>
                    <a:pt x="1117981" y="758189"/>
                  </a:lnTo>
                  <a:lnTo>
                    <a:pt x="1167166" y="748259"/>
                  </a:lnTo>
                  <a:lnTo>
                    <a:pt x="1207333" y="721177"/>
                  </a:lnTo>
                  <a:lnTo>
                    <a:pt x="1234415" y="681010"/>
                  </a:lnTo>
                  <a:lnTo>
                    <a:pt x="1244346" y="631824"/>
                  </a:lnTo>
                  <a:lnTo>
                    <a:pt x="1244346" y="126364"/>
                  </a:lnTo>
                  <a:lnTo>
                    <a:pt x="1234415" y="77179"/>
                  </a:lnTo>
                  <a:lnTo>
                    <a:pt x="1207333" y="37012"/>
                  </a:lnTo>
                  <a:lnTo>
                    <a:pt x="1167166" y="9930"/>
                  </a:lnTo>
                  <a:lnTo>
                    <a:pt x="1117981" y="0"/>
                  </a:lnTo>
                  <a:close/>
                </a:path>
              </a:pathLst>
            </a:custGeom>
            <a:solidFill>
              <a:srgbClr val="267367">
                <a:alpha val="85098"/>
              </a:srgbClr>
            </a:solidFill>
          </p:spPr>
          <p:txBody>
            <a:bodyPr wrap="square" lIns="0" tIns="0" rIns="0" bIns="0" rtlCol="0"/>
            <a:lstStyle/>
            <a:p>
              <a:pPr algn="l" rtl="0"/>
              <a:endParaRPr lang="fr-CA"/>
            </a:p>
          </p:txBody>
        </p:sp>
      </p:grpSp>
      <p:sp>
        <p:nvSpPr>
          <p:cNvPr id="49" name="object 45">
            <a:extLst>
              <a:ext uri="{FF2B5EF4-FFF2-40B4-BE49-F238E27FC236}">
                <a16:creationId xmlns:a16="http://schemas.microsoft.com/office/drawing/2014/main" id="{DBBBCB47-32A2-E2B3-A2DD-870456057E00}"/>
              </a:ext>
            </a:extLst>
          </p:cNvPr>
          <p:cNvSpPr txBox="1"/>
          <p:nvPr/>
        </p:nvSpPr>
        <p:spPr>
          <a:xfrm>
            <a:off x="9814181" y="4094203"/>
            <a:ext cx="104622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209" algn="ctr">
              <a:lnSpc>
                <a:spcPct val="100000"/>
              </a:lnSpc>
              <a:spcBef>
                <a:spcPts val="100"/>
              </a:spcBef>
            </a:pPr>
            <a:r>
              <a:rPr lang="fr-CA" sz="1200" dirty="0">
                <a:solidFill>
                  <a:srgbClr val="FFFFFF"/>
                </a:solidFill>
                <a:latin typeface="Roboto"/>
                <a:cs typeface="Roboto"/>
              </a:rPr>
              <a:t>Clôture du projet</a:t>
            </a:r>
            <a:endParaRPr lang="fr-CA" sz="1200" dirty="0">
              <a:latin typeface="Roboto"/>
              <a:cs typeface="Roboto"/>
            </a:endParaRPr>
          </a:p>
        </p:txBody>
      </p:sp>
      <p:grpSp>
        <p:nvGrpSpPr>
          <p:cNvPr id="50" name="object 46">
            <a:extLst>
              <a:ext uri="{FF2B5EF4-FFF2-40B4-BE49-F238E27FC236}">
                <a16:creationId xmlns:a16="http://schemas.microsoft.com/office/drawing/2014/main" id="{C63E59D6-3F99-30BF-643F-A533B841F290}"/>
              </a:ext>
            </a:extLst>
          </p:cNvPr>
          <p:cNvGrpSpPr/>
          <p:nvPr/>
        </p:nvGrpSpPr>
        <p:grpSpPr>
          <a:xfrm>
            <a:off x="9666731" y="4676392"/>
            <a:ext cx="1245235" cy="1404620"/>
            <a:chOff x="9666731" y="4343400"/>
            <a:chExt cx="1245235" cy="1404620"/>
          </a:xfrm>
        </p:grpSpPr>
        <p:sp>
          <p:nvSpPr>
            <p:cNvPr id="51" name="object 47">
              <a:extLst>
                <a:ext uri="{FF2B5EF4-FFF2-40B4-BE49-F238E27FC236}">
                  <a16:creationId xmlns:a16="http://schemas.microsoft.com/office/drawing/2014/main" id="{B90888AB-DFE3-C7D1-B167-5A994E3054CC}"/>
                </a:ext>
              </a:extLst>
            </p:cNvPr>
            <p:cNvSpPr/>
            <p:nvPr/>
          </p:nvSpPr>
          <p:spPr>
            <a:xfrm>
              <a:off x="10171936" y="4343400"/>
              <a:ext cx="218440" cy="631190"/>
            </a:xfrm>
            <a:custGeom>
              <a:avLst/>
              <a:gdLst/>
              <a:ahLst/>
              <a:cxnLst/>
              <a:rect l="l" t="t" r="r" b="b"/>
              <a:pathLst>
                <a:path w="218440" h="631189">
                  <a:moveTo>
                    <a:pt x="163449" y="0"/>
                  </a:moveTo>
                  <a:lnTo>
                    <a:pt x="54483" y="0"/>
                  </a:lnTo>
                  <a:lnTo>
                    <a:pt x="54483" y="521970"/>
                  </a:lnTo>
                  <a:lnTo>
                    <a:pt x="0" y="521970"/>
                  </a:lnTo>
                  <a:lnTo>
                    <a:pt x="108966" y="630936"/>
                  </a:lnTo>
                  <a:lnTo>
                    <a:pt x="217932" y="521970"/>
                  </a:lnTo>
                  <a:lnTo>
                    <a:pt x="163449" y="521970"/>
                  </a:lnTo>
                  <a:lnTo>
                    <a:pt x="163449" y="0"/>
                  </a:lnTo>
                  <a:close/>
                </a:path>
              </a:pathLst>
            </a:custGeom>
            <a:solidFill>
              <a:srgbClr val="4391C2"/>
            </a:solidFill>
          </p:spPr>
          <p:txBody>
            <a:bodyPr wrap="square" lIns="0" tIns="0" rIns="0" bIns="0" rtlCol="0"/>
            <a:lstStyle/>
            <a:p>
              <a:endParaRPr lang="fr-CA"/>
            </a:p>
          </p:txBody>
        </p:sp>
        <p:sp>
          <p:nvSpPr>
            <p:cNvPr id="52" name="object 48">
              <a:extLst>
                <a:ext uri="{FF2B5EF4-FFF2-40B4-BE49-F238E27FC236}">
                  <a16:creationId xmlns:a16="http://schemas.microsoft.com/office/drawing/2014/main" id="{573D559C-FE73-DB46-8A76-AF382F8BB776}"/>
                </a:ext>
              </a:extLst>
            </p:cNvPr>
            <p:cNvSpPr/>
            <p:nvPr/>
          </p:nvSpPr>
          <p:spPr>
            <a:xfrm>
              <a:off x="9666731" y="4990340"/>
              <a:ext cx="1245235" cy="757555"/>
            </a:xfrm>
            <a:custGeom>
              <a:avLst/>
              <a:gdLst/>
              <a:ahLst/>
              <a:cxnLst/>
              <a:rect l="l" t="t" r="r" b="b"/>
              <a:pathLst>
                <a:path w="1245234" h="757554">
                  <a:moveTo>
                    <a:pt x="1118870" y="0"/>
                  </a:moveTo>
                  <a:lnTo>
                    <a:pt x="126238" y="0"/>
                  </a:lnTo>
                  <a:lnTo>
                    <a:pt x="77098" y="9919"/>
                  </a:lnTo>
                  <a:lnTo>
                    <a:pt x="36972" y="36972"/>
                  </a:lnTo>
                  <a:lnTo>
                    <a:pt x="9919" y="77098"/>
                  </a:lnTo>
                  <a:lnTo>
                    <a:pt x="0" y="126237"/>
                  </a:lnTo>
                  <a:lnTo>
                    <a:pt x="0" y="631190"/>
                  </a:lnTo>
                  <a:lnTo>
                    <a:pt x="9919" y="680323"/>
                  </a:lnTo>
                  <a:lnTo>
                    <a:pt x="36972" y="720450"/>
                  </a:lnTo>
                  <a:lnTo>
                    <a:pt x="77098" y="747506"/>
                  </a:lnTo>
                  <a:lnTo>
                    <a:pt x="126238" y="757428"/>
                  </a:lnTo>
                  <a:lnTo>
                    <a:pt x="1118870" y="757428"/>
                  </a:lnTo>
                  <a:lnTo>
                    <a:pt x="1168009" y="747506"/>
                  </a:lnTo>
                  <a:lnTo>
                    <a:pt x="1208135" y="720450"/>
                  </a:lnTo>
                  <a:lnTo>
                    <a:pt x="1235188" y="680323"/>
                  </a:lnTo>
                  <a:lnTo>
                    <a:pt x="1245108" y="631190"/>
                  </a:lnTo>
                  <a:lnTo>
                    <a:pt x="1245108" y="126237"/>
                  </a:lnTo>
                  <a:lnTo>
                    <a:pt x="1235188" y="77098"/>
                  </a:lnTo>
                  <a:lnTo>
                    <a:pt x="1208135" y="36972"/>
                  </a:lnTo>
                  <a:lnTo>
                    <a:pt x="1168009" y="9919"/>
                  </a:lnTo>
                  <a:lnTo>
                    <a:pt x="1118870" y="0"/>
                  </a:lnTo>
                  <a:close/>
                </a:path>
              </a:pathLst>
            </a:custGeom>
            <a:solidFill>
              <a:srgbClr val="2980B8">
                <a:alpha val="85098"/>
              </a:srgbClr>
            </a:solidFill>
          </p:spPr>
          <p:txBody>
            <a:bodyPr wrap="square" lIns="0" tIns="0" rIns="0" bIns="0" rtlCol="0"/>
            <a:lstStyle/>
            <a:p>
              <a:endParaRPr lang="fr-CA"/>
            </a:p>
          </p:txBody>
        </p:sp>
      </p:grpSp>
      <p:sp>
        <p:nvSpPr>
          <p:cNvPr id="53" name="object 49">
            <a:extLst>
              <a:ext uri="{FF2B5EF4-FFF2-40B4-BE49-F238E27FC236}">
                <a16:creationId xmlns:a16="http://schemas.microsoft.com/office/drawing/2014/main" id="{025EEF59-DA71-7320-D1F4-993DF445638D}"/>
              </a:ext>
            </a:extLst>
          </p:cNvPr>
          <p:cNvSpPr txBox="1"/>
          <p:nvPr/>
        </p:nvSpPr>
        <p:spPr>
          <a:xfrm>
            <a:off x="9786735" y="5452978"/>
            <a:ext cx="10045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825" marR="5080" indent="-238760">
              <a:lnSpc>
                <a:spcPct val="100000"/>
              </a:lnSpc>
              <a:spcBef>
                <a:spcPts val="100"/>
              </a:spcBef>
            </a:pPr>
            <a:r>
              <a:rPr lang="fr-CA" sz="1200" dirty="0">
                <a:solidFill>
                  <a:srgbClr val="FFFFFF"/>
                </a:solidFill>
                <a:latin typeface="Roboto"/>
                <a:cs typeface="Roboto"/>
              </a:rPr>
              <a:t>Livraison du produit final</a:t>
            </a:r>
            <a:endParaRPr lang="fr-CA" sz="1200" dirty="0">
              <a:latin typeface="Roboto"/>
              <a:cs typeface="Roboto"/>
            </a:endParaRPr>
          </a:p>
        </p:txBody>
      </p:sp>
      <p:sp>
        <p:nvSpPr>
          <p:cNvPr id="54" name="object 50">
            <a:extLst>
              <a:ext uri="{FF2B5EF4-FFF2-40B4-BE49-F238E27FC236}">
                <a16:creationId xmlns:a16="http://schemas.microsoft.com/office/drawing/2014/main" id="{55453B3F-E308-64C0-AA8C-E7FC0D4FC9D5}"/>
              </a:ext>
            </a:extLst>
          </p:cNvPr>
          <p:cNvSpPr/>
          <p:nvPr/>
        </p:nvSpPr>
        <p:spPr>
          <a:xfrm>
            <a:off x="1331594" y="3891913"/>
            <a:ext cx="10174605" cy="2753360"/>
          </a:xfrm>
          <a:custGeom>
            <a:avLst/>
            <a:gdLst/>
            <a:ahLst/>
            <a:cxnLst/>
            <a:rect l="l" t="t" r="r" b="b"/>
            <a:pathLst>
              <a:path w="10174605" h="2753360">
                <a:moveTo>
                  <a:pt x="0" y="458863"/>
                </a:moveTo>
                <a:lnTo>
                  <a:pt x="2369" y="411946"/>
                </a:lnTo>
                <a:lnTo>
                  <a:pt x="9322" y="366385"/>
                </a:lnTo>
                <a:lnTo>
                  <a:pt x="20629" y="322409"/>
                </a:lnTo>
                <a:lnTo>
                  <a:pt x="36059" y="280251"/>
                </a:lnTo>
                <a:lnTo>
                  <a:pt x="55381" y="240139"/>
                </a:lnTo>
                <a:lnTo>
                  <a:pt x="78365" y="202306"/>
                </a:lnTo>
                <a:lnTo>
                  <a:pt x="104780" y="166981"/>
                </a:lnTo>
                <a:lnTo>
                  <a:pt x="134396" y="134396"/>
                </a:lnTo>
                <a:lnTo>
                  <a:pt x="166981" y="104780"/>
                </a:lnTo>
                <a:lnTo>
                  <a:pt x="202306" y="78365"/>
                </a:lnTo>
                <a:lnTo>
                  <a:pt x="240139" y="55381"/>
                </a:lnTo>
                <a:lnTo>
                  <a:pt x="280251" y="36059"/>
                </a:lnTo>
                <a:lnTo>
                  <a:pt x="322409" y="20629"/>
                </a:lnTo>
                <a:lnTo>
                  <a:pt x="366385" y="9322"/>
                </a:lnTo>
                <a:lnTo>
                  <a:pt x="411946" y="2369"/>
                </a:lnTo>
                <a:lnTo>
                  <a:pt x="458863" y="0"/>
                </a:lnTo>
                <a:lnTo>
                  <a:pt x="9715360" y="0"/>
                </a:lnTo>
                <a:lnTo>
                  <a:pt x="9762277" y="2369"/>
                </a:lnTo>
                <a:lnTo>
                  <a:pt x="9807838" y="9322"/>
                </a:lnTo>
                <a:lnTo>
                  <a:pt x="9851814" y="20629"/>
                </a:lnTo>
                <a:lnTo>
                  <a:pt x="9893972" y="36059"/>
                </a:lnTo>
                <a:lnTo>
                  <a:pt x="9934084" y="55381"/>
                </a:lnTo>
                <a:lnTo>
                  <a:pt x="9971917" y="78365"/>
                </a:lnTo>
                <a:lnTo>
                  <a:pt x="10007242" y="104780"/>
                </a:lnTo>
                <a:lnTo>
                  <a:pt x="10039827" y="134396"/>
                </a:lnTo>
                <a:lnTo>
                  <a:pt x="10069443" y="166981"/>
                </a:lnTo>
                <a:lnTo>
                  <a:pt x="10095858" y="202306"/>
                </a:lnTo>
                <a:lnTo>
                  <a:pt x="10118842" y="240139"/>
                </a:lnTo>
                <a:lnTo>
                  <a:pt x="10138164" y="280251"/>
                </a:lnTo>
                <a:lnTo>
                  <a:pt x="10153594" y="322409"/>
                </a:lnTo>
                <a:lnTo>
                  <a:pt x="10164901" y="366385"/>
                </a:lnTo>
                <a:lnTo>
                  <a:pt x="10171854" y="411946"/>
                </a:lnTo>
                <a:lnTo>
                  <a:pt x="10174224" y="458863"/>
                </a:lnTo>
                <a:lnTo>
                  <a:pt x="10174224" y="2294242"/>
                </a:lnTo>
                <a:lnTo>
                  <a:pt x="10171854" y="2341159"/>
                </a:lnTo>
                <a:lnTo>
                  <a:pt x="10164901" y="2386720"/>
                </a:lnTo>
                <a:lnTo>
                  <a:pt x="10153594" y="2430696"/>
                </a:lnTo>
                <a:lnTo>
                  <a:pt x="10138164" y="2472854"/>
                </a:lnTo>
                <a:lnTo>
                  <a:pt x="10118842" y="2512966"/>
                </a:lnTo>
                <a:lnTo>
                  <a:pt x="10095858" y="2550799"/>
                </a:lnTo>
                <a:lnTo>
                  <a:pt x="10069443" y="2586124"/>
                </a:lnTo>
                <a:lnTo>
                  <a:pt x="10039827" y="2618709"/>
                </a:lnTo>
                <a:lnTo>
                  <a:pt x="10007242" y="2648325"/>
                </a:lnTo>
                <a:lnTo>
                  <a:pt x="9971917" y="2674740"/>
                </a:lnTo>
                <a:lnTo>
                  <a:pt x="9934084" y="2697724"/>
                </a:lnTo>
                <a:lnTo>
                  <a:pt x="9893972" y="2717046"/>
                </a:lnTo>
                <a:lnTo>
                  <a:pt x="9851814" y="2732476"/>
                </a:lnTo>
                <a:lnTo>
                  <a:pt x="9807838" y="2743783"/>
                </a:lnTo>
                <a:lnTo>
                  <a:pt x="9762277" y="2750736"/>
                </a:lnTo>
                <a:lnTo>
                  <a:pt x="9715360" y="2753105"/>
                </a:lnTo>
                <a:lnTo>
                  <a:pt x="458863" y="2753105"/>
                </a:lnTo>
                <a:lnTo>
                  <a:pt x="411946" y="2750736"/>
                </a:lnTo>
                <a:lnTo>
                  <a:pt x="366385" y="2743783"/>
                </a:lnTo>
                <a:lnTo>
                  <a:pt x="322409" y="2732476"/>
                </a:lnTo>
                <a:lnTo>
                  <a:pt x="280251" y="2717046"/>
                </a:lnTo>
                <a:lnTo>
                  <a:pt x="240139" y="2697724"/>
                </a:lnTo>
                <a:lnTo>
                  <a:pt x="202306" y="2674740"/>
                </a:lnTo>
                <a:lnTo>
                  <a:pt x="166981" y="2648325"/>
                </a:lnTo>
                <a:lnTo>
                  <a:pt x="134396" y="2618709"/>
                </a:lnTo>
                <a:lnTo>
                  <a:pt x="104780" y="2586124"/>
                </a:lnTo>
                <a:lnTo>
                  <a:pt x="78365" y="2550799"/>
                </a:lnTo>
                <a:lnTo>
                  <a:pt x="55381" y="2512966"/>
                </a:lnTo>
                <a:lnTo>
                  <a:pt x="36059" y="2472854"/>
                </a:lnTo>
                <a:lnTo>
                  <a:pt x="20629" y="2430696"/>
                </a:lnTo>
                <a:lnTo>
                  <a:pt x="9322" y="2386720"/>
                </a:lnTo>
                <a:lnTo>
                  <a:pt x="2369" y="2341159"/>
                </a:lnTo>
                <a:lnTo>
                  <a:pt x="0" y="2294242"/>
                </a:lnTo>
                <a:lnTo>
                  <a:pt x="0" y="458863"/>
                </a:lnTo>
                <a:close/>
              </a:path>
            </a:pathLst>
          </a:custGeom>
          <a:ln w="254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algn="l" rtl="0"/>
            <a:endParaRPr lang="fr-CA"/>
          </a:p>
        </p:txBody>
      </p:sp>
      <p:sp>
        <p:nvSpPr>
          <p:cNvPr id="55" name="object 51">
            <a:extLst>
              <a:ext uri="{FF2B5EF4-FFF2-40B4-BE49-F238E27FC236}">
                <a16:creationId xmlns:a16="http://schemas.microsoft.com/office/drawing/2014/main" id="{CA509CED-FA05-1B66-6D06-A49CD638CE53}"/>
              </a:ext>
            </a:extLst>
          </p:cNvPr>
          <p:cNvSpPr txBox="1"/>
          <p:nvPr/>
        </p:nvSpPr>
        <p:spPr>
          <a:xfrm>
            <a:off x="3882675" y="6230080"/>
            <a:ext cx="4427220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fr-CA" sz="1850" b="1" dirty="0">
                <a:solidFill>
                  <a:srgbClr val="0D0D0D"/>
                </a:solidFill>
                <a:latin typeface="Roboto"/>
                <a:cs typeface="Roboto"/>
              </a:rPr>
              <a:t>Étapes de la livraison complète du projet.</a:t>
            </a:r>
            <a:endParaRPr lang="fr-CA" sz="1850" dirty="0">
              <a:latin typeface="Roboto"/>
              <a:cs typeface="Roboto"/>
            </a:endParaRPr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F86B9D3F-FCB0-6D45-E9AE-46D2CA4F8420}"/>
              </a:ext>
            </a:extLst>
          </p:cNvPr>
          <p:cNvSpPr txBox="1">
            <a:spLocks/>
          </p:cNvSpPr>
          <p:nvPr/>
        </p:nvSpPr>
        <p:spPr>
          <a:xfrm>
            <a:off x="877316" y="576834"/>
            <a:ext cx="9450705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ln>
                  <a:noFill/>
                </a:ln>
                <a:solidFill>
                  <a:srgbClr val="005E4F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en-DZ"/>
              <a:t>Cycle de vie d’un projet</a:t>
            </a:r>
            <a:endParaRPr lang="en-DZ" dirty="0"/>
          </a:p>
        </p:txBody>
      </p:sp>
    </p:spTree>
    <p:extLst>
      <p:ext uri="{BB962C8B-B14F-4D97-AF65-F5344CB8AC3E}">
        <p14:creationId xmlns:p14="http://schemas.microsoft.com/office/powerpoint/2010/main" val="2345835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CB31F-5981-DFBF-457B-7C3B6DE0181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46455-6170-7CCB-70AE-83E1AAA2D0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8</a:t>
            </a:fld>
            <a:endParaRPr lang="en-DZ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C01774-7F32-4072-01CA-9B507DFE2AA0}"/>
              </a:ext>
            </a:extLst>
          </p:cNvPr>
          <p:cNvSpPr/>
          <p:nvPr/>
        </p:nvSpPr>
        <p:spPr>
          <a:xfrm>
            <a:off x="-152400" y="2057400"/>
            <a:ext cx="12344400" cy="3657600"/>
          </a:xfrm>
          <a:prstGeom prst="rect">
            <a:avLst/>
          </a:prstGeom>
          <a:solidFill>
            <a:srgbClr val="005E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540EFD-9134-3027-184E-0B37195ACC87}"/>
              </a:ext>
            </a:extLst>
          </p:cNvPr>
          <p:cNvSpPr/>
          <p:nvPr/>
        </p:nvSpPr>
        <p:spPr>
          <a:xfrm>
            <a:off x="8458200" y="2362200"/>
            <a:ext cx="3733800" cy="3352800"/>
          </a:xfrm>
          <a:prstGeom prst="ellipse">
            <a:avLst/>
          </a:prstGeom>
          <a:solidFill>
            <a:schemeClr val="bg1"/>
          </a:solidFill>
          <a:ln w="38100" cmpd="thinThick">
            <a:solidFill>
              <a:srgbClr val="FF1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035C73-7125-FA08-3A39-B8AFBE613C8F}"/>
              </a:ext>
            </a:extLst>
          </p:cNvPr>
          <p:cNvSpPr/>
          <p:nvPr/>
        </p:nvSpPr>
        <p:spPr>
          <a:xfrm>
            <a:off x="8610600" y="2514601"/>
            <a:ext cx="3429000" cy="3048000"/>
          </a:xfrm>
          <a:prstGeom prst="ellipse">
            <a:avLst/>
          </a:prstGeom>
          <a:solidFill>
            <a:schemeClr val="bg1"/>
          </a:solidFill>
          <a:ln w="38100" cmpd="thinThick">
            <a:solidFill>
              <a:srgbClr val="FF1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E9ADF3-6EEF-3A8B-B153-AA3809FA5DF9}"/>
              </a:ext>
            </a:extLst>
          </p:cNvPr>
          <p:cNvSpPr txBox="1"/>
          <p:nvPr/>
        </p:nvSpPr>
        <p:spPr>
          <a:xfrm>
            <a:off x="2929270" y="3249650"/>
            <a:ext cx="6198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b="1" spc="-20" dirty="0">
                <a:solidFill>
                  <a:srgbClr val="005E7B"/>
                </a:solidFill>
              </a:rPr>
              <a:t>que</a:t>
            </a:r>
            <a:endParaRPr lang="en-DZ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143940-A943-3C07-C35A-E921A1C4E4CE}"/>
              </a:ext>
            </a:extLst>
          </p:cNvPr>
          <p:cNvSpPr txBox="1"/>
          <p:nvPr/>
        </p:nvSpPr>
        <p:spPr>
          <a:xfrm>
            <a:off x="152400" y="2888143"/>
            <a:ext cx="928663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5400" b="1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Pourquoi analyser avant de concevoir ?</a:t>
            </a:r>
            <a:endParaRPr lang="en-US" sz="5400" dirty="0">
              <a:solidFill>
                <a:schemeClr val="bg1"/>
              </a:solidFill>
              <a:effectLst/>
              <a:latin typeface="Century Gothic" panose="020B0502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23ABC3-11CB-30EA-9E3A-46C6B171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819400"/>
            <a:ext cx="2301950" cy="230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26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C668E-D70C-33D2-AB38-5F0EA201551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C0BC9-C288-4510-AE19-7EC6D9446E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9</a:t>
            </a:fld>
            <a:endParaRPr lang="en-DZ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B08F24A1-3ECA-7DEA-375C-96DC483BFF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8967" y="573625"/>
            <a:ext cx="946827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fr-CA" sz="3600" b="1" dirty="0">
                <a:solidFill>
                  <a:srgbClr val="005E4F"/>
                </a:solidFill>
                <a:effectLst/>
                <a:latin typeface="Century Gothic" panose="020B0502020202020204" pitchFamily="34" charset="0"/>
              </a:rPr>
              <a:t>Pourquoi analyser avant de concevoir ?</a:t>
            </a:r>
            <a:endParaRPr lang="fr-CA" sz="3600" dirty="0">
              <a:solidFill>
                <a:srgbClr val="005E4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11EBE6-DDE2-1847-B036-4A8784F7DC1C}"/>
              </a:ext>
            </a:extLst>
          </p:cNvPr>
          <p:cNvSpPr txBox="1"/>
          <p:nvPr/>
        </p:nvSpPr>
        <p:spPr>
          <a:xfrm>
            <a:off x="851038" y="2301954"/>
            <a:ext cx="10351926" cy="2699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250000"/>
              </a:lnSpc>
            </a:pPr>
            <a:r>
              <a:rPr lang="en-US" sz="2400" dirty="0"/>
              <a:t>Dans un </a:t>
            </a:r>
            <a:r>
              <a:rPr lang="en-US" sz="2400" dirty="0" err="1"/>
              <a:t>projet</a:t>
            </a:r>
            <a:r>
              <a:rPr lang="en-US" sz="2400" dirty="0"/>
              <a:t> web, </a:t>
            </a:r>
            <a:r>
              <a:rPr lang="en-US" sz="2400" dirty="0" err="1"/>
              <a:t>l’échec</a:t>
            </a:r>
            <a:r>
              <a:rPr lang="en-US" sz="2400" dirty="0"/>
              <a:t> </a:t>
            </a:r>
            <a:r>
              <a:rPr lang="en-US" sz="2400" dirty="0" err="1"/>
              <a:t>provient</a:t>
            </a:r>
            <a:r>
              <a:rPr lang="en-US" sz="2400" dirty="0"/>
              <a:t> </a:t>
            </a:r>
            <a:r>
              <a:rPr lang="en-US" sz="2400" dirty="0" err="1"/>
              <a:t>souvent</a:t>
            </a:r>
            <a:r>
              <a:rPr lang="en-US" sz="2400" dirty="0"/>
              <a:t> </a:t>
            </a:r>
            <a:r>
              <a:rPr lang="en-US" sz="2400" dirty="0" err="1"/>
              <a:t>d’une</a:t>
            </a:r>
            <a:r>
              <a:rPr lang="en-US" sz="2400" dirty="0"/>
              <a:t> </a:t>
            </a:r>
            <a:r>
              <a:rPr lang="en-US" sz="2400" b="1" dirty="0" err="1"/>
              <a:t>mauvaise</a:t>
            </a:r>
            <a:r>
              <a:rPr lang="en-US" sz="2400" b="1" dirty="0"/>
              <a:t> </a:t>
            </a:r>
            <a:r>
              <a:rPr lang="en-US" sz="2400" b="1" dirty="0" err="1"/>
              <a:t>compréhension</a:t>
            </a:r>
            <a:r>
              <a:rPr lang="en-US" sz="2400" b="1" dirty="0"/>
              <a:t> du </a:t>
            </a:r>
            <a:r>
              <a:rPr lang="en-US" sz="2400" b="1" dirty="0" err="1"/>
              <a:t>besoin</a:t>
            </a:r>
            <a:r>
              <a:rPr lang="en-US" sz="2400" b="1" dirty="0"/>
              <a:t> </a:t>
            </a:r>
            <a:r>
              <a:rPr lang="en-US" sz="2400" b="1" dirty="0" err="1"/>
              <a:t>réel</a:t>
            </a:r>
            <a:r>
              <a:rPr lang="en-US" sz="2400" dirty="0"/>
              <a:t>.</a:t>
            </a:r>
          </a:p>
          <a:p>
            <a:pPr algn="l" rtl="0">
              <a:lnSpc>
                <a:spcPct val="250000"/>
              </a:lnSpc>
            </a:pPr>
            <a:endParaRPr lang="fr-CA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033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C668E-D70C-33D2-AB38-5F0EA201551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C0BC9-C288-4510-AE19-7EC6D9446E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10</a:t>
            </a:fld>
            <a:endParaRPr lang="en-DZ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B08F24A1-3ECA-7DEA-375C-96DC483BFF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8967" y="573625"/>
            <a:ext cx="946827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fr-CA" sz="3600" b="1" dirty="0">
                <a:solidFill>
                  <a:srgbClr val="005E4F"/>
                </a:solidFill>
                <a:effectLst/>
                <a:latin typeface="Century Gothic" panose="020B0502020202020204" pitchFamily="34" charset="0"/>
              </a:rPr>
              <a:t>Pourquoi analyser avant de concevoir ?</a:t>
            </a:r>
            <a:endParaRPr lang="fr-CA" sz="3600" dirty="0">
              <a:solidFill>
                <a:srgbClr val="005E4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11EBE6-DDE2-1847-B036-4A8784F7DC1C}"/>
              </a:ext>
            </a:extLst>
          </p:cNvPr>
          <p:cNvSpPr txBox="1"/>
          <p:nvPr/>
        </p:nvSpPr>
        <p:spPr>
          <a:xfrm>
            <a:off x="591671" y="1600200"/>
            <a:ext cx="10351926" cy="6393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25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Une belle interface ne </a:t>
            </a:r>
            <a:r>
              <a:rPr lang="en-US" sz="2400" dirty="0" err="1">
                <a:latin typeface="Century Gothic" panose="020B0502020202020204" pitchFamily="34" charset="0"/>
              </a:rPr>
              <a:t>sert</a:t>
            </a:r>
            <a:r>
              <a:rPr lang="en-US" sz="2400" dirty="0">
                <a:latin typeface="Century Gothic" panose="020B0502020202020204" pitchFamily="34" charset="0"/>
              </a:rPr>
              <a:t> </a:t>
            </a:r>
            <a:r>
              <a:rPr lang="en-US" sz="2400" dirty="0" err="1">
                <a:latin typeface="Century Gothic" panose="020B0502020202020204" pitchFamily="34" charset="0"/>
              </a:rPr>
              <a:t>à</a:t>
            </a:r>
            <a:r>
              <a:rPr lang="en-US" sz="2400" dirty="0">
                <a:latin typeface="Century Gothic" panose="020B0502020202020204" pitchFamily="34" charset="0"/>
              </a:rPr>
              <a:t> </a:t>
            </a:r>
            <a:r>
              <a:rPr lang="en-US" sz="2400" dirty="0" err="1">
                <a:latin typeface="Century Gothic" panose="020B0502020202020204" pitchFamily="34" charset="0"/>
              </a:rPr>
              <a:t>rien</a:t>
            </a:r>
            <a:r>
              <a:rPr lang="en-US" sz="2400" dirty="0">
                <a:latin typeface="Century Gothic" panose="020B0502020202020204" pitchFamily="34" charset="0"/>
              </a:rPr>
              <a:t> </a:t>
            </a:r>
            <a:r>
              <a:rPr lang="en-US" sz="2400" dirty="0" err="1">
                <a:latin typeface="Century Gothic" panose="020B0502020202020204" pitchFamily="34" charset="0"/>
              </a:rPr>
              <a:t>si</a:t>
            </a:r>
            <a:r>
              <a:rPr lang="en-US" sz="2400" dirty="0">
                <a:latin typeface="Century Gothic" panose="020B0502020202020204" pitchFamily="34" charset="0"/>
              </a:rPr>
              <a:t> </a:t>
            </a:r>
            <a:r>
              <a:rPr lang="en-US" sz="2400" dirty="0" err="1">
                <a:latin typeface="Century Gothic" panose="020B0502020202020204" pitchFamily="34" charset="0"/>
              </a:rPr>
              <a:t>elle</a:t>
            </a:r>
            <a:r>
              <a:rPr lang="en-US" sz="2400" dirty="0">
                <a:latin typeface="Century Gothic" panose="020B0502020202020204" pitchFamily="34" charset="0"/>
              </a:rPr>
              <a:t> ne </a:t>
            </a:r>
            <a:r>
              <a:rPr lang="en-US" sz="2400" dirty="0" err="1">
                <a:latin typeface="Century Gothic" panose="020B0502020202020204" pitchFamily="34" charset="0"/>
              </a:rPr>
              <a:t>répond</a:t>
            </a:r>
            <a:r>
              <a:rPr lang="en-US" sz="2400" dirty="0">
                <a:latin typeface="Century Gothic" panose="020B0502020202020204" pitchFamily="34" charset="0"/>
              </a:rPr>
              <a:t> pas aux </a:t>
            </a:r>
            <a:r>
              <a:rPr lang="en-US" sz="2400" dirty="0" err="1">
                <a:latin typeface="Century Gothic" panose="020B0502020202020204" pitchFamily="34" charset="0"/>
              </a:rPr>
              <a:t>attentes</a:t>
            </a:r>
            <a:r>
              <a:rPr lang="en-US" sz="2400" dirty="0">
                <a:latin typeface="Century Gothic" panose="020B0502020202020204" pitchFamily="34" charset="0"/>
              </a:rPr>
              <a:t> de </a:t>
            </a:r>
            <a:r>
              <a:rPr lang="en-US" sz="2400" dirty="0" err="1">
                <a:latin typeface="Century Gothic" panose="020B0502020202020204" pitchFamily="34" charset="0"/>
              </a:rPr>
              <a:t>ses</a:t>
            </a:r>
            <a:r>
              <a:rPr lang="en-US" sz="2400" dirty="0">
                <a:latin typeface="Century Gothic" panose="020B0502020202020204" pitchFamily="34" charset="0"/>
              </a:rPr>
              <a:t> </a:t>
            </a:r>
            <a:r>
              <a:rPr lang="en-US" sz="2400" dirty="0" err="1">
                <a:latin typeface="Century Gothic" panose="020B0502020202020204" pitchFamily="34" charset="0"/>
              </a:rPr>
              <a:t>utilisateurs</a:t>
            </a:r>
            <a:r>
              <a:rPr lang="en-US" sz="2400" dirty="0">
                <a:latin typeface="Century Gothic" panose="020B0502020202020204" pitchFamily="34" charset="0"/>
              </a:rPr>
              <a:t>.</a:t>
            </a:r>
          </a:p>
          <a:p>
            <a:pPr algn="l" rtl="0">
              <a:lnSpc>
                <a:spcPct val="250000"/>
              </a:lnSpc>
            </a:pPr>
            <a:r>
              <a:rPr lang="en-US" sz="2400" b="1" i="1" u="sng" dirty="0" err="1">
                <a:latin typeface="Century Gothic" panose="020B0502020202020204" pitchFamily="34" charset="0"/>
              </a:rPr>
              <a:t>Exemple</a:t>
            </a:r>
            <a:r>
              <a:rPr lang="en-US" sz="2400" b="1" i="1" u="sng" dirty="0">
                <a:latin typeface="Century Gothic" panose="020B0502020202020204" pitchFamily="34" charset="0"/>
              </a:rPr>
              <a:t> : </a:t>
            </a:r>
            <a:r>
              <a:rPr lang="en-US" sz="2400" dirty="0">
                <a:latin typeface="Century Gothic" panose="020B0502020202020204" pitchFamily="34" charset="0"/>
              </a:rPr>
              <a:t>Un site e-commerce qui a un </a:t>
            </a:r>
            <a:r>
              <a:rPr lang="en-US" sz="2400" b="1" dirty="0">
                <a:solidFill>
                  <a:srgbClr val="005D4F"/>
                </a:solidFill>
                <a:latin typeface="Century Gothic" panose="020B0502020202020204" pitchFamily="34" charset="0"/>
              </a:rPr>
              <a:t>design </a:t>
            </a:r>
            <a:r>
              <a:rPr lang="en-US" sz="2400" b="1" dirty="0" err="1">
                <a:solidFill>
                  <a:srgbClr val="005D4F"/>
                </a:solidFill>
                <a:latin typeface="Century Gothic" panose="020B0502020202020204" pitchFamily="34" charset="0"/>
              </a:rPr>
              <a:t>moderne</a:t>
            </a:r>
            <a:r>
              <a:rPr lang="en-US" sz="2400" b="1" dirty="0">
                <a:solidFill>
                  <a:srgbClr val="005D4F"/>
                </a:solidFill>
                <a:latin typeface="Century Gothic" panose="020B0502020202020204" pitchFamily="34" charset="0"/>
              </a:rPr>
              <a:t> </a:t>
            </a:r>
            <a:r>
              <a:rPr lang="en-US" sz="2400" dirty="0" err="1">
                <a:latin typeface="Century Gothic" panose="020B0502020202020204" pitchFamily="34" charset="0"/>
              </a:rPr>
              <a:t>mais</a:t>
            </a:r>
            <a:r>
              <a:rPr lang="en-US" sz="2400" dirty="0">
                <a:latin typeface="Century Gothic" panose="020B0502020202020204" pitchFamily="34" charset="0"/>
              </a:rPr>
              <a:t> rend </a:t>
            </a:r>
            <a:r>
              <a:rPr lang="en-US" sz="2400" b="1" u="sng" dirty="0">
                <a:solidFill>
                  <a:srgbClr val="C00000"/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difficile</a:t>
            </a:r>
            <a:r>
              <a:rPr lang="en-US" sz="2400" dirty="0">
                <a:latin typeface="Century Gothic" panose="020B0502020202020204" pitchFamily="34" charset="0"/>
              </a:rPr>
              <a:t> </a:t>
            </a:r>
            <a:r>
              <a:rPr lang="en-US" sz="2400" b="1" i="1" u="sng" dirty="0">
                <a:solidFill>
                  <a:srgbClr val="C00000"/>
                </a:solidFill>
                <a:latin typeface="Century Gothic" panose="020B0502020202020204" pitchFamily="34" charset="0"/>
              </a:rPr>
              <a:t>la recherche de </a:t>
            </a:r>
            <a:r>
              <a:rPr lang="en-US" sz="2400" b="1" i="1" u="sng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produits</a:t>
            </a:r>
            <a:r>
              <a:rPr lang="en-US" sz="2400" b="1" i="1" u="sng" dirty="0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  <a:r>
              <a:rPr lang="en-US" sz="2400" dirty="0" err="1">
                <a:latin typeface="Century Gothic" panose="020B0502020202020204" pitchFamily="34" charset="0"/>
              </a:rPr>
              <a:t>perdra</a:t>
            </a:r>
            <a:r>
              <a:rPr lang="en-US" sz="2400" dirty="0">
                <a:latin typeface="Century Gothic" panose="020B0502020202020204" pitchFamily="34" charset="0"/>
              </a:rPr>
              <a:t> </a:t>
            </a:r>
            <a:r>
              <a:rPr lang="en-US" sz="2400" dirty="0" err="1">
                <a:latin typeface="Century Gothic" panose="020B0502020202020204" pitchFamily="34" charset="0"/>
              </a:rPr>
              <a:t>ses</a:t>
            </a:r>
            <a:r>
              <a:rPr lang="en-US" sz="2400" dirty="0">
                <a:latin typeface="Century Gothic" panose="020B0502020202020204" pitchFamily="34" charset="0"/>
              </a:rPr>
              <a:t> </a:t>
            </a:r>
            <a:r>
              <a:rPr lang="en-US" sz="2400" dirty="0" err="1">
                <a:latin typeface="Century Gothic" panose="020B0502020202020204" pitchFamily="34" charset="0"/>
              </a:rPr>
              <a:t>utilisateurs</a:t>
            </a:r>
            <a:r>
              <a:rPr lang="en-US" sz="2400" dirty="0">
                <a:latin typeface="Century Gothic" panose="020B0502020202020204" pitchFamily="34" charset="0"/>
              </a:rPr>
              <a:t>, </a:t>
            </a:r>
            <a:r>
              <a:rPr lang="en-US" sz="2400" dirty="0" err="1">
                <a:latin typeface="Century Gothic" panose="020B0502020202020204" pitchFamily="34" charset="0"/>
              </a:rPr>
              <a:t>même</a:t>
            </a:r>
            <a:r>
              <a:rPr lang="en-US" sz="2400" dirty="0">
                <a:latin typeface="Century Gothic" panose="020B0502020202020204" pitchFamily="34" charset="0"/>
              </a:rPr>
              <a:t> </a:t>
            </a:r>
            <a:r>
              <a:rPr lang="en-US" sz="2400" dirty="0" err="1">
                <a:latin typeface="Century Gothic" panose="020B0502020202020204" pitchFamily="34" charset="0"/>
              </a:rPr>
              <a:t>s’il</a:t>
            </a:r>
            <a:r>
              <a:rPr lang="en-US" sz="2400" dirty="0">
                <a:latin typeface="Century Gothic" panose="020B0502020202020204" pitchFamily="34" charset="0"/>
              </a:rPr>
              <a:t> </a:t>
            </a:r>
            <a:r>
              <a:rPr lang="en-US" sz="2400" dirty="0" err="1">
                <a:latin typeface="Century Gothic" panose="020B0502020202020204" pitchFamily="34" charset="0"/>
              </a:rPr>
              <a:t>est</a:t>
            </a:r>
            <a:r>
              <a:rPr lang="en-US" sz="2400" dirty="0">
                <a:latin typeface="Century Gothic" panose="020B0502020202020204" pitchFamily="34" charset="0"/>
              </a:rPr>
              <a:t> </a:t>
            </a:r>
            <a:r>
              <a:rPr lang="en-US" sz="2400" dirty="0" err="1">
                <a:latin typeface="Century Gothic" panose="020B0502020202020204" pitchFamily="34" charset="0"/>
              </a:rPr>
              <a:t>esthétiquement</a:t>
            </a:r>
            <a:r>
              <a:rPr lang="en-US" sz="2400" dirty="0">
                <a:latin typeface="Century Gothic" panose="020B0502020202020204" pitchFamily="34" charset="0"/>
              </a:rPr>
              <a:t> parfait.</a:t>
            </a:r>
          </a:p>
          <a:p>
            <a:pPr algn="l" rtl="0">
              <a:lnSpc>
                <a:spcPct val="250000"/>
              </a:lnSpc>
            </a:pPr>
            <a:endParaRPr lang="en-US" sz="2400" dirty="0">
              <a:latin typeface="Century Gothic" panose="020B0502020202020204" pitchFamily="34" charset="0"/>
            </a:endParaRPr>
          </a:p>
          <a:p>
            <a:pPr algn="l" rtl="0">
              <a:lnSpc>
                <a:spcPct val="250000"/>
              </a:lnSpc>
            </a:pPr>
            <a:endParaRPr lang="fr-CA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303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C668E-D70C-33D2-AB38-5F0EA201551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C0BC9-C288-4510-AE19-7EC6D9446E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11</a:t>
            </a:fld>
            <a:endParaRPr lang="en-DZ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B08F24A1-3ECA-7DEA-375C-96DC483BFF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8967" y="573625"/>
            <a:ext cx="946827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fr-CA" sz="3600" b="1" dirty="0">
                <a:solidFill>
                  <a:srgbClr val="005E4F"/>
                </a:solidFill>
                <a:effectLst/>
                <a:latin typeface="Century Gothic" panose="020B0502020202020204" pitchFamily="34" charset="0"/>
              </a:rPr>
              <a:t>Pourquoi analyser avant de concevoir ?</a:t>
            </a:r>
            <a:endParaRPr lang="fr-CA" sz="3600" dirty="0">
              <a:solidFill>
                <a:srgbClr val="005E4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11EBE6-DDE2-1847-B036-4A8784F7DC1C}"/>
              </a:ext>
            </a:extLst>
          </p:cNvPr>
          <p:cNvSpPr txBox="1"/>
          <p:nvPr/>
        </p:nvSpPr>
        <p:spPr>
          <a:xfrm>
            <a:off x="591670" y="1600200"/>
            <a:ext cx="11295529" cy="4213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800" dirty="0" err="1"/>
              <a:t>L’analyse</a:t>
            </a:r>
            <a:r>
              <a:rPr lang="en-US" sz="2800" dirty="0"/>
              <a:t> et la conception </a:t>
            </a:r>
            <a:r>
              <a:rPr lang="en-US" sz="2800" dirty="0" err="1"/>
              <a:t>permettent</a:t>
            </a:r>
            <a:r>
              <a:rPr lang="en-US" sz="2800" dirty="0"/>
              <a:t> de :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800" dirty="0" err="1"/>
              <a:t>Traduire</a:t>
            </a:r>
            <a:r>
              <a:rPr lang="en-US" sz="2800" dirty="0"/>
              <a:t> les </a:t>
            </a:r>
            <a:r>
              <a:rPr lang="en-US" sz="2800" dirty="0" err="1"/>
              <a:t>objectifs</a:t>
            </a:r>
            <a:r>
              <a:rPr lang="en-US" sz="2800" dirty="0"/>
              <a:t> métiers </a:t>
            </a:r>
            <a:r>
              <a:rPr lang="en-US" sz="2800" dirty="0" err="1"/>
              <a:t>en</a:t>
            </a:r>
            <a:r>
              <a:rPr lang="en-US" sz="2800" dirty="0"/>
              <a:t> exigences </a:t>
            </a:r>
            <a:r>
              <a:rPr lang="en-US" sz="2800" dirty="0" err="1"/>
              <a:t>concrètes</a:t>
            </a:r>
            <a:r>
              <a:rPr lang="en-US" sz="2800" dirty="0"/>
              <a:t>.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800" dirty="0" err="1"/>
              <a:t>Éviter</a:t>
            </a:r>
            <a:r>
              <a:rPr lang="en-US" sz="2800" dirty="0"/>
              <a:t> les </a:t>
            </a:r>
            <a:r>
              <a:rPr lang="en-US" sz="2800" dirty="0" err="1"/>
              <a:t>malentendus</a:t>
            </a:r>
            <a:r>
              <a:rPr lang="en-US" sz="2800" dirty="0"/>
              <a:t> entre client, </a:t>
            </a:r>
            <a:r>
              <a:rPr lang="en-US" sz="2800" dirty="0" err="1"/>
              <a:t>développeurs</a:t>
            </a:r>
            <a:r>
              <a:rPr lang="en-US" sz="2800" dirty="0"/>
              <a:t> et designers.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Poser les bases de </a:t>
            </a:r>
            <a:r>
              <a:rPr lang="en-US" sz="2800" dirty="0" err="1"/>
              <a:t>l’expérience</a:t>
            </a:r>
            <a:r>
              <a:rPr lang="en-US" sz="2800" dirty="0"/>
              <a:t> </a:t>
            </a:r>
            <a:r>
              <a:rPr lang="en-US" sz="2800" dirty="0" err="1"/>
              <a:t>utilisateur</a:t>
            </a:r>
            <a:r>
              <a:rPr lang="en-US" sz="2800" dirty="0"/>
              <a:t> (</a:t>
            </a:r>
            <a:r>
              <a:rPr lang="en-US" sz="2800" i="1" dirty="0"/>
              <a:t>User Experience</a:t>
            </a:r>
            <a:r>
              <a:rPr lang="en-US" sz="2800" dirty="0"/>
              <a:t> </a:t>
            </a:r>
            <a:r>
              <a:rPr lang="en-US" sz="2800" dirty="0" err="1"/>
              <a:t>ou</a:t>
            </a:r>
            <a:r>
              <a:rPr lang="en-US" sz="2800" dirty="0"/>
              <a:t> </a:t>
            </a:r>
            <a:r>
              <a:rPr lang="en-US" sz="2800" b="1" dirty="0"/>
              <a:t>UX</a:t>
            </a:r>
            <a:r>
              <a:rPr lang="en-US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238332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EA2D5-14FC-039B-DFCA-DEEFA98B8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292" y="289825"/>
            <a:ext cx="9450705" cy="1292662"/>
          </a:xfrm>
        </p:spPr>
        <p:txBody>
          <a:bodyPr/>
          <a:lstStyle/>
          <a:p>
            <a:pPr algn="ctr"/>
            <a:r>
              <a:rPr lang="en-US" b="1" dirty="0" err="1"/>
              <a:t>Analyse</a:t>
            </a:r>
            <a:r>
              <a:rPr lang="en-US" b="1" dirty="0"/>
              <a:t> des </a:t>
            </a:r>
            <a:r>
              <a:rPr lang="en-US" b="1" dirty="0" err="1"/>
              <a:t>besoins</a:t>
            </a:r>
            <a:r>
              <a:rPr lang="en-US" b="1" dirty="0"/>
              <a:t> et cahier des charges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83585-E8D7-90B4-AF16-7060C26D3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292" y="1981199"/>
            <a:ext cx="10494645" cy="4042773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b="1" dirty="0"/>
              <a:t>phase </a:t>
            </a:r>
            <a:r>
              <a:rPr lang="en-US" b="1" dirty="0" err="1"/>
              <a:t>d’étude</a:t>
            </a:r>
            <a:r>
              <a:rPr lang="en-US" dirty="0"/>
              <a:t> qui vise </a:t>
            </a:r>
            <a:r>
              <a:rPr lang="en-US" dirty="0" err="1"/>
              <a:t>à</a:t>
            </a:r>
            <a:r>
              <a:rPr lang="en-US" dirty="0"/>
              <a:t> </a:t>
            </a:r>
            <a:r>
              <a:rPr lang="en-US" dirty="0" err="1"/>
              <a:t>répondre</a:t>
            </a:r>
            <a:r>
              <a:rPr lang="en-US" dirty="0"/>
              <a:t> </a:t>
            </a:r>
            <a:r>
              <a:rPr lang="en-US" dirty="0" err="1"/>
              <a:t>à</a:t>
            </a:r>
            <a:r>
              <a:rPr lang="en-US" dirty="0"/>
              <a:t> trois </a:t>
            </a:r>
            <a:r>
              <a:rPr lang="en-US" dirty="0" err="1"/>
              <a:t>grandes</a:t>
            </a:r>
            <a:r>
              <a:rPr lang="en-US" dirty="0"/>
              <a:t> questions :</a:t>
            </a: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US" b="1" dirty="0" err="1"/>
              <a:t>Pourquoi</a:t>
            </a:r>
            <a:r>
              <a:rPr lang="en-US" dirty="0"/>
              <a:t> le </a:t>
            </a:r>
            <a:r>
              <a:rPr lang="en-US" dirty="0" err="1"/>
              <a:t>projet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-il </a:t>
            </a:r>
            <a:r>
              <a:rPr lang="en-US" dirty="0" err="1"/>
              <a:t>lancé</a:t>
            </a:r>
            <a:r>
              <a:rPr lang="en-US" dirty="0"/>
              <a:t> ? (</a:t>
            </a:r>
            <a:r>
              <a:rPr lang="en-US" dirty="0" err="1"/>
              <a:t>objectif</a:t>
            </a:r>
            <a:r>
              <a:rPr lang="en-US" dirty="0"/>
              <a:t>, </a:t>
            </a:r>
            <a:r>
              <a:rPr lang="en-US" dirty="0" err="1"/>
              <a:t>problème</a:t>
            </a:r>
            <a:r>
              <a:rPr lang="en-US" dirty="0"/>
              <a:t> </a:t>
            </a:r>
            <a:r>
              <a:rPr lang="en-US" dirty="0" err="1"/>
              <a:t>à</a:t>
            </a:r>
            <a:r>
              <a:rPr lang="en-US" dirty="0"/>
              <a:t> </a:t>
            </a:r>
            <a:r>
              <a:rPr lang="en-US" dirty="0" err="1"/>
              <a:t>résoudre</a:t>
            </a:r>
            <a:r>
              <a:rPr lang="en-US" dirty="0"/>
              <a:t>)</a:t>
            </a: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US" b="1" dirty="0"/>
              <a:t>Pour qui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-il </a:t>
            </a:r>
            <a:r>
              <a:rPr lang="en-US" dirty="0" err="1"/>
              <a:t>conçu</a:t>
            </a:r>
            <a:r>
              <a:rPr lang="en-US" dirty="0"/>
              <a:t> ? (</a:t>
            </a:r>
            <a:r>
              <a:rPr lang="en-US" dirty="0" err="1"/>
              <a:t>profil</a:t>
            </a:r>
            <a:r>
              <a:rPr lang="en-US" dirty="0"/>
              <a:t> </a:t>
            </a:r>
            <a:r>
              <a:rPr lang="en-US" dirty="0" err="1"/>
              <a:t>utilisateur</a:t>
            </a:r>
            <a:r>
              <a:rPr lang="en-US" dirty="0"/>
              <a:t>, </a:t>
            </a:r>
            <a:r>
              <a:rPr lang="en-US" dirty="0" err="1"/>
              <a:t>contexte</a:t>
            </a:r>
            <a:r>
              <a:rPr lang="en-US" dirty="0"/>
              <a:t> </a:t>
            </a:r>
            <a:r>
              <a:rPr lang="en-US" dirty="0" err="1"/>
              <a:t>d’usage</a:t>
            </a:r>
            <a:r>
              <a:rPr lang="en-US" dirty="0"/>
              <a:t>)</a:t>
            </a: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US" b="1" dirty="0"/>
              <a:t>Que doit-il faire ?</a:t>
            </a:r>
            <a:r>
              <a:rPr lang="en-US" dirty="0"/>
              <a:t> (</a:t>
            </a:r>
            <a:r>
              <a:rPr lang="en-US" dirty="0" err="1"/>
              <a:t>fonctionnalités</a:t>
            </a:r>
            <a:r>
              <a:rPr lang="en-US" dirty="0"/>
              <a:t>, services </a:t>
            </a:r>
            <a:r>
              <a:rPr lang="en-US" dirty="0" err="1"/>
              <a:t>attendus</a:t>
            </a:r>
            <a:r>
              <a:rPr lang="en-US" dirty="0"/>
              <a:t>)</a:t>
            </a:r>
          </a:p>
          <a:p>
            <a:pPr>
              <a:lnSpc>
                <a:spcPct val="250000"/>
              </a:lnSpc>
            </a:pPr>
            <a:r>
              <a:rPr lang="en-US" dirty="0" err="1"/>
              <a:t>Cette</a:t>
            </a:r>
            <a:r>
              <a:rPr lang="en-US" dirty="0"/>
              <a:t> </a:t>
            </a:r>
            <a:r>
              <a:rPr lang="en-US" dirty="0" err="1"/>
              <a:t>analyse</a:t>
            </a:r>
            <a:r>
              <a:rPr lang="en-US" dirty="0"/>
              <a:t> </a:t>
            </a:r>
            <a:r>
              <a:rPr lang="en-US" dirty="0" err="1"/>
              <a:t>précède</a:t>
            </a:r>
            <a:r>
              <a:rPr lang="en-US" dirty="0"/>
              <a:t> la conception technique et </a:t>
            </a:r>
            <a:r>
              <a:rPr lang="en-US" dirty="0" err="1"/>
              <a:t>visuelle</a:t>
            </a:r>
            <a:r>
              <a:rPr lang="en-US" dirty="0"/>
              <a:t>.</a:t>
            </a:r>
          </a:p>
          <a:p>
            <a:pPr marL="0" algn="l" rtl="0">
              <a:lnSpc>
                <a:spcPct val="250000"/>
              </a:lnSpc>
            </a:pPr>
            <a:endParaRPr lang="en-DZ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F4FFD-C5B2-F4AE-EA96-0D24F63C1A5F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D52B38-0AD2-C1A6-6CCC-95713F1500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12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1690382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EA2D5-14FC-039B-DFCA-DEEFA98B8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292" y="289825"/>
            <a:ext cx="9450705" cy="1292662"/>
          </a:xfrm>
        </p:spPr>
        <p:txBody>
          <a:bodyPr/>
          <a:lstStyle/>
          <a:p>
            <a:pPr algn="ctr"/>
            <a:r>
              <a:rPr lang="en-US" b="1" dirty="0" err="1"/>
              <a:t>Analyse</a:t>
            </a:r>
            <a:r>
              <a:rPr lang="en-US" b="1" dirty="0"/>
              <a:t> des </a:t>
            </a:r>
            <a:r>
              <a:rPr lang="en-US" b="1" dirty="0" err="1"/>
              <a:t>besoins</a:t>
            </a:r>
            <a:r>
              <a:rPr lang="en-US" b="1" dirty="0"/>
              <a:t> et cahier des charges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83585-E8D7-90B4-AF16-7060C26D3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292" y="1981199"/>
            <a:ext cx="10494645" cy="4350550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en-US" b="1" i="1" u="sng" dirty="0">
                <a:solidFill>
                  <a:srgbClr val="005E4F"/>
                </a:solidFill>
              </a:rPr>
              <a:t>Les </a:t>
            </a:r>
            <a:r>
              <a:rPr lang="en-US" b="1" i="1" u="sng" dirty="0" err="1">
                <a:solidFill>
                  <a:srgbClr val="005E4F"/>
                </a:solidFill>
              </a:rPr>
              <a:t>enjeux</a:t>
            </a:r>
            <a:r>
              <a:rPr lang="en-US" b="1" i="1" u="sng" dirty="0">
                <a:solidFill>
                  <a:srgbClr val="005E4F"/>
                </a:solidFill>
              </a:rPr>
              <a:t> </a:t>
            </a:r>
            <a:r>
              <a:rPr lang="en-US" b="1" i="1" u="sng" dirty="0" err="1">
                <a:solidFill>
                  <a:srgbClr val="005E4F"/>
                </a:solidFill>
              </a:rPr>
              <a:t>d’une</a:t>
            </a:r>
            <a:r>
              <a:rPr lang="en-US" b="1" i="1" u="sng" dirty="0">
                <a:solidFill>
                  <a:srgbClr val="005E4F"/>
                </a:solidFill>
              </a:rPr>
              <a:t> bonne </a:t>
            </a:r>
            <a:r>
              <a:rPr lang="en-US" b="1" i="1" u="sng" dirty="0" err="1">
                <a:solidFill>
                  <a:srgbClr val="005E4F"/>
                </a:solidFill>
              </a:rPr>
              <a:t>analyse</a:t>
            </a:r>
            <a:endParaRPr lang="en-US" b="1" i="1" u="sng" dirty="0">
              <a:solidFill>
                <a:srgbClr val="005E4F"/>
              </a:solidFill>
            </a:endParaRP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Réduire</a:t>
            </a:r>
            <a:r>
              <a:rPr lang="en-US" sz="2000" dirty="0"/>
              <a:t> les </a:t>
            </a:r>
            <a:r>
              <a:rPr lang="en-US" sz="2000" dirty="0" err="1"/>
              <a:t>coûts</a:t>
            </a:r>
            <a:r>
              <a:rPr lang="en-US" sz="2000" dirty="0"/>
              <a:t> et le temps de </a:t>
            </a:r>
            <a:r>
              <a:rPr lang="en-US" sz="2000" dirty="0" err="1"/>
              <a:t>développement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Améliorer</a:t>
            </a:r>
            <a:r>
              <a:rPr lang="en-US" sz="2000" dirty="0"/>
              <a:t> la </a:t>
            </a:r>
            <a:r>
              <a:rPr lang="en-US" sz="2000" dirty="0" err="1"/>
              <a:t>qualité</a:t>
            </a:r>
            <a:r>
              <a:rPr lang="en-US" sz="2000" dirty="0"/>
              <a:t> et </a:t>
            </a:r>
            <a:r>
              <a:rPr lang="en-US" sz="2000" dirty="0" err="1"/>
              <a:t>l’adéquation</a:t>
            </a:r>
            <a:r>
              <a:rPr lang="en-US" sz="2000" dirty="0"/>
              <a:t> du </a:t>
            </a:r>
            <a:r>
              <a:rPr lang="en-US" sz="2000" dirty="0" err="1"/>
              <a:t>produit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Faciliter</a:t>
            </a:r>
            <a:r>
              <a:rPr lang="en-US" sz="2000" dirty="0"/>
              <a:t> la communication entre les parties </a:t>
            </a:r>
            <a:r>
              <a:rPr lang="en-US" sz="2000" dirty="0" err="1"/>
              <a:t>prenantes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Limiter les </a:t>
            </a:r>
            <a:r>
              <a:rPr lang="en-US" sz="2000" dirty="0" err="1"/>
              <a:t>risques</a:t>
            </a:r>
            <a:r>
              <a:rPr lang="en-US" sz="2000" dirty="0"/>
              <a:t> </a:t>
            </a:r>
            <a:r>
              <a:rPr lang="en-US" sz="2000" dirty="0" err="1"/>
              <a:t>d’échec</a:t>
            </a:r>
            <a:r>
              <a:rPr lang="en-US" sz="2000" dirty="0"/>
              <a:t> </a:t>
            </a:r>
            <a:r>
              <a:rPr lang="en-US" sz="2000" dirty="0" err="1"/>
              <a:t>ou</a:t>
            </a:r>
            <a:r>
              <a:rPr lang="en-US" sz="2000" dirty="0"/>
              <a:t> de </a:t>
            </a:r>
            <a:r>
              <a:rPr lang="en-US" sz="2000" dirty="0" err="1"/>
              <a:t>mauvaise</a:t>
            </a:r>
            <a:r>
              <a:rPr lang="en-US" sz="2000" dirty="0"/>
              <a:t> </a:t>
            </a:r>
            <a:r>
              <a:rPr lang="en-US" sz="2000" dirty="0" err="1"/>
              <a:t>ergonomie</a:t>
            </a:r>
            <a:r>
              <a:rPr lang="en-US" sz="2000" dirty="0"/>
              <a:t>.</a:t>
            </a:r>
          </a:p>
          <a:p>
            <a:pPr>
              <a:lnSpc>
                <a:spcPct val="250000"/>
              </a:lnSpc>
            </a:pPr>
            <a:endParaRPr lang="en-DZ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F4FFD-C5B2-F4AE-EA96-0D24F63C1A5F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D52B38-0AD2-C1A6-6CCC-95713F1500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13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2604444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D93CB-E3B8-57DB-1CAA-DEE21BCEF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Acteurs</a:t>
            </a:r>
            <a:r>
              <a:rPr lang="en-US" dirty="0"/>
              <a:t> </a:t>
            </a:r>
            <a:r>
              <a:rPr lang="en-US" dirty="0" err="1"/>
              <a:t>impliqués</a:t>
            </a:r>
            <a:endParaRPr lang="en-DZ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D7A77-994E-C90F-D10E-6671EFABEC7D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51FBB-3E98-957A-643A-3E0DD8CF023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14</a:t>
            </a:fld>
            <a:endParaRPr lang="en-DZ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88F4FD-433C-232E-A9F5-91537E322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207992"/>
              </p:ext>
            </p:extLst>
          </p:nvPr>
        </p:nvGraphicFramePr>
        <p:xfrm>
          <a:off x="712788" y="2607310"/>
          <a:ext cx="10493374" cy="2468880"/>
        </p:xfrm>
        <a:graphic>
          <a:graphicData uri="http://schemas.openxmlformats.org/drawingml/2006/table">
            <a:tbl>
              <a:tblPr/>
              <a:tblGrid>
                <a:gridCol w="5246687">
                  <a:extLst>
                    <a:ext uri="{9D8B030D-6E8A-4147-A177-3AD203B41FA5}">
                      <a16:colId xmlns:a16="http://schemas.microsoft.com/office/drawing/2014/main" val="3644555244"/>
                    </a:ext>
                  </a:extLst>
                </a:gridCol>
                <a:gridCol w="5246687">
                  <a:extLst>
                    <a:ext uri="{9D8B030D-6E8A-4147-A177-3AD203B41FA5}">
                      <a16:colId xmlns:a16="http://schemas.microsoft.com/office/drawing/2014/main" val="91280586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Rôle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Responsabilités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principales</a:t>
                      </a:r>
                      <a:endParaRPr 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98755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/>
                        <a:t>Client / Commanditaire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Exprime les besoins, valide le projet.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34035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/>
                        <a:t>Chef de projet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Coordonne, planifie, valide les livrables.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8131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/>
                        <a:t>Concepteur UX/UI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Analyse les besoins utilisateurs, conçoit les interfaces.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5073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/>
                        <a:t>Développeur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Implémente les fonctionnalités techniques.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79383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b="1"/>
                        <a:t>Utilisateur final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Interagit</a:t>
                      </a:r>
                      <a:r>
                        <a:rPr lang="en-US" sz="1800" dirty="0"/>
                        <a:t> avec le </a:t>
                      </a:r>
                      <a:r>
                        <a:rPr lang="en-US" sz="1800" dirty="0" err="1"/>
                        <a:t>produit</a:t>
                      </a:r>
                      <a:r>
                        <a:rPr lang="en-US" sz="1800" dirty="0"/>
                        <a:t> ; son retour </a:t>
                      </a:r>
                      <a:r>
                        <a:rPr lang="en-US" sz="1800" dirty="0" err="1"/>
                        <a:t>oriente</a:t>
                      </a:r>
                      <a:r>
                        <a:rPr lang="en-US" sz="1800" dirty="0"/>
                        <a:t> la conception.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9356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956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8B02E-8571-0181-CAB7-B47DCE3B7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5" y="289825"/>
            <a:ext cx="9450705" cy="1292662"/>
          </a:xfrm>
        </p:spPr>
        <p:txBody>
          <a:bodyPr/>
          <a:lstStyle/>
          <a:p>
            <a:pPr algn="ctr"/>
            <a:r>
              <a:rPr lang="en-US" dirty="0" err="1"/>
              <a:t>Méthodes</a:t>
            </a:r>
            <a:r>
              <a:rPr lang="en-US" dirty="0"/>
              <a:t> de </a:t>
            </a:r>
            <a:r>
              <a:rPr lang="en-US" dirty="0" err="1"/>
              <a:t>recueil</a:t>
            </a:r>
            <a:r>
              <a:rPr lang="en-US" dirty="0"/>
              <a:t> des </a:t>
            </a:r>
            <a:r>
              <a:rPr lang="en-US" dirty="0" err="1"/>
              <a:t>besoins</a:t>
            </a:r>
            <a:endParaRPr lang="en-DZ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466B8-FE11-DC3E-3982-E96B7CBC180D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3AD33-865E-94F7-25E9-247C9770A10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15</a:t>
            </a:fld>
            <a:endParaRPr lang="en-DZ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A5E7A46-BC66-5B7A-6EA0-2342604F3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848628"/>
              </p:ext>
            </p:extLst>
          </p:nvPr>
        </p:nvGraphicFramePr>
        <p:xfrm>
          <a:off x="712788" y="2195830"/>
          <a:ext cx="10493376" cy="3291840"/>
        </p:xfrm>
        <a:graphic>
          <a:graphicData uri="http://schemas.openxmlformats.org/drawingml/2006/table">
            <a:tbl>
              <a:tblPr/>
              <a:tblGrid>
                <a:gridCol w="2623344">
                  <a:extLst>
                    <a:ext uri="{9D8B030D-6E8A-4147-A177-3AD203B41FA5}">
                      <a16:colId xmlns:a16="http://schemas.microsoft.com/office/drawing/2014/main" val="2613745619"/>
                    </a:ext>
                  </a:extLst>
                </a:gridCol>
                <a:gridCol w="2623344">
                  <a:extLst>
                    <a:ext uri="{9D8B030D-6E8A-4147-A177-3AD203B41FA5}">
                      <a16:colId xmlns:a16="http://schemas.microsoft.com/office/drawing/2014/main" val="1404195757"/>
                    </a:ext>
                  </a:extLst>
                </a:gridCol>
                <a:gridCol w="2623344">
                  <a:extLst>
                    <a:ext uri="{9D8B030D-6E8A-4147-A177-3AD203B41FA5}">
                      <a16:colId xmlns:a16="http://schemas.microsoft.com/office/drawing/2014/main" val="3021598045"/>
                    </a:ext>
                  </a:extLst>
                </a:gridCol>
                <a:gridCol w="2623344">
                  <a:extLst>
                    <a:ext uri="{9D8B030D-6E8A-4147-A177-3AD203B41FA5}">
                      <a16:colId xmlns:a16="http://schemas.microsoft.com/office/drawing/2014/main" val="2471864138"/>
                    </a:ext>
                  </a:extLst>
                </a:gridCol>
              </a:tblGrid>
              <a:tr h="166370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Méthode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Avantages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Limites</a:t>
                      </a:r>
                      <a:endParaRPr 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37442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b="1"/>
                        <a:t>Entretien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Discussion avec les utilisateurs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Permet de comprendre le 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Long et nécessite de bonnes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15677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b="1"/>
                        <a:t>Questionnaire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Formulaire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structuré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Collecte quantitative rapide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Peu de détails qualitatifs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394403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b="1"/>
                        <a:t>Observation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Étude du </a:t>
                      </a:r>
                      <a:r>
                        <a:rPr lang="en-US" sz="1800" dirty="0" err="1"/>
                        <a:t>comportement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réel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Révèle les usages cachés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Nécessite du temps sur le terrain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6108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/>
                        <a:t>Atelier de co-conception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Travail </a:t>
                      </a:r>
                      <a:r>
                        <a:rPr lang="en-US" sz="1800" dirty="0" err="1"/>
                        <a:t>collaboratif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Crée une vision partagée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Doit être bien animé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82391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b="1"/>
                        <a:t>Benchmark concurrentiel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Étude de solutions similaires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Aide à se positionner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Risque</a:t>
                      </a:r>
                      <a:r>
                        <a:rPr lang="en-US" sz="1800" dirty="0"/>
                        <a:t> de copier sans </a:t>
                      </a:r>
                      <a:r>
                        <a:rPr lang="en-US" sz="1800" dirty="0" err="1"/>
                        <a:t>innover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593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416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AC7B5-94A5-72D9-313F-9915AC61D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Typologie</a:t>
            </a:r>
            <a:r>
              <a:rPr lang="en-US" dirty="0"/>
              <a:t> des </a:t>
            </a:r>
            <a:r>
              <a:rPr lang="en-US" dirty="0" err="1"/>
              <a:t>besoins</a:t>
            </a:r>
            <a:endParaRPr lang="en-DZ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7E88D-5BE4-64DB-A556-29B2C45324E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10003-2EAB-9DE8-E083-B9EE4E626AC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16</a:t>
            </a:fld>
            <a:endParaRPr lang="en-DZ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B1E12AB-393C-6BC3-7C1F-7FF6AD596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041125"/>
              </p:ext>
            </p:extLst>
          </p:nvPr>
        </p:nvGraphicFramePr>
        <p:xfrm>
          <a:off x="712788" y="2515870"/>
          <a:ext cx="10493376" cy="2651760"/>
        </p:xfrm>
        <a:graphic>
          <a:graphicData uri="http://schemas.openxmlformats.org/drawingml/2006/table">
            <a:tbl>
              <a:tblPr/>
              <a:tblGrid>
                <a:gridCol w="2563812">
                  <a:extLst>
                    <a:ext uri="{9D8B030D-6E8A-4147-A177-3AD203B41FA5}">
                      <a16:colId xmlns:a16="http://schemas.microsoft.com/office/drawing/2014/main" val="3531079087"/>
                    </a:ext>
                  </a:extLst>
                </a:gridCol>
                <a:gridCol w="4431772">
                  <a:extLst>
                    <a:ext uri="{9D8B030D-6E8A-4147-A177-3AD203B41FA5}">
                      <a16:colId xmlns:a16="http://schemas.microsoft.com/office/drawing/2014/main" val="2223559145"/>
                    </a:ext>
                  </a:extLst>
                </a:gridCol>
                <a:gridCol w="3497792">
                  <a:extLst>
                    <a:ext uri="{9D8B030D-6E8A-4147-A177-3AD203B41FA5}">
                      <a16:colId xmlns:a16="http://schemas.microsoft.com/office/drawing/2014/main" val="137680237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Type de </a:t>
                      </a:r>
                      <a:r>
                        <a:rPr lang="en-US" sz="1800" b="1" dirty="0" err="1"/>
                        <a:t>besoin</a:t>
                      </a:r>
                      <a:endParaRPr 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Objectif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Exemple</a:t>
                      </a:r>
                      <a:endParaRPr 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22514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/>
                        <a:t>Fonctionnel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Ce que le système doit faire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L’utilisateur peut créer un compte.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21159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b="1"/>
                        <a:t>Non fonctionnel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Qualités</a:t>
                      </a:r>
                      <a:r>
                        <a:rPr lang="en-US" sz="1800" dirty="0"/>
                        <a:t> du </a:t>
                      </a:r>
                      <a:r>
                        <a:rPr lang="en-US" sz="1800" dirty="0" err="1"/>
                        <a:t>système</a:t>
                      </a:r>
                      <a:r>
                        <a:rPr lang="en-US" sz="1800" dirty="0"/>
                        <a:t> (performance, </a:t>
                      </a:r>
                      <a:r>
                        <a:rPr lang="en-US" sz="1800" dirty="0" err="1"/>
                        <a:t>accessibilité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sécurité</a:t>
                      </a:r>
                      <a:r>
                        <a:rPr lang="en-US" sz="18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Le site doit charger en moins de 2s.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593930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b="1"/>
                        <a:t>Technique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Contraintes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liées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à</a:t>
                      </a:r>
                      <a:r>
                        <a:rPr lang="en-US" sz="1800" dirty="0"/>
                        <a:t> la </a:t>
                      </a:r>
                      <a:r>
                        <a:rPr lang="en-US" sz="1800" dirty="0" err="1"/>
                        <a:t>technologie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ou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à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l’infrastructure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L’application doit être développée en React.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96783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b="1"/>
                        <a:t>Organisationnel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Contraintes internes du client ou des équipes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Le service </a:t>
                      </a:r>
                      <a:r>
                        <a:rPr lang="en-US" sz="1800" dirty="0" err="1"/>
                        <a:t>informatique</a:t>
                      </a:r>
                      <a:r>
                        <a:rPr lang="en-US" sz="1800" dirty="0"/>
                        <a:t> doit </a:t>
                      </a:r>
                      <a:r>
                        <a:rPr lang="en-US" sz="1800" dirty="0" err="1"/>
                        <a:t>pouvoir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déployer</a:t>
                      </a:r>
                      <a:r>
                        <a:rPr lang="en-US" sz="1800" dirty="0"/>
                        <a:t> les mises </a:t>
                      </a:r>
                      <a:r>
                        <a:rPr lang="en-US" sz="1800" dirty="0" err="1"/>
                        <a:t>à</a:t>
                      </a:r>
                      <a:r>
                        <a:rPr lang="en-US" sz="1800" dirty="0"/>
                        <a:t> jour.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513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9844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643B-CA6C-8B8A-697D-74134D409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1292662"/>
          </a:xfrm>
        </p:spPr>
        <p:txBody>
          <a:bodyPr/>
          <a:lstStyle/>
          <a:p>
            <a:pPr rtl="0"/>
            <a:r>
              <a:rPr lang="en-US" dirty="0" err="1"/>
              <a:t>Exercice</a:t>
            </a:r>
            <a:r>
              <a:rPr lang="en-US" dirty="0"/>
              <a:t> – </a:t>
            </a:r>
            <a:r>
              <a:rPr lang="en-US" dirty="0" err="1"/>
              <a:t>Analyse</a:t>
            </a:r>
            <a:r>
              <a:rPr lang="en-US" dirty="0"/>
              <a:t> des </a:t>
            </a:r>
            <a:r>
              <a:rPr lang="en-US" dirty="0" err="1"/>
              <a:t>besoins</a:t>
            </a:r>
            <a:r>
              <a:rPr lang="en-US" dirty="0"/>
              <a:t> d’un </a:t>
            </a:r>
            <a:r>
              <a:rPr lang="en-US" dirty="0" err="1"/>
              <a:t>projet</a:t>
            </a:r>
            <a:r>
              <a:rPr lang="en-US" dirty="0"/>
              <a:t> web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6935F-B415-1D57-2488-1C7137CFF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292" y="1604899"/>
            <a:ext cx="10494645" cy="3607141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000" b="1" dirty="0" err="1"/>
              <a:t>Contexte</a:t>
            </a:r>
            <a:r>
              <a:rPr lang="en-US" sz="2000" b="1" dirty="0"/>
              <a:t> :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Le service des sports de </a:t>
            </a:r>
            <a:r>
              <a:rPr lang="en-US" sz="2000" dirty="0" err="1"/>
              <a:t>votre</a:t>
            </a:r>
            <a:r>
              <a:rPr lang="en-US" sz="2000" dirty="0"/>
              <a:t> </a:t>
            </a:r>
            <a:r>
              <a:rPr lang="en-US" sz="2000" dirty="0" err="1"/>
              <a:t>université</a:t>
            </a:r>
            <a:r>
              <a:rPr lang="en-US" sz="2000" dirty="0"/>
              <a:t> </a:t>
            </a:r>
            <a:r>
              <a:rPr lang="en-US" sz="2000" dirty="0" err="1"/>
              <a:t>souhaite</a:t>
            </a:r>
            <a:r>
              <a:rPr lang="en-US" sz="2000" dirty="0"/>
              <a:t> disposer d’un </a:t>
            </a:r>
            <a:r>
              <a:rPr lang="en-US" sz="2000" b="1" dirty="0"/>
              <a:t>site web </a:t>
            </a:r>
            <a:r>
              <a:rPr lang="en-US" sz="2000" b="1" dirty="0" err="1"/>
              <a:t>officiel</a:t>
            </a:r>
            <a:r>
              <a:rPr lang="en-US" sz="2000" b="1" dirty="0"/>
              <a:t> pour son club sportif </a:t>
            </a:r>
            <a:r>
              <a:rPr lang="en-US" sz="2000" b="1" dirty="0" err="1"/>
              <a:t>universitaire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Ce site doit </a:t>
            </a:r>
            <a:r>
              <a:rPr lang="en-US" sz="2000" dirty="0" err="1"/>
              <a:t>permettre</a:t>
            </a:r>
            <a:r>
              <a:rPr lang="en-US" sz="2000" dirty="0"/>
              <a:t> de </a:t>
            </a:r>
            <a:r>
              <a:rPr lang="en-US" sz="2000" dirty="0" err="1"/>
              <a:t>promouvoir</a:t>
            </a:r>
            <a:r>
              <a:rPr lang="en-US" sz="2000" dirty="0"/>
              <a:t> les </a:t>
            </a:r>
            <a:r>
              <a:rPr lang="en-US" sz="2000" dirty="0" err="1"/>
              <a:t>activités</a:t>
            </a:r>
            <a:r>
              <a:rPr lang="en-US" sz="2000" dirty="0"/>
              <a:t> </a:t>
            </a:r>
            <a:r>
              <a:rPr lang="en-US" sz="2000" dirty="0" err="1"/>
              <a:t>sportives</a:t>
            </a:r>
            <a:r>
              <a:rPr lang="en-US" sz="2000" dirty="0"/>
              <a:t>, </a:t>
            </a:r>
            <a:r>
              <a:rPr lang="en-US" sz="2000" dirty="0" err="1"/>
              <a:t>d’informer</a:t>
            </a:r>
            <a:r>
              <a:rPr lang="en-US" sz="2000" dirty="0"/>
              <a:t> les </a:t>
            </a:r>
            <a:r>
              <a:rPr lang="en-US" sz="2000" dirty="0" err="1"/>
              <a:t>étudiants</a:t>
            </a:r>
            <a:r>
              <a:rPr lang="en-US" sz="2000" dirty="0"/>
              <a:t>, et de </a:t>
            </a:r>
            <a:r>
              <a:rPr lang="en-US" sz="2000" dirty="0" err="1"/>
              <a:t>faciliter</a:t>
            </a:r>
            <a:r>
              <a:rPr lang="en-US" sz="2000" dirty="0"/>
              <a:t> la gestion des inscriptions aux </a:t>
            </a:r>
            <a:r>
              <a:rPr lang="en-US" sz="2000" dirty="0" err="1"/>
              <a:t>différentes</a:t>
            </a:r>
            <a:r>
              <a:rPr lang="en-US" sz="2000" dirty="0"/>
              <a:t> disciplines.</a:t>
            </a:r>
          </a:p>
          <a:p>
            <a:pPr marL="0" algn="l" rtl="0">
              <a:lnSpc>
                <a:spcPct val="200000"/>
              </a:lnSpc>
            </a:pPr>
            <a:endParaRPr lang="en-DZ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3D002-153A-FD4A-36B6-C2854FC5738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0D5D6F-98F8-A73F-E7D1-524FB12EFD8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17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298214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A3878-2AE4-C478-A806-7E5BAB9CB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292" y="1604899"/>
            <a:ext cx="10494645" cy="483824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000" b="1" dirty="0"/>
              <a:t>Travail </a:t>
            </a:r>
            <a:r>
              <a:rPr lang="en-US" sz="2000" b="1" dirty="0" err="1"/>
              <a:t>demandé</a:t>
            </a:r>
            <a:r>
              <a:rPr lang="en-US" sz="2000" b="1" dirty="0"/>
              <a:t> :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000" b="1" dirty="0" err="1"/>
              <a:t>Analyse</a:t>
            </a:r>
            <a:r>
              <a:rPr lang="en-US" sz="2000" b="1" dirty="0"/>
              <a:t> du </a:t>
            </a:r>
            <a:r>
              <a:rPr lang="en-US" sz="2000" b="1" dirty="0" err="1"/>
              <a:t>contexte</a:t>
            </a:r>
            <a:r>
              <a:rPr lang="en-US" sz="2000" b="1" dirty="0"/>
              <a:t> et des </a:t>
            </a:r>
            <a:r>
              <a:rPr lang="en-US" sz="2000" b="1" dirty="0" err="1"/>
              <a:t>objectifs</a:t>
            </a:r>
            <a:r>
              <a:rPr lang="en-US" sz="2000" b="1" dirty="0"/>
              <a:t> :</a:t>
            </a:r>
            <a:endParaRPr lang="en-US" sz="2000" dirty="0"/>
          </a:p>
          <a:p>
            <a:pPr marL="742950" lvl="1" indent="-285750">
              <a:lnSpc>
                <a:spcPct val="200000"/>
              </a:lnSpc>
              <a:buFont typeface="+mj-lt"/>
              <a:buAutoNum type="arabicPeriod"/>
            </a:pPr>
            <a:r>
              <a:rPr lang="en-US" sz="2000" dirty="0" err="1"/>
              <a:t>Expliquez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quelques</a:t>
            </a:r>
            <a:r>
              <a:rPr lang="en-US" sz="2000" dirty="0"/>
              <a:t> </a:t>
            </a:r>
            <a:r>
              <a:rPr lang="en-US" sz="2000" dirty="0" err="1"/>
              <a:t>lignes</a:t>
            </a:r>
            <a:r>
              <a:rPr lang="en-US" sz="2000" dirty="0"/>
              <a:t> les </a:t>
            </a:r>
            <a:r>
              <a:rPr lang="en-US" sz="2000" b="1" dirty="0"/>
              <a:t>raisons</a:t>
            </a:r>
            <a:r>
              <a:rPr lang="en-US" sz="2000" dirty="0"/>
              <a:t> de la </a:t>
            </a:r>
            <a:r>
              <a:rPr lang="en-US" sz="2000" dirty="0" err="1"/>
              <a:t>création</a:t>
            </a:r>
            <a:r>
              <a:rPr lang="en-US" sz="2000" dirty="0"/>
              <a:t> du site </a:t>
            </a:r>
          </a:p>
          <a:p>
            <a:pPr marL="742950" lvl="1" indent="-285750">
              <a:lnSpc>
                <a:spcPct val="200000"/>
              </a:lnSpc>
              <a:buFont typeface="+mj-lt"/>
              <a:buAutoNum type="arabicPeriod"/>
            </a:pPr>
            <a:r>
              <a:rPr lang="en-US" sz="2000" dirty="0" err="1"/>
              <a:t>Définissez</a:t>
            </a:r>
            <a:r>
              <a:rPr lang="en-US" sz="2000" dirty="0"/>
              <a:t> </a:t>
            </a:r>
            <a:r>
              <a:rPr lang="en-US" sz="2000" b="1" dirty="0"/>
              <a:t>3 </a:t>
            </a:r>
            <a:r>
              <a:rPr lang="en-US" sz="2000" b="1" dirty="0" err="1"/>
              <a:t>à</a:t>
            </a:r>
            <a:r>
              <a:rPr lang="en-US" sz="2000" b="1" dirty="0"/>
              <a:t> 5 </a:t>
            </a:r>
            <a:r>
              <a:rPr lang="en-US" sz="2000" b="1" dirty="0" err="1"/>
              <a:t>objectifs</a:t>
            </a:r>
            <a:r>
              <a:rPr lang="en-US" sz="2000" b="1" dirty="0"/>
              <a:t> </a:t>
            </a:r>
            <a:r>
              <a:rPr lang="en-US" sz="2000" b="1" dirty="0" err="1"/>
              <a:t>principaux</a:t>
            </a:r>
            <a:r>
              <a:rPr lang="en-US" sz="2000" dirty="0"/>
              <a:t> du </a:t>
            </a:r>
            <a:r>
              <a:rPr lang="en-US" sz="2000" dirty="0" err="1"/>
              <a:t>projet</a:t>
            </a:r>
            <a:endParaRPr lang="en-US" sz="2000" dirty="0"/>
          </a:p>
          <a:p>
            <a:pPr>
              <a:lnSpc>
                <a:spcPct val="200000"/>
              </a:lnSpc>
            </a:pPr>
            <a:r>
              <a:rPr lang="en-US" sz="2000" b="1" dirty="0"/>
              <a:t>2. Identification des </a:t>
            </a:r>
            <a:r>
              <a:rPr lang="en-US" sz="2000" b="1" dirty="0" err="1"/>
              <a:t>utilisateurs</a:t>
            </a:r>
            <a:r>
              <a:rPr lang="en-US" sz="2000" b="1" dirty="0"/>
              <a:t> </a:t>
            </a:r>
            <a:r>
              <a:rPr lang="en-US" sz="2000" b="1" dirty="0" err="1"/>
              <a:t>cibles</a:t>
            </a:r>
            <a:r>
              <a:rPr lang="en-US" sz="2000" b="1" dirty="0"/>
              <a:t> :</a:t>
            </a:r>
            <a:endParaRPr lang="en-US" sz="2000" dirty="0"/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Dressez</a:t>
            </a:r>
            <a:r>
              <a:rPr lang="en-US" sz="2000" dirty="0"/>
              <a:t> </a:t>
            </a:r>
            <a:r>
              <a:rPr lang="en-US" sz="2000" dirty="0" err="1"/>
              <a:t>une</a:t>
            </a:r>
            <a:r>
              <a:rPr lang="en-US" sz="2000" dirty="0"/>
              <a:t> </a:t>
            </a:r>
            <a:r>
              <a:rPr lang="en-US" sz="2000" b="1" dirty="0" err="1"/>
              <a:t>liste</a:t>
            </a:r>
            <a:r>
              <a:rPr lang="en-US" sz="2000" b="1" dirty="0"/>
              <a:t> des </a:t>
            </a:r>
            <a:r>
              <a:rPr lang="en-US" sz="2000" b="1" dirty="0" err="1"/>
              <a:t>profils</a:t>
            </a:r>
            <a:r>
              <a:rPr lang="en-US" sz="2000" b="1" dirty="0"/>
              <a:t> </a:t>
            </a:r>
            <a:r>
              <a:rPr lang="en-US" sz="2000" b="1" dirty="0" err="1"/>
              <a:t>d’utilisateurs</a:t>
            </a:r>
            <a:r>
              <a:rPr lang="en-US" sz="2000" dirty="0"/>
              <a:t> </a:t>
            </a:r>
            <a:r>
              <a:rPr lang="en-US" sz="2000" dirty="0" err="1"/>
              <a:t>susceptibles</a:t>
            </a:r>
            <a:r>
              <a:rPr lang="en-US" sz="2000" dirty="0"/>
              <a:t> </a:t>
            </a:r>
            <a:r>
              <a:rPr lang="en-US" sz="2000" dirty="0" err="1"/>
              <a:t>d’utiliser</a:t>
            </a:r>
            <a:r>
              <a:rPr lang="en-US" sz="2000" dirty="0"/>
              <a:t> le site </a:t>
            </a: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Pour </a:t>
            </a:r>
            <a:r>
              <a:rPr lang="en-US" sz="2000" dirty="0" err="1"/>
              <a:t>chaque</a:t>
            </a:r>
            <a:r>
              <a:rPr lang="en-US" sz="2000" dirty="0"/>
              <a:t> type </a:t>
            </a:r>
            <a:r>
              <a:rPr lang="en-US" sz="2000" dirty="0" err="1"/>
              <a:t>d’utilisateur</a:t>
            </a:r>
            <a:r>
              <a:rPr lang="en-US" sz="2000" dirty="0"/>
              <a:t>, </a:t>
            </a:r>
            <a:r>
              <a:rPr lang="en-US" sz="2000" dirty="0" err="1"/>
              <a:t>précisez</a:t>
            </a:r>
            <a:r>
              <a:rPr lang="en-US" sz="2000" dirty="0"/>
              <a:t> </a:t>
            </a:r>
            <a:r>
              <a:rPr lang="en-US" sz="2000" dirty="0" err="1"/>
              <a:t>ses</a:t>
            </a:r>
            <a:r>
              <a:rPr lang="en-US" sz="2000" dirty="0"/>
              <a:t> </a:t>
            </a:r>
            <a:r>
              <a:rPr lang="en-US" sz="2000" b="1" dirty="0" err="1"/>
              <a:t>besoins</a:t>
            </a:r>
            <a:r>
              <a:rPr lang="en-US" sz="2000" b="1" dirty="0"/>
              <a:t> </a:t>
            </a:r>
            <a:r>
              <a:rPr lang="en-US" sz="2000" b="1" dirty="0" err="1"/>
              <a:t>spécifiques</a:t>
            </a:r>
            <a:r>
              <a:rPr lang="en-US" sz="2000" dirty="0"/>
              <a:t> et </a:t>
            </a:r>
            <a:r>
              <a:rPr lang="en-US" sz="2000" dirty="0" err="1"/>
              <a:t>ses</a:t>
            </a:r>
            <a:r>
              <a:rPr lang="en-US" sz="2000" dirty="0"/>
              <a:t> </a:t>
            </a:r>
            <a:r>
              <a:rPr lang="en-US" sz="2000" b="1" dirty="0"/>
              <a:t>motivations</a:t>
            </a:r>
            <a:r>
              <a:rPr lang="en-US" sz="2000" dirty="0"/>
              <a:t>.</a:t>
            </a:r>
          </a:p>
          <a:p>
            <a:pPr lvl="1">
              <a:lnSpc>
                <a:spcPct val="200000"/>
              </a:lnSpc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F5391-AA2E-3BF8-D269-A35D743AC5F3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86688-1F88-709C-1464-9D351CD3225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18</a:t>
            </a:fld>
            <a:endParaRPr lang="en-DZ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A109314-9599-3B49-96AE-32B15D269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1292662"/>
          </a:xfrm>
        </p:spPr>
        <p:txBody>
          <a:bodyPr/>
          <a:lstStyle/>
          <a:p>
            <a:pPr rtl="0"/>
            <a:r>
              <a:rPr lang="en-US" dirty="0" err="1"/>
              <a:t>Exercice</a:t>
            </a:r>
            <a:r>
              <a:rPr lang="en-US" dirty="0"/>
              <a:t> – </a:t>
            </a:r>
            <a:r>
              <a:rPr lang="en-US" dirty="0" err="1"/>
              <a:t>Analyse</a:t>
            </a:r>
            <a:r>
              <a:rPr lang="en-US" dirty="0"/>
              <a:t> des </a:t>
            </a:r>
            <a:r>
              <a:rPr lang="en-US" dirty="0" err="1"/>
              <a:t>besoins</a:t>
            </a:r>
            <a:r>
              <a:rPr lang="en-US" dirty="0"/>
              <a:t> d’un </a:t>
            </a:r>
            <a:r>
              <a:rPr lang="en-US" dirty="0" err="1"/>
              <a:t>projet</a:t>
            </a:r>
            <a:r>
              <a:rPr lang="en-US" dirty="0"/>
              <a:t> web</a:t>
            </a:r>
            <a:endParaRPr lang="en-DZ" dirty="0"/>
          </a:p>
        </p:txBody>
      </p:sp>
    </p:spTree>
    <p:extLst>
      <p:ext uri="{BB962C8B-B14F-4D97-AF65-F5344CB8AC3E}">
        <p14:creationId xmlns:p14="http://schemas.microsoft.com/office/powerpoint/2010/main" val="178053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A3878-2AE4-C478-A806-7E5BAB9CB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292" y="1604899"/>
            <a:ext cx="10494645" cy="4491999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en-US" sz="2000" b="1" dirty="0"/>
              <a:t>Travail </a:t>
            </a:r>
            <a:r>
              <a:rPr lang="en-US" sz="2000" b="1" dirty="0" err="1"/>
              <a:t>demandé</a:t>
            </a:r>
            <a:r>
              <a:rPr lang="en-US" sz="2000" b="1" dirty="0"/>
              <a:t> :</a:t>
            </a:r>
          </a:p>
          <a:p>
            <a:pPr>
              <a:lnSpc>
                <a:spcPct val="250000"/>
              </a:lnSpc>
            </a:pPr>
            <a:r>
              <a:rPr lang="en-US" sz="2000" b="1" dirty="0"/>
              <a:t>3. </a:t>
            </a:r>
            <a:r>
              <a:rPr lang="en-US" sz="2000" b="1" dirty="0" err="1"/>
              <a:t>Définition</a:t>
            </a:r>
            <a:r>
              <a:rPr lang="en-US" sz="2000" b="1" dirty="0"/>
              <a:t> des </a:t>
            </a:r>
            <a:r>
              <a:rPr lang="en-US" sz="2000" b="1" dirty="0" err="1"/>
              <a:t>fonctionnalités</a:t>
            </a:r>
            <a:r>
              <a:rPr lang="en-US" sz="2000" b="1" dirty="0"/>
              <a:t> </a:t>
            </a:r>
            <a:r>
              <a:rPr lang="en-US" sz="2000" b="1" dirty="0" err="1"/>
              <a:t>principales</a:t>
            </a:r>
            <a:r>
              <a:rPr lang="en-US" sz="2000" b="1" dirty="0"/>
              <a:t> :</a:t>
            </a:r>
          </a:p>
          <a:p>
            <a:pPr>
              <a:lnSpc>
                <a:spcPct val="250000"/>
              </a:lnSpc>
            </a:pPr>
            <a:r>
              <a:rPr lang="en-US" sz="2000" dirty="0" err="1"/>
              <a:t>Listez</a:t>
            </a:r>
            <a:r>
              <a:rPr lang="en-US" sz="2000" dirty="0"/>
              <a:t> au minimum </a:t>
            </a:r>
            <a:r>
              <a:rPr lang="en-US" sz="2000" b="1" dirty="0"/>
              <a:t>5 </a:t>
            </a:r>
            <a:r>
              <a:rPr lang="en-US" sz="2000" b="1" dirty="0" err="1"/>
              <a:t>fonctionnalités</a:t>
            </a:r>
            <a:r>
              <a:rPr lang="en-US" sz="2000" b="1" dirty="0"/>
              <a:t> </a:t>
            </a:r>
            <a:r>
              <a:rPr lang="en-US" sz="2000" b="1" dirty="0" err="1"/>
              <a:t>essentielles</a:t>
            </a:r>
            <a:r>
              <a:rPr lang="en-US" sz="2000" dirty="0"/>
              <a:t> que le site </a:t>
            </a:r>
            <a:r>
              <a:rPr lang="en-US" sz="2000" dirty="0" err="1"/>
              <a:t>devra</a:t>
            </a:r>
            <a:r>
              <a:rPr lang="en-US" sz="2000" dirty="0"/>
              <a:t> </a:t>
            </a:r>
            <a:r>
              <a:rPr lang="en-US" sz="2000" dirty="0" err="1"/>
              <a:t>offrir</a:t>
            </a:r>
            <a:r>
              <a:rPr lang="en-US" sz="2000" dirty="0"/>
              <a:t> (ex. </a:t>
            </a:r>
            <a:r>
              <a:rPr lang="en-US" sz="2000" dirty="0" err="1"/>
              <a:t>calendrier</a:t>
            </a:r>
            <a:r>
              <a:rPr lang="en-US" sz="2000" dirty="0"/>
              <a:t> des </a:t>
            </a:r>
            <a:r>
              <a:rPr lang="en-US" sz="2000" dirty="0" err="1"/>
              <a:t>compétitions</a:t>
            </a:r>
            <a:r>
              <a:rPr lang="en-US" sz="2000" dirty="0"/>
              <a:t>, </a:t>
            </a:r>
            <a:r>
              <a:rPr lang="en-US" sz="2000" dirty="0" err="1"/>
              <a:t>espace</a:t>
            </a:r>
            <a:r>
              <a:rPr lang="en-US" sz="2000" dirty="0"/>
              <a:t> </a:t>
            </a:r>
            <a:r>
              <a:rPr lang="en-US" sz="2000" dirty="0" err="1"/>
              <a:t>membre</a:t>
            </a:r>
            <a:r>
              <a:rPr lang="en-US" sz="2000" dirty="0"/>
              <a:t>, </a:t>
            </a:r>
            <a:r>
              <a:rPr lang="en-US" sz="2000" dirty="0" err="1"/>
              <a:t>galerie</a:t>
            </a:r>
            <a:r>
              <a:rPr lang="en-US" sz="2000" dirty="0"/>
              <a:t> photo, </a:t>
            </a:r>
            <a:r>
              <a:rPr lang="en-US" sz="2000" dirty="0" err="1"/>
              <a:t>formulaire</a:t>
            </a:r>
            <a:r>
              <a:rPr lang="en-US" sz="2000" dirty="0"/>
              <a:t> </a:t>
            </a:r>
            <a:r>
              <a:rPr lang="en-US" sz="2000" dirty="0" err="1"/>
              <a:t>d’inscription</a:t>
            </a:r>
            <a:r>
              <a:rPr lang="en-US" sz="2000" dirty="0"/>
              <a:t>…).</a:t>
            </a:r>
          </a:p>
          <a:p>
            <a:pPr>
              <a:lnSpc>
                <a:spcPct val="250000"/>
              </a:lnSpc>
            </a:pPr>
            <a:r>
              <a:rPr lang="en-US" sz="2000" dirty="0" err="1"/>
              <a:t>Distinguez</a:t>
            </a:r>
            <a:r>
              <a:rPr lang="en-US" sz="2000" dirty="0"/>
              <a:t> les </a:t>
            </a:r>
            <a:r>
              <a:rPr lang="en-US" sz="2000" b="1" dirty="0" err="1"/>
              <a:t>fonctionnalités</a:t>
            </a:r>
            <a:r>
              <a:rPr lang="en-US" sz="2000" b="1" dirty="0"/>
              <a:t> “indispensables”</a:t>
            </a:r>
            <a:r>
              <a:rPr lang="en-US" sz="2000" dirty="0"/>
              <a:t> des </a:t>
            </a:r>
            <a:r>
              <a:rPr lang="en-US" sz="2000" b="1" dirty="0" err="1"/>
              <a:t>fonctionnalités</a:t>
            </a:r>
            <a:r>
              <a:rPr lang="en-US" sz="2000" b="1" dirty="0"/>
              <a:t> “</a:t>
            </a:r>
            <a:r>
              <a:rPr lang="en-US" sz="2000" b="1" dirty="0" err="1"/>
              <a:t>optionnelles</a:t>
            </a:r>
            <a:r>
              <a:rPr lang="en-US" sz="2000" b="1" dirty="0"/>
              <a:t>”</a:t>
            </a:r>
            <a:r>
              <a:rPr lang="en-US" sz="2000" dirty="0"/>
              <a:t>.</a:t>
            </a:r>
            <a:endParaRPr lang="en-US" sz="2000" b="1" dirty="0"/>
          </a:p>
          <a:p>
            <a:pPr>
              <a:lnSpc>
                <a:spcPct val="250000"/>
              </a:lnSpc>
            </a:pPr>
            <a:endParaRPr lang="en-US" sz="20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F5391-AA2E-3BF8-D269-A35D743AC5F3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86688-1F88-709C-1464-9D351CD3225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19</a:t>
            </a:fld>
            <a:endParaRPr lang="en-DZ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A109314-9599-3B49-96AE-32B15D269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1292662"/>
          </a:xfrm>
        </p:spPr>
        <p:txBody>
          <a:bodyPr/>
          <a:lstStyle/>
          <a:p>
            <a:pPr rtl="0"/>
            <a:r>
              <a:rPr lang="en-US" dirty="0" err="1"/>
              <a:t>Exercice</a:t>
            </a:r>
            <a:r>
              <a:rPr lang="en-US" dirty="0"/>
              <a:t> – </a:t>
            </a:r>
            <a:r>
              <a:rPr lang="en-US" dirty="0" err="1"/>
              <a:t>Analyse</a:t>
            </a:r>
            <a:r>
              <a:rPr lang="en-US" dirty="0"/>
              <a:t> des </a:t>
            </a:r>
            <a:r>
              <a:rPr lang="en-US" dirty="0" err="1"/>
              <a:t>besoins</a:t>
            </a:r>
            <a:r>
              <a:rPr lang="en-US" dirty="0"/>
              <a:t> d’un </a:t>
            </a:r>
            <a:r>
              <a:rPr lang="en-US" dirty="0" err="1"/>
              <a:t>projet</a:t>
            </a:r>
            <a:r>
              <a:rPr lang="en-US" dirty="0"/>
              <a:t> web</a:t>
            </a:r>
            <a:endParaRPr lang="en-DZ" dirty="0"/>
          </a:p>
        </p:txBody>
      </p:sp>
    </p:spTree>
    <p:extLst>
      <p:ext uri="{BB962C8B-B14F-4D97-AF65-F5344CB8AC3E}">
        <p14:creationId xmlns:p14="http://schemas.microsoft.com/office/powerpoint/2010/main" val="701754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A3878-2AE4-C478-A806-7E5BAB9CB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292" y="1604899"/>
            <a:ext cx="10494645" cy="4222694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000" b="1" dirty="0"/>
              <a:t>Travail </a:t>
            </a:r>
            <a:r>
              <a:rPr lang="en-US" sz="2000" b="1" dirty="0" err="1"/>
              <a:t>demandé</a:t>
            </a:r>
            <a:r>
              <a:rPr lang="en-US" sz="2000" b="1" dirty="0"/>
              <a:t> :</a:t>
            </a:r>
          </a:p>
          <a:p>
            <a:pPr>
              <a:lnSpc>
                <a:spcPct val="200000"/>
              </a:lnSpc>
            </a:pPr>
            <a:r>
              <a:rPr lang="en-US" sz="2000" b="1" dirty="0"/>
              <a:t>4. </a:t>
            </a:r>
            <a:r>
              <a:rPr lang="en-US" sz="2000" b="1" dirty="0" err="1"/>
              <a:t>Analyse</a:t>
            </a:r>
            <a:r>
              <a:rPr lang="en-US" sz="2000" b="1" dirty="0"/>
              <a:t> des </a:t>
            </a:r>
            <a:r>
              <a:rPr lang="en-US" sz="2000" b="1" dirty="0" err="1"/>
              <a:t>contraintes</a:t>
            </a:r>
            <a:r>
              <a:rPr lang="en-US" sz="2000" b="1" dirty="0"/>
              <a:t> :</a:t>
            </a:r>
            <a:endParaRPr lang="en-US" sz="20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Mentionnez</a:t>
            </a:r>
            <a:r>
              <a:rPr lang="en-US" sz="2000" dirty="0"/>
              <a:t> au </a:t>
            </a:r>
            <a:r>
              <a:rPr lang="en-US" sz="2000" dirty="0" err="1"/>
              <a:t>moins</a:t>
            </a:r>
            <a:r>
              <a:rPr lang="en-US" sz="2000" dirty="0"/>
              <a:t> </a:t>
            </a:r>
            <a:r>
              <a:rPr lang="en-US" sz="2000" b="1" dirty="0"/>
              <a:t>3 </a:t>
            </a:r>
            <a:r>
              <a:rPr lang="en-US" sz="2000" b="1" dirty="0" err="1"/>
              <a:t>contraintes</a:t>
            </a:r>
            <a:r>
              <a:rPr lang="en-US" sz="2000" b="1" dirty="0"/>
              <a:t> techniques et </a:t>
            </a:r>
            <a:r>
              <a:rPr lang="en-US" sz="2000" b="1" dirty="0" err="1"/>
              <a:t>organisationnelles</a:t>
            </a:r>
            <a:r>
              <a:rPr lang="en-US" sz="2000" dirty="0"/>
              <a:t> (ex. </a:t>
            </a:r>
            <a:r>
              <a:rPr lang="en-US" sz="2000" dirty="0" err="1"/>
              <a:t>hébergement</a:t>
            </a:r>
            <a:r>
              <a:rPr lang="en-US" sz="2000" dirty="0"/>
              <a:t>, </a:t>
            </a:r>
            <a:r>
              <a:rPr lang="en-US" sz="2000" dirty="0" err="1"/>
              <a:t>sécurité</a:t>
            </a:r>
            <a:r>
              <a:rPr lang="en-US" sz="2000" dirty="0"/>
              <a:t> des </a:t>
            </a:r>
            <a:r>
              <a:rPr lang="en-US" sz="2000" dirty="0" err="1"/>
              <a:t>données</a:t>
            </a:r>
            <a:r>
              <a:rPr lang="en-US" sz="2000" dirty="0"/>
              <a:t>, </a:t>
            </a:r>
            <a:r>
              <a:rPr lang="en-US" sz="2000" dirty="0" err="1"/>
              <a:t>compatibilité</a:t>
            </a:r>
            <a:r>
              <a:rPr lang="en-US" sz="2000" dirty="0"/>
              <a:t> mobile, budget, </a:t>
            </a:r>
            <a:r>
              <a:rPr lang="en-US" sz="2000" dirty="0" err="1"/>
              <a:t>délais</a:t>
            </a:r>
            <a:r>
              <a:rPr lang="en-US" sz="2000" dirty="0"/>
              <a:t>, </a:t>
            </a:r>
            <a:r>
              <a:rPr lang="en-US" sz="2000" dirty="0" err="1"/>
              <a:t>accessibilité</a:t>
            </a:r>
            <a:r>
              <a:rPr lang="en-US" sz="2000" dirty="0"/>
              <a:t>…).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Vous</a:t>
            </a:r>
            <a:r>
              <a:rPr lang="en-US" sz="2000" dirty="0"/>
              <a:t> </a:t>
            </a:r>
            <a:r>
              <a:rPr lang="en-US" sz="2000" dirty="0" err="1"/>
              <a:t>pouvez</a:t>
            </a:r>
            <a:r>
              <a:rPr lang="en-US" sz="2000" dirty="0"/>
              <a:t> </a:t>
            </a:r>
            <a:r>
              <a:rPr lang="en-US" sz="2000" dirty="0" err="1"/>
              <a:t>aussi</a:t>
            </a:r>
            <a:r>
              <a:rPr lang="en-US" sz="2000" dirty="0"/>
              <a:t> </a:t>
            </a:r>
            <a:r>
              <a:rPr lang="en-US" sz="2000" dirty="0" err="1"/>
              <a:t>évoquer</a:t>
            </a:r>
            <a:r>
              <a:rPr lang="en-US" sz="2000" dirty="0"/>
              <a:t> les </a:t>
            </a:r>
            <a:r>
              <a:rPr lang="en-US" sz="2000" dirty="0" err="1"/>
              <a:t>contraintes</a:t>
            </a:r>
            <a:r>
              <a:rPr lang="en-US" sz="2000" dirty="0"/>
              <a:t> </a:t>
            </a:r>
            <a:r>
              <a:rPr lang="en-US" sz="2000" dirty="0" err="1"/>
              <a:t>liées</a:t>
            </a:r>
            <a:r>
              <a:rPr lang="en-US" sz="2000" dirty="0"/>
              <a:t> au </a:t>
            </a:r>
            <a:r>
              <a:rPr lang="en-US" sz="2000" b="1" dirty="0" err="1"/>
              <a:t>contenu</a:t>
            </a:r>
            <a:r>
              <a:rPr lang="en-US" sz="2000" dirty="0"/>
              <a:t> (mise </a:t>
            </a:r>
            <a:r>
              <a:rPr lang="en-US" sz="2000" dirty="0" err="1"/>
              <a:t>à</a:t>
            </a:r>
            <a:r>
              <a:rPr lang="en-US" sz="2000" dirty="0"/>
              <a:t> jour, </a:t>
            </a:r>
            <a:r>
              <a:rPr lang="en-US" sz="2000" dirty="0" err="1"/>
              <a:t>modération</a:t>
            </a:r>
            <a:r>
              <a:rPr lang="en-US" sz="2000" dirty="0"/>
              <a:t>, gestion </a:t>
            </a:r>
            <a:r>
              <a:rPr lang="en-US" sz="2000" dirty="0" err="1"/>
              <a:t>d’images</a:t>
            </a:r>
            <a:r>
              <a:rPr lang="en-US" sz="2000" dirty="0"/>
              <a:t>).</a:t>
            </a:r>
          </a:p>
          <a:p>
            <a:pPr>
              <a:lnSpc>
                <a:spcPct val="200000"/>
              </a:lnSpc>
            </a:pPr>
            <a:endParaRPr lang="en-US" sz="20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F5391-AA2E-3BF8-D269-A35D743AC5F3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86688-1F88-709C-1464-9D351CD3225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20</a:t>
            </a:fld>
            <a:endParaRPr lang="en-DZ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A109314-9599-3B49-96AE-32B15D269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1292662"/>
          </a:xfrm>
        </p:spPr>
        <p:txBody>
          <a:bodyPr/>
          <a:lstStyle/>
          <a:p>
            <a:pPr rtl="0"/>
            <a:r>
              <a:rPr lang="en-US" dirty="0" err="1"/>
              <a:t>Exercice</a:t>
            </a:r>
            <a:r>
              <a:rPr lang="en-US" dirty="0"/>
              <a:t> – </a:t>
            </a:r>
            <a:r>
              <a:rPr lang="en-US" dirty="0" err="1"/>
              <a:t>Analyse</a:t>
            </a:r>
            <a:r>
              <a:rPr lang="en-US" dirty="0"/>
              <a:t> des </a:t>
            </a:r>
            <a:r>
              <a:rPr lang="en-US" dirty="0" err="1"/>
              <a:t>besoins</a:t>
            </a:r>
            <a:r>
              <a:rPr lang="en-US" dirty="0"/>
              <a:t> d’un </a:t>
            </a:r>
            <a:r>
              <a:rPr lang="en-US" dirty="0" err="1"/>
              <a:t>projet</a:t>
            </a:r>
            <a:r>
              <a:rPr lang="en-US" dirty="0"/>
              <a:t> web</a:t>
            </a:r>
            <a:endParaRPr lang="en-DZ" dirty="0"/>
          </a:p>
        </p:txBody>
      </p:sp>
    </p:spTree>
    <p:extLst>
      <p:ext uri="{BB962C8B-B14F-4D97-AF65-F5344CB8AC3E}">
        <p14:creationId xmlns:p14="http://schemas.microsoft.com/office/powerpoint/2010/main" val="895659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CB31F-5981-DFBF-457B-7C3B6DE0181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46455-6170-7CCB-70AE-83E1AAA2D0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21</a:t>
            </a:fld>
            <a:endParaRPr lang="en-DZ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C01774-7F32-4072-01CA-9B507DFE2AA0}"/>
              </a:ext>
            </a:extLst>
          </p:cNvPr>
          <p:cNvSpPr/>
          <p:nvPr/>
        </p:nvSpPr>
        <p:spPr>
          <a:xfrm>
            <a:off x="-152400" y="2057400"/>
            <a:ext cx="12344400" cy="3657600"/>
          </a:xfrm>
          <a:prstGeom prst="rect">
            <a:avLst/>
          </a:prstGeom>
          <a:solidFill>
            <a:srgbClr val="005E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540EFD-9134-3027-184E-0B37195ACC87}"/>
              </a:ext>
            </a:extLst>
          </p:cNvPr>
          <p:cNvSpPr/>
          <p:nvPr/>
        </p:nvSpPr>
        <p:spPr>
          <a:xfrm>
            <a:off x="8458200" y="2362200"/>
            <a:ext cx="3733800" cy="3352800"/>
          </a:xfrm>
          <a:prstGeom prst="ellipse">
            <a:avLst/>
          </a:prstGeom>
          <a:solidFill>
            <a:schemeClr val="bg1"/>
          </a:solidFill>
          <a:ln w="38100" cmpd="thinThick">
            <a:solidFill>
              <a:srgbClr val="FF1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035C73-7125-FA08-3A39-B8AFBE613C8F}"/>
              </a:ext>
            </a:extLst>
          </p:cNvPr>
          <p:cNvSpPr/>
          <p:nvPr/>
        </p:nvSpPr>
        <p:spPr>
          <a:xfrm>
            <a:off x="8610600" y="2514601"/>
            <a:ext cx="3429000" cy="3048000"/>
          </a:xfrm>
          <a:prstGeom prst="ellipse">
            <a:avLst/>
          </a:prstGeom>
          <a:solidFill>
            <a:schemeClr val="bg1"/>
          </a:solidFill>
          <a:ln w="38100" cmpd="thinThick">
            <a:solidFill>
              <a:srgbClr val="FF1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143940-A943-3C07-C35A-E921A1C4E4CE}"/>
              </a:ext>
            </a:extLst>
          </p:cNvPr>
          <p:cNvSpPr txBox="1"/>
          <p:nvPr/>
        </p:nvSpPr>
        <p:spPr>
          <a:xfrm>
            <a:off x="304801" y="3352800"/>
            <a:ext cx="8153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b="1" dirty="0">
                <a:solidFill>
                  <a:schemeClr val="bg1"/>
                </a:solidFill>
              </a:rPr>
              <a:t>User Stories</a:t>
            </a:r>
            <a:endParaRPr lang="fr-CA" sz="5400" b="1" dirty="0">
              <a:solidFill>
                <a:schemeClr val="bg1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004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13011-4EE4-788D-B79C-62E8B2AB1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Stories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3BBDB-EE13-62F7-4D22-5EBC4F977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292" y="1604899"/>
            <a:ext cx="10494645" cy="6030882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en-US" sz="2000" b="1" dirty="0" err="1"/>
              <a:t>Définition</a:t>
            </a:r>
            <a:endParaRPr lang="en-US" sz="2000" b="1" dirty="0"/>
          </a:p>
          <a:p>
            <a:pPr>
              <a:lnSpc>
                <a:spcPct val="250000"/>
              </a:lnSpc>
            </a:pPr>
            <a:r>
              <a:rPr lang="en-US" sz="2000" dirty="0"/>
              <a:t>Les </a:t>
            </a:r>
            <a:r>
              <a:rPr lang="en-US" sz="2000" i="1" dirty="0"/>
              <a:t>user stories</a:t>
            </a:r>
            <a:r>
              <a:rPr lang="en-US" sz="2000" dirty="0"/>
              <a:t> </a:t>
            </a:r>
            <a:r>
              <a:rPr lang="en-US" sz="2000" dirty="0" err="1"/>
              <a:t>sont</a:t>
            </a:r>
            <a:r>
              <a:rPr lang="en-US" sz="2000" dirty="0"/>
              <a:t> des </a:t>
            </a:r>
            <a:r>
              <a:rPr lang="en-US" sz="2000" b="1" dirty="0"/>
              <a:t>descriptions </a:t>
            </a:r>
            <a:r>
              <a:rPr lang="en-US" sz="2000" b="1" dirty="0" err="1"/>
              <a:t>brèves</a:t>
            </a:r>
            <a:r>
              <a:rPr lang="en-US" sz="2000" b="1" dirty="0"/>
              <a:t> et simples</a:t>
            </a:r>
            <a:r>
              <a:rPr lang="en-US" sz="2000" dirty="0"/>
              <a:t> </a:t>
            </a:r>
            <a:r>
              <a:rPr lang="en-US" sz="2000" dirty="0" err="1"/>
              <a:t>d’une</a:t>
            </a:r>
            <a:r>
              <a:rPr lang="en-US" sz="2000" dirty="0"/>
              <a:t> </a:t>
            </a:r>
            <a:r>
              <a:rPr lang="en-US" sz="2000" dirty="0" err="1"/>
              <a:t>fonctionnalité</a:t>
            </a:r>
            <a:r>
              <a:rPr lang="en-US" sz="2000" dirty="0"/>
              <a:t> </a:t>
            </a:r>
            <a:r>
              <a:rPr lang="en-US" sz="2000" dirty="0" err="1"/>
              <a:t>exprimée</a:t>
            </a:r>
            <a:r>
              <a:rPr lang="en-US" sz="2000" dirty="0"/>
              <a:t> </a:t>
            </a:r>
            <a:r>
              <a:rPr lang="en-US" sz="2000" b="1" dirty="0"/>
              <a:t>du point de </a:t>
            </a:r>
            <a:r>
              <a:rPr lang="en-US" sz="2000" b="1" dirty="0" err="1"/>
              <a:t>vue</a:t>
            </a:r>
            <a:r>
              <a:rPr lang="en-US" sz="2000" b="1" dirty="0"/>
              <a:t> de </a:t>
            </a:r>
            <a:r>
              <a:rPr lang="en-US" sz="2000" b="1" dirty="0" err="1"/>
              <a:t>l’utilisateur</a:t>
            </a:r>
            <a:r>
              <a:rPr lang="en-US" sz="2000" b="1" dirty="0"/>
              <a:t> final</a:t>
            </a:r>
            <a:r>
              <a:rPr lang="en-US" sz="2000" dirty="0"/>
              <a:t>.</a:t>
            </a:r>
          </a:p>
          <a:p>
            <a:pPr>
              <a:lnSpc>
                <a:spcPct val="250000"/>
              </a:lnSpc>
            </a:pPr>
            <a:r>
              <a:rPr lang="en-US" sz="2000" i="1" dirty="0" err="1"/>
              <a:t>Elles</a:t>
            </a:r>
            <a:r>
              <a:rPr lang="en-US" sz="2000" i="1" dirty="0"/>
              <a:t> </a:t>
            </a:r>
            <a:r>
              <a:rPr lang="en-US" sz="2000" i="1" dirty="0" err="1"/>
              <a:t>répondent</a:t>
            </a:r>
            <a:r>
              <a:rPr lang="en-US" sz="2000" i="1" dirty="0"/>
              <a:t> </a:t>
            </a:r>
            <a:r>
              <a:rPr lang="en-US" sz="2000" i="1" dirty="0" err="1"/>
              <a:t>à</a:t>
            </a:r>
            <a:r>
              <a:rPr lang="en-US" sz="2000" i="1" dirty="0"/>
              <a:t> la question : “Qui </a:t>
            </a:r>
            <a:r>
              <a:rPr lang="en-US" sz="2000" i="1" dirty="0" err="1"/>
              <a:t>veut</a:t>
            </a:r>
            <a:r>
              <a:rPr lang="en-US" sz="2000" i="1" dirty="0"/>
              <a:t> quoi et </a:t>
            </a:r>
            <a:r>
              <a:rPr lang="en-US" sz="2000" i="1" dirty="0" err="1"/>
              <a:t>pourquoi</a:t>
            </a:r>
            <a:r>
              <a:rPr lang="en-US" sz="2000" i="1" dirty="0"/>
              <a:t> ?”</a:t>
            </a:r>
          </a:p>
          <a:p>
            <a:pPr>
              <a:lnSpc>
                <a:spcPct val="250000"/>
              </a:lnSpc>
            </a:pPr>
            <a:r>
              <a:rPr lang="en-US" sz="2000" b="1" dirty="0" err="1"/>
              <a:t>Forme</a:t>
            </a:r>
            <a:r>
              <a:rPr lang="en-US" sz="2000" b="1" dirty="0"/>
              <a:t> standard :</a:t>
            </a:r>
            <a:endParaRPr lang="en-US" sz="2000" dirty="0"/>
          </a:p>
          <a:p>
            <a:pPr>
              <a:lnSpc>
                <a:spcPct val="250000"/>
              </a:lnSpc>
            </a:pPr>
            <a:r>
              <a:rPr lang="en-US" sz="2000" dirty="0" err="1"/>
              <a:t>En</a:t>
            </a:r>
            <a:r>
              <a:rPr lang="en-US" sz="2000" dirty="0"/>
              <a:t> tant que [</a:t>
            </a:r>
            <a:r>
              <a:rPr lang="en-US" sz="2000" b="1" i="1" u="sng" dirty="0" err="1">
                <a:solidFill>
                  <a:srgbClr val="005E4F"/>
                </a:solidFill>
              </a:rPr>
              <a:t>utilisateur</a:t>
            </a:r>
            <a:r>
              <a:rPr lang="en-US" sz="2000" dirty="0"/>
              <a:t>], je </a:t>
            </a:r>
            <a:r>
              <a:rPr lang="en-US" sz="2000" dirty="0" err="1"/>
              <a:t>veux</a:t>
            </a:r>
            <a:r>
              <a:rPr lang="en-US" sz="2000" dirty="0"/>
              <a:t> [</a:t>
            </a:r>
            <a:r>
              <a:rPr lang="en-US" sz="2000" b="1" i="1" u="sng" dirty="0" err="1">
                <a:solidFill>
                  <a:srgbClr val="D72E75"/>
                </a:solidFill>
              </a:rPr>
              <a:t>objectif</a:t>
            </a:r>
            <a:r>
              <a:rPr lang="en-US" sz="2000" b="1" i="1" u="sng" dirty="0">
                <a:solidFill>
                  <a:srgbClr val="D72E75"/>
                </a:solidFill>
              </a:rPr>
              <a:t> / action</a:t>
            </a:r>
            <a:r>
              <a:rPr lang="en-US" sz="2000" dirty="0"/>
              <a:t>] </a:t>
            </a:r>
            <a:r>
              <a:rPr lang="en-US" sz="2000" dirty="0" err="1"/>
              <a:t>afin</a:t>
            </a:r>
            <a:r>
              <a:rPr lang="en-US" sz="2000" dirty="0"/>
              <a:t> de [</a:t>
            </a:r>
            <a:r>
              <a:rPr lang="en-US" sz="2000" b="1" i="1" u="sng" dirty="0" err="1">
                <a:solidFill>
                  <a:srgbClr val="941651"/>
                </a:solidFill>
              </a:rPr>
              <a:t>résultat</a:t>
            </a:r>
            <a:r>
              <a:rPr lang="en-US" sz="2000" b="1" i="1" u="sng" dirty="0">
                <a:solidFill>
                  <a:srgbClr val="941651"/>
                </a:solidFill>
              </a:rPr>
              <a:t> / </a:t>
            </a:r>
            <a:r>
              <a:rPr lang="en-US" sz="2000" b="1" i="1" u="sng" dirty="0" err="1">
                <a:solidFill>
                  <a:srgbClr val="941651"/>
                </a:solidFill>
              </a:rPr>
              <a:t>bénéfice</a:t>
            </a:r>
            <a:r>
              <a:rPr lang="en-US" sz="2000" dirty="0"/>
              <a:t>].</a:t>
            </a:r>
          </a:p>
          <a:p>
            <a:pPr>
              <a:lnSpc>
                <a:spcPct val="250000"/>
              </a:lnSpc>
            </a:pPr>
            <a:endParaRPr lang="en-US" sz="2000" dirty="0"/>
          </a:p>
          <a:p>
            <a:pPr marL="0" algn="l" rtl="0">
              <a:lnSpc>
                <a:spcPct val="250000"/>
              </a:lnSpc>
            </a:pPr>
            <a:endParaRPr lang="en-DZ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E439D-E8ED-93F5-3F46-BCBAB1F0F67B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0E5F74-5AA7-08D1-EFEB-71ACCB0DC1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22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4264289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A8392-5614-63F9-3CCF-19E1B6B85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Exemples</a:t>
            </a:r>
            <a:r>
              <a:rPr lang="en-US" dirty="0"/>
              <a:t> </a:t>
            </a:r>
            <a:r>
              <a:rPr lang="en-US" dirty="0" err="1"/>
              <a:t>concrets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A0261-D356-FA26-0393-4FD81A78E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rtl="0"/>
            <a:endParaRPr lang="en-DZ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E88A5-0023-A159-4EE4-24B25EF8B228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348D17-6113-3EDC-E75D-68C36B0822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23</a:t>
            </a:fld>
            <a:endParaRPr lang="en-DZ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E8AEA76-7A65-AE1E-1358-AB3FB7EBACCF}"/>
              </a:ext>
            </a:extLst>
          </p:cNvPr>
          <p:cNvGraphicFramePr>
            <a:graphicFrameLocks noGrp="1"/>
          </p:cNvGraphicFramePr>
          <p:nvPr/>
        </p:nvGraphicFramePr>
        <p:xfrm>
          <a:off x="712788" y="2698750"/>
          <a:ext cx="10493376" cy="2286000"/>
        </p:xfrm>
        <a:graphic>
          <a:graphicData uri="http://schemas.openxmlformats.org/drawingml/2006/table">
            <a:tbl>
              <a:tblPr/>
              <a:tblGrid>
                <a:gridCol w="3497792">
                  <a:extLst>
                    <a:ext uri="{9D8B030D-6E8A-4147-A177-3AD203B41FA5}">
                      <a16:colId xmlns:a16="http://schemas.microsoft.com/office/drawing/2014/main" val="2474944210"/>
                    </a:ext>
                  </a:extLst>
                </a:gridCol>
                <a:gridCol w="3497792">
                  <a:extLst>
                    <a:ext uri="{9D8B030D-6E8A-4147-A177-3AD203B41FA5}">
                      <a16:colId xmlns:a16="http://schemas.microsoft.com/office/drawing/2014/main" val="304708567"/>
                    </a:ext>
                  </a:extLst>
                </a:gridCol>
                <a:gridCol w="3497792">
                  <a:extLst>
                    <a:ext uri="{9D8B030D-6E8A-4147-A177-3AD203B41FA5}">
                      <a16:colId xmlns:a16="http://schemas.microsoft.com/office/drawing/2014/main" val="419598972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Rôle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Objectif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Résultat</a:t>
                      </a:r>
                      <a:endParaRPr 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405615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/>
                        <a:t>Étudiant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Je veux accéder à mes notes en ligne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Pour suivre ma progression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224167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/>
                        <a:t>Enseignant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Je veux publier mes supports de cours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Pour faciliter la diffusion du contenu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13965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/>
                        <a:t>Administrateur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Je veux gérer les comptes utilisateurs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Pour </a:t>
                      </a:r>
                      <a:r>
                        <a:rPr lang="en-US" sz="1800" dirty="0" err="1"/>
                        <a:t>maintenir</a:t>
                      </a:r>
                      <a:r>
                        <a:rPr lang="en-US" sz="1800" dirty="0"/>
                        <a:t> la </a:t>
                      </a:r>
                      <a:r>
                        <a:rPr lang="en-US" sz="1800" dirty="0" err="1"/>
                        <a:t>sécurité</a:t>
                      </a:r>
                      <a:r>
                        <a:rPr lang="en-US" sz="1800" dirty="0"/>
                        <a:t> du site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9942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310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26DA1-7234-F900-1750-90FA216C8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Critères</a:t>
            </a:r>
            <a:r>
              <a:rPr lang="en-US" dirty="0"/>
              <a:t> </a:t>
            </a:r>
            <a:r>
              <a:rPr lang="en-US" dirty="0" err="1"/>
              <a:t>d’acceptation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640B7-7CE8-5508-79AB-31E85BB0F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292" y="1604899"/>
            <a:ext cx="10494645" cy="5390386"/>
          </a:xfrm>
        </p:spPr>
        <p:txBody>
          <a:bodyPr/>
          <a:lstStyle/>
          <a:p>
            <a:pPr marL="0" algn="l" rtl="0">
              <a:lnSpc>
                <a:spcPct val="250000"/>
              </a:lnSpc>
            </a:pPr>
            <a:r>
              <a:rPr lang="en-US" sz="2400" dirty="0" err="1"/>
              <a:t>Chaque</a:t>
            </a:r>
            <a:r>
              <a:rPr lang="en-US" sz="2400" dirty="0"/>
              <a:t> user story doit </a:t>
            </a:r>
            <a:r>
              <a:rPr lang="en-US" sz="2400" dirty="0" err="1"/>
              <a:t>être</a:t>
            </a:r>
            <a:r>
              <a:rPr lang="en-US" sz="2400" dirty="0"/>
              <a:t> testable.</a:t>
            </a:r>
            <a:br>
              <a:rPr lang="en-US" sz="2400" dirty="0"/>
            </a:br>
            <a:r>
              <a:rPr lang="en-US" sz="2400" dirty="0" err="1"/>
              <a:t>Exemple</a:t>
            </a:r>
            <a:r>
              <a:rPr lang="en-US" sz="2400" dirty="0"/>
              <a:t> pour “</a:t>
            </a:r>
            <a:r>
              <a:rPr lang="en-US" sz="2400" dirty="0" err="1"/>
              <a:t>Accéder</a:t>
            </a:r>
            <a:r>
              <a:rPr lang="en-US" sz="2400" dirty="0"/>
              <a:t> </a:t>
            </a:r>
            <a:r>
              <a:rPr lang="en-US" sz="2400" dirty="0" err="1"/>
              <a:t>à</a:t>
            </a:r>
            <a:r>
              <a:rPr lang="en-US" sz="2400" dirty="0"/>
              <a:t> </a:t>
            </a:r>
            <a:r>
              <a:rPr lang="en-US" sz="2400" dirty="0" err="1"/>
              <a:t>mes</a:t>
            </a:r>
            <a:r>
              <a:rPr lang="en-US" sz="2400" dirty="0"/>
              <a:t> notes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ligne</a:t>
            </a:r>
            <a:r>
              <a:rPr lang="en-US" sz="2400" dirty="0"/>
              <a:t>” :</a:t>
            </a:r>
          </a:p>
          <a:p>
            <a:pPr marL="342900" indent="-342900" algn="l" rtl="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L’utilisateur</a:t>
            </a:r>
            <a:r>
              <a:rPr lang="en-US" sz="2400" dirty="0"/>
              <a:t> doit </a:t>
            </a:r>
            <a:r>
              <a:rPr lang="en-US" sz="2400" dirty="0" err="1"/>
              <a:t>être</a:t>
            </a:r>
            <a:r>
              <a:rPr lang="en-US" sz="2400" dirty="0"/>
              <a:t> </a:t>
            </a:r>
            <a:r>
              <a:rPr lang="en-US" sz="2400" dirty="0" err="1"/>
              <a:t>connecté</a:t>
            </a:r>
            <a:r>
              <a:rPr lang="en-US" sz="2400" dirty="0"/>
              <a:t>.</a:t>
            </a:r>
          </a:p>
          <a:p>
            <a:pPr marL="342900" indent="-342900" algn="l" rtl="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Les notes </a:t>
            </a:r>
            <a:r>
              <a:rPr lang="en-US" sz="2400" dirty="0" err="1"/>
              <a:t>sont</a:t>
            </a:r>
            <a:r>
              <a:rPr lang="en-US" sz="2400" dirty="0"/>
              <a:t> </a:t>
            </a:r>
            <a:r>
              <a:rPr lang="en-US" sz="2400" dirty="0" err="1"/>
              <a:t>triées</a:t>
            </a:r>
            <a:r>
              <a:rPr lang="en-US" sz="2400" dirty="0"/>
              <a:t> par matière.</a:t>
            </a:r>
          </a:p>
          <a:p>
            <a:pPr marL="342900" indent="-342900" algn="l" rtl="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L’interface</a:t>
            </a:r>
            <a:r>
              <a:rPr lang="en-US" sz="2400" dirty="0"/>
              <a:t> </a:t>
            </a:r>
            <a:r>
              <a:rPr lang="en-US" sz="2400" dirty="0" err="1"/>
              <a:t>est</a:t>
            </a:r>
            <a:r>
              <a:rPr lang="en-US" sz="2400" dirty="0"/>
              <a:t> </a:t>
            </a:r>
            <a:r>
              <a:rPr lang="en-US" sz="2400" dirty="0" err="1"/>
              <a:t>lisible</a:t>
            </a:r>
            <a:r>
              <a:rPr lang="en-US" sz="2400" dirty="0"/>
              <a:t> sur mobile.</a:t>
            </a:r>
          </a:p>
          <a:p>
            <a:pPr marL="0" algn="l" rtl="0">
              <a:lnSpc>
                <a:spcPct val="250000"/>
              </a:lnSpc>
            </a:pPr>
            <a:endParaRPr lang="en-DZ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F9491-0257-B37D-4E3B-C4C796E00BF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C13635-CE3F-E4BC-ABDE-6C30A4EF959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24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5645705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26DA1-7234-F900-1750-90FA216C8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1292662"/>
          </a:xfrm>
        </p:spPr>
        <p:txBody>
          <a:bodyPr/>
          <a:lstStyle/>
          <a:p>
            <a:pPr algn="ctr"/>
            <a:r>
              <a:rPr lang="en-US" dirty="0" err="1"/>
              <a:t>Méthode</a:t>
            </a:r>
            <a:r>
              <a:rPr lang="en-US" dirty="0"/>
              <a:t> INVEST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qualité</a:t>
            </a:r>
            <a:r>
              <a:rPr lang="en-US" dirty="0"/>
              <a:t> </a:t>
            </a:r>
            <a:r>
              <a:rPr lang="en-US" dirty="0" err="1"/>
              <a:t>d’une</a:t>
            </a:r>
            <a:r>
              <a:rPr lang="en-US" dirty="0"/>
              <a:t> user story)</a:t>
            </a:r>
            <a:endParaRPr lang="en-DZ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F9491-0257-B37D-4E3B-C4C796E00BF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C13635-CE3F-E4BC-ABDE-6C30A4EF959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25</a:t>
            </a:fld>
            <a:endParaRPr lang="en-DZ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E4270FC-E8F9-F0F8-E7D1-5BD4A48E05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398322"/>
              </p:ext>
            </p:extLst>
          </p:nvPr>
        </p:nvGraphicFramePr>
        <p:xfrm>
          <a:off x="712788" y="2424430"/>
          <a:ext cx="10493376" cy="3017520"/>
        </p:xfrm>
        <a:graphic>
          <a:graphicData uri="http://schemas.openxmlformats.org/drawingml/2006/table">
            <a:tbl>
              <a:tblPr/>
              <a:tblGrid>
                <a:gridCol w="1573212">
                  <a:extLst>
                    <a:ext uri="{9D8B030D-6E8A-4147-A177-3AD203B41FA5}">
                      <a16:colId xmlns:a16="http://schemas.microsoft.com/office/drawing/2014/main" val="18649419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174617277"/>
                    </a:ext>
                  </a:extLst>
                </a:gridCol>
                <a:gridCol w="6176964">
                  <a:extLst>
                    <a:ext uri="{9D8B030D-6E8A-4147-A177-3AD203B41FA5}">
                      <a16:colId xmlns:a16="http://schemas.microsoft.com/office/drawing/2014/main" val="39621805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2000" b="1"/>
                        <a:t>Lettre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Signification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Explication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48267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2000"/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Indépendante</a:t>
                      </a:r>
                      <a:endParaRPr lang="en-US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Elle peut être développée seule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41892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2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Négociable</a:t>
                      </a:r>
                      <a:endParaRPr lang="en-US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Les détails peuvent évoluer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3636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2000"/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Valeur ajoutée</a:t>
                      </a:r>
                      <a:endParaRPr lang="en-US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Elle apporte un bénéfice réel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18390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200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Estimable</a:t>
                      </a:r>
                      <a:endParaRPr lang="en-US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Sa complexité peut être évaluée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3192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2000"/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Simple</a:t>
                      </a:r>
                      <a:endParaRPr lang="en-US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Elle est claire et concise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299798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200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Testable</a:t>
                      </a:r>
                      <a:endParaRPr lang="en-US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On </a:t>
                      </a:r>
                      <a:r>
                        <a:rPr lang="en-US" sz="2000" dirty="0" err="1"/>
                        <a:t>peut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vérifier</a:t>
                      </a:r>
                      <a:r>
                        <a:rPr lang="en-US" sz="2000" dirty="0"/>
                        <a:t> son bon </a:t>
                      </a:r>
                      <a:r>
                        <a:rPr lang="en-US" sz="2000" dirty="0" err="1"/>
                        <a:t>fonctionnement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113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54842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CB31F-5981-DFBF-457B-7C3B6DE0181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46455-6170-7CCB-70AE-83E1AAA2D0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26</a:t>
            </a:fld>
            <a:endParaRPr lang="en-DZ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C01774-7F32-4072-01CA-9B507DFE2AA0}"/>
              </a:ext>
            </a:extLst>
          </p:cNvPr>
          <p:cNvSpPr/>
          <p:nvPr/>
        </p:nvSpPr>
        <p:spPr>
          <a:xfrm>
            <a:off x="-152400" y="2057400"/>
            <a:ext cx="12344400" cy="3657600"/>
          </a:xfrm>
          <a:prstGeom prst="rect">
            <a:avLst/>
          </a:prstGeom>
          <a:solidFill>
            <a:srgbClr val="005E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540EFD-9134-3027-184E-0B37195ACC87}"/>
              </a:ext>
            </a:extLst>
          </p:cNvPr>
          <p:cNvSpPr/>
          <p:nvPr/>
        </p:nvSpPr>
        <p:spPr>
          <a:xfrm>
            <a:off x="8458200" y="2362200"/>
            <a:ext cx="3733800" cy="3352800"/>
          </a:xfrm>
          <a:prstGeom prst="ellipse">
            <a:avLst/>
          </a:prstGeom>
          <a:solidFill>
            <a:schemeClr val="bg1"/>
          </a:solidFill>
          <a:ln w="38100" cmpd="thinThick">
            <a:solidFill>
              <a:srgbClr val="FF1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035C73-7125-FA08-3A39-B8AFBE613C8F}"/>
              </a:ext>
            </a:extLst>
          </p:cNvPr>
          <p:cNvSpPr/>
          <p:nvPr/>
        </p:nvSpPr>
        <p:spPr>
          <a:xfrm>
            <a:off x="8610600" y="2514601"/>
            <a:ext cx="3429000" cy="3048000"/>
          </a:xfrm>
          <a:prstGeom prst="ellipse">
            <a:avLst/>
          </a:prstGeom>
          <a:solidFill>
            <a:schemeClr val="bg1"/>
          </a:solidFill>
          <a:ln w="38100" cmpd="thinThick">
            <a:solidFill>
              <a:srgbClr val="FF1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143940-A943-3C07-C35A-E921A1C4E4CE}"/>
              </a:ext>
            </a:extLst>
          </p:cNvPr>
          <p:cNvSpPr txBox="1"/>
          <p:nvPr/>
        </p:nvSpPr>
        <p:spPr>
          <a:xfrm>
            <a:off x="304801" y="3352800"/>
            <a:ext cx="8153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5400" b="1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Outil de conception : </a:t>
            </a:r>
            <a:r>
              <a:rPr lang="fr-CA" sz="5400" b="1" dirty="0" err="1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Draw.io</a:t>
            </a:r>
            <a:r>
              <a:rPr lang="fr-CA" sz="5400" b="1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lang="fr-CA" sz="5400" b="1" dirty="0" err="1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diagrams.net</a:t>
            </a:r>
            <a:r>
              <a:rPr lang="fr-CA" sz="5400" b="1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)</a:t>
            </a:r>
            <a:endParaRPr lang="fr-CA" sz="5400" dirty="0">
              <a:solidFill>
                <a:schemeClr val="bg1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1135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EFBF-14FD-6BC5-6AEA-E4F7A8FA9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1292662"/>
          </a:xfrm>
        </p:spPr>
        <p:txBody>
          <a:bodyPr/>
          <a:lstStyle/>
          <a:p>
            <a:pPr algn="ctr"/>
            <a:r>
              <a:rPr lang="en-US" dirty="0" err="1"/>
              <a:t>Outil</a:t>
            </a:r>
            <a:r>
              <a:rPr lang="en-US" dirty="0"/>
              <a:t> de conception : </a:t>
            </a:r>
            <a:r>
              <a:rPr lang="en-US" b="1" dirty="0" err="1"/>
              <a:t>Draw.io</a:t>
            </a:r>
            <a:r>
              <a:rPr lang="en-US" b="1" dirty="0"/>
              <a:t> (</a:t>
            </a:r>
            <a:r>
              <a:rPr lang="en-US" b="1" dirty="0" err="1"/>
              <a:t>diagrams.net</a:t>
            </a:r>
            <a:r>
              <a:rPr lang="en-US" b="1" dirty="0"/>
              <a:t>)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EB10C-7F25-FEEA-F76A-8C1E67156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292" y="1604899"/>
            <a:ext cx="10494645" cy="5261440"/>
          </a:xfrm>
        </p:spPr>
        <p:txBody>
          <a:bodyPr/>
          <a:lstStyle/>
          <a:p>
            <a:pPr marL="0" algn="l" rtl="0">
              <a:lnSpc>
                <a:spcPct val="250000"/>
              </a:lnSpc>
            </a:pPr>
            <a:r>
              <a:rPr lang="en-US" sz="2000" b="1" i="1" u="sng" dirty="0" err="1"/>
              <a:t>Draw.io</a:t>
            </a:r>
            <a:r>
              <a:rPr lang="en-US" sz="2000" b="1" i="1" u="sng" dirty="0"/>
              <a:t> </a:t>
            </a:r>
            <a:r>
              <a:rPr lang="en-US" sz="2000" dirty="0"/>
              <a:t>(</a:t>
            </a:r>
            <a:r>
              <a:rPr lang="en-US" sz="2000" dirty="0" err="1"/>
              <a:t>ou</a:t>
            </a:r>
            <a:r>
              <a:rPr lang="en-US" sz="2000" dirty="0"/>
              <a:t> </a:t>
            </a:r>
            <a:r>
              <a:rPr lang="en-US" sz="2000" dirty="0" err="1"/>
              <a:t>diagrams.net</a:t>
            </a:r>
            <a:r>
              <a:rPr lang="en-US" sz="2000" dirty="0"/>
              <a:t>) </a:t>
            </a:r>
            <a:r>
              <a:rPr lang="en-US" sz="2000" dirty="0" err="1"/>
              <a:t>est</a:t>
            </a:r>
            <a:r>
              <a:rPr lang="en-US" sz="2000" dirty="0"/>
              <a:t> un </a:t>
            </a:r>
            <a:r>
              <a:rPr lang="en-US" sz="2000" dirty="0" err="1"/>
              <a:t>outil</a:t>
            </a:r>
            <a:r>
              <a:rPr lang="en-US" sz="2000" dirty="0"/>
              <a:t> </a:t>
            </a:r>
            <a:r>
              <a:rPr lang="en-US" sz="2000" dirty="0" err="1"/>
              <a:t>gratuit</a:t>
            </a:r>
            <a:r>
              <a:rPr lang="en-US" sz="2000" dirty="0"/>
              <a:t> et </a:t>
            </a:r>
            <a:r>
              <a:rPr lang="en-US" sz="2000" dirty="0" err="1"/>
              <a:t>collaboratif</a:t>
            </a:r>
            <a:r>
              <a:rPr lang="en-US" sz="2000" dirty="0"/>
              <a:t> </a:t>
            </a:r>
            <a:r>
              <a:rPr lang="en-US" sz="2000" dirty="0" err="1"/>
              <a:t>permettant</a:t>
            </a:r>
            <a:r>
              <a:rPr lang="en-US" sz="2000" dirty="0"/>
              <a:t> de :</a:t>
            </a:r>
          </a:p>
          <a:p>
            <a:pPr marL="342900" indent="-342900" algn="l" rtl="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Créer</a:t>
            </a:r>
            <a:r>
              <a:rPr lang="en-US" sz="2000" dirty="0"/>
              <a:t> des </a:t>
            </a:r>
            <a:r>
              <a:rPr lang="en-US" sz="2000" dirty="0" err="1"/>
              <a:t>diagrammes</a:t>
            </a:r>
            <a:r>
              <a:rPr lang="en-US" sz="2000" dirty="0"/>
              <a:t> UML</a:t>
            </a:r>
          </a:p>
          <a:p>
            <a:pPr marL="342900" indent="-342900" algn="l" rtl="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Dessiner</a:t>
            </a:r>
            <a:r>
              <a:rPr lang="en-US" sz="2000" dirty="0"/>
              <a:t> des wireframes (maquettes)</a:t>
            </a:r>
          </a:p>
          <a:p>
            <a:pPr marL="342900" indent="-342900" algn="l" rtl="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Illustrer</a:t>
            </a:r>
            <a:r>
              <a:rPr lang="en-US" sz="2000" dirty="0"/>
              <a:t> des user flows (</a:t>
            </a:r>
            <a:r>
              <a:rPr lang="en-US" sz="2000" dirty="0" err="1"/>
              <a:t>parcours</a:t>
            </a:r>
            <a:r>
              <a:rPr lang="en-US" sz="2000" dirty="0"/>
              <a:t> </a:t>
            </a:r>
            <a:r>
              <a:rPr lang="en-US" sz="2000" dirty="0" err="1"/>
              <a:t>utilisateurs</a:t>
            </a:r>
            <a:r>
              <a:rPr lang="en-US" sz="2000" dirty="0"/>
              <a:t>)</a:t>
            </a:r>
          </a:p>
          <a:p>
            <a:pPr marL="342900" indent="-342900" algn="l" rtl="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Concevoir</a:t>
            </a:r>
            <a:r>
              <a:rPr lang="en-US" sz="2000" dirty="0"/>
              <a:t> des </a:t>
            </a:r>
            <a:r>
              <a:rPr lang="en-US" sz="2000" dirty="0" err="1"/>
              <a:t>schémas</a:t>
            </a:r>
            <a:r>
              <a:rPr lang="en-US" sz="2000" dirty="0"/>
              <a:t> </a:t>
            </a:r>
            <a:r>
              <a:rPr lang="en-US" sz="2000" dirty="0" err="1"/>
              <a:t>d’architecture</a:t>
            </a:r>
            <a:r>
              <a:rPr lang="en-US" sz="2000" dirty="0"/>
              <a:t> web</a:t>
            </a:r>
          </a:p>
          <a:p>
            <a:pPr marL="0" algn="l" rtl="0">
              <a:lnSpc>
                <a:spcPct val="250000"/>
              </a:lnSpc>
            </a:pPr>
            <a:r>
              <a:rPr lang="en-US" sz="2000" b="1" dirty="0"/>
              <a:t>https://</a:t>
            </a:r>
            <a:r>
              <a:rPr lang="en-US" sz="2000" b="1" dirty="0" err="1"/>
              <a:t>app.diagrams.net</a:t>
            </a:r>
            <a:endParaRPr lang="en-US" sz="2000" b="1" dirty="0"/>
          </a:p>
          <a:p>
            <a:pPr marL="0" algn="l" rtl="0">
              <a:lnSpc>
                <a:spcPct val="250000"/>
              </a:lnSpc>
            </a:pPr>
            <a:endParaRPr lang="en-DZ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12FEE-BA31-6CDF-6309-CFA1515DAAF5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8ECF5B-130F-0ACB-E40F-B3DC76921F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27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77277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EFBF-14FD-6BC5-6AEA-E4F7A8FA9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1292662"/>
          </a:xfrm>
        </p:spPr>
        <p:txBody>
          <a:bodyPr/>
          <a:lstStyle/>
          <a:p>
            <a:pPr algn="ctr"/>
            <a:r>
              <a:rPr lang="en-US" dirty="0" err="1"/>
              <a:t>Outil</a:t>
            </a:r>
            <a:r>
              <a:rPr lang="en-US" dirty="0"/>
              <a:t> de conception : </a:t>
            </a:r>
            <a:r>
              <a:rPr lang="en-US" b="1" dirty="0" err="1"/>
              <a:t>Draw.io</a:t>
            </a:r>
            <a:r>
              <a:rPr lang="en-US" b="1" dirty="0"/>
              <a:t> (</a:t>
            </a:r>
            <a:r>
              <a:rPr lang="en-US" b="1" dirty="0" err="1"/>
              <a:t>diagrams.net</a:t>
            </a:r>
            <a:r>
              <a:rPr lang="en-US" b="1" dirty="0"/>
              <a:t>)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EB10C-7F25-FEEA-F76A-8C1E67156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292" y="1604899"/>
            <a:ext cx="10494645" cy="3722558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en-US" sz="2000" b="1" dirty="0" err="1"/>
              <a:t>Avantages</a:t>
            </a:r>
            <a:r>
              <a:rPr lang="en-US" sz="2000" b="1" dirty="0"/>
              <a:t> </a:t>
            </a:r>
            <a:r>
              <a:rPr lang="en-US" sz="2000" b="1" dirty="0" err="1"/>
              <a:t>pédagogiques</a:t>
            </a:r>
            <a:endParaRPr lang="en-US" sz="2000" b="1" dirty="0"/>
          </a:p>
          <a:p>
            <a:pPr lv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Simple </a:t>
            </a:r>
            <a:r>
              <a:rPr lang="en-US" sz="2000" dirty="0" err="1"/>
              <a:t>d’utilisation</a:t>
            </a:r>
            <a:r>
              <a:rPr lang="en-US" sz="2000" dirty="0"/>
              <a:t> (</a:t>
            </a:r>
            <a:r>
              <a:rPr lang="en-US" sz="2000" dirty="0" err="1"/>
              <a:t>glisser-déposer</a:t>
            </a:r>
            <a:r>
              <a:rPr lang="en-US" sz="2000" dirty="0"/>
              <a:t>).</a:t>
            </a:r>
          </a:p>
          <a:p>
            <a:pPr lv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Fonctionne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ligne</a:t>
            </a:r>
            <a:r>
              <a:rPr lang="en-US" sz="2000" dirty="0"/>
              <a:t> sans installation.</a:t>
            </a:r>
          </a:p>
          <a:p>
            <a:pPr lv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Sauvegarde</a:t>
            </a:r>
            <a:r>
              <a:rPr lang="en-US" sz="2000" dirty="0"/>
              <a:t> sur Google Drive </a:t>
            </a:r>
            <a:r>
              <a:rPr lang="en-US" sz="2000" dirty="0" err="1"/>
              <a:t>ou</a:t>
            </a:r>
            <a:r>
              <a:rPr lang="en-US" sz="2000" dirty="0"/>
              <a:t> OneDrive.</a:t>
            </a:r>
          </a:p>
          <a:p>
            <a:pPr lv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Idéal</a:t>
            </a:r>
            <a:r>
              <a:rPr lang="en-US" sz="2000" dirty="0"/>
              <a:t> pour la </a:t>
            </a:r>
            <a:r>
              <a:rPr lang="en-US" sz="2000" dirty="0" err="1"/>
              <a:t>modélisation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groupe</a:t>
            </a:r>
            <a:r>
              <a:rPr lang="en-US" sz="2000" dirty="0"/>
              <a:t> (travaux </a:t>
            </a:r>
            <a:r>
              <a:rPr lang="en-US" sz="2000" dirty="0" err="1"/>
              <a:t>collaboratifs</a:t>
            </a:r>
            <a:r>
              <a:rPr lang="en-US" sz="2000" dirty="0"/>
              <a:t>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12FEE-BA31-6CDF-6309-CFA1515DAAF5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8ECF5B-130F-0ACB-E40F-B3DC76921F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28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29955025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6F32-1765-2D08-7274-56FA4BC09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1292662"/>
          </a:xfrm>
        </p:spPr>
        <p:txBody>
          <a:bodyPr/>
          <a:lstStyle/>
          <a:p>
            <a:r>
              <a:rPr lang="en-US" dirty="0" err="1"/>
              <a:t>Diagrammes</a:t>
            </a:r>
            <a:r>
              <a:rPr lang="en-US" dirty="0"/>
              <a:t> </a:t>
            </a:r>
            <a:r>
              <a:rPr lang="en-US" dirty="0" err="1"/>
              <a:t>essentiels</a:t>
            </a:r>
            <a:r>
              <a:rPr lang="en-US" dirty="0"/>
              <a:t> </a:t>
            </a:r>
            <a:r>
              <a:rPr lang="en-US" dirty="0" err="1"/>
              <a:t>à</a:t>
            </a:r>
            <a:r>
              <a:rPr lang="en-US" dirty="0"/>
              <a:t> </a:t>
            </a:r>
            <a:r>
              <a:rPr lang="en-US" dirty="0" err="1"/>
              <a:t>maîtriser</a:t>
            </a:r>
            <a:endParaRPr lang="en-DZ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7FE3D-143E-136E-AC7F-A53587B3DA74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FBC82-2BE1-24D5-94C4-1CC3810B8C5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29</a:t>
            </a:fld>
            <a:endParaRPr lang="en-DZ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1DB7C9-F513-A1D0-90A5-CB2040415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661372"/>
              </p:ext>
            </p:extLst>
          </p:nvPr>
        </p:nvGraphicFramePr>
        <p:xfrm>
          <a:off x="712788" y="2378710"/>
          <a:ext cx="10493376" cy="2926080"/>
        </p:xfrm>
        <a:graphic>
          <a:graphicData uri="http://schemas.openxmlformats.org/drawingml/2006/table">
            <a:tbl>
              <a:tblPr/>
              <a:tblGrid>
                <a:gridCol w="3497792">
                  <a:extLst>
                    <a:ext uri="{9D8B030D-6E8A-4147-A177-3AD203B41FA5}">
                      <a16:colId xmlns:a16="http://schemas.microsoft.com/office/drawing/2014/main" val="224932679"/>
                    </a:ext>
                  </a:extLst>
                </a:gridCol>
                <a:gridCol w="3497792">
                  <a:extLst>
                    <a:ext uri="{9D8B030D-6E8A-4147-A177-3AD203B41FA5}">
                      <a16:colId xmlns:a16="http://schemas.microsoft.com/office/drawing/2014/main" val="2309200644"/>
                    </a:ext>
                  </a:extLst>
                </a:gridCol>
                <a:gridCol w="3497792">
                  <a:extLst>
                    <a:ext uri="{9D8B030D-6E8A-4147-A177-3AD203B41FA5}">
                      <a16:colId xmlns:a16="http://schemas.microsoft.com/office/drawing/2014/main" val="150603422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Diagramme</a:t>
                      </a:r>
                      <a:endParaRPr 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Objectif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Exemple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d’usage</a:t>
                      </a:r>
                      <a:endParaRPr 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15169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b="1"/>
                        <a:t>Cas d’utilisation (Use Case)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Représenter les interactions entre acteurs et système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“L’utilisateur réserve un billet”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542366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b="1"/>
                        <a:t>User Flow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Montrer le chemin parcouru par l’utilisateur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De la page d’accueil au paiement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738896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b="1"/>
                        <a:t>Wireframe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Définir la disposition des éléments d’une page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Prototype de page d’accueil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85378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b="1"/>
                        <a:t>Architecture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Montrer la structure technique globale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Serveur</a:t>
                      </a:r>
                      <a:r>
                        <a:rPr lang="en-US" sz="1800" dirty="0"/>
                        <a:t> – API – Base de </a:t>
                      </a:r>
                      <a:r>
                        <a:rPr lang="en-US" sz="1800" dirty="0" err="1"/>
                        <a:t>données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752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21312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8F5E0-F167-2293-0E50-C74200AE9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1231106"/>
          </a:xfrm>
        </p:spPr>
        <p:txBody>
          <a:bodyPr/>
          <a:lstStyle/>
          <a:p>
            <a:r>
              <a:rPr lang="en-US" sz="4000" dirty="0" err="1"/>
              <a:t>Exercice</a:t>
            </a:r>
            <a:r>
              <a:rPr lang="en-US" sz="4000" dirty="0"/>
              <a:t> 3 — </a:t>
            </a:r>
            <a:r>
              <a:rPr lang="en-US" sz="4000" dirty="0" err="1"/>
              <a:t>Modélisation</a:t>
            </a:r>
            <a:r>
              <a:rPr lang="en-US" sz="4000" dirty="0"/>
              <a:t> avec </a:t>
            </a:r>
            <a:r>
              <a:rPr lang="en-US" sz="4000" dirty="0" err="1"/>
              <a:t>Draw.io</a:t>
            </a:r>
            <a:endParaRPr lang="en-DZ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3827-6BFA-3855-C8D3-B6FA2A803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292" y="1604899"/>
            <a:ext cx="10494645" cy="5262979"/>
          </a:xfrm>
        </p:spPr>
        <p:txBody>
          <a:bodyPr/>
          <a:lstStyle/>
          <a:p>
            <a:pPr>
              <a:lnSpc>
                <a:spcPct val="300000"/>
              </a:lnSpc>
            </a:pPr>
            <a:r>
              <a:rPr lang="en-US" b="1" dirty="0" err="1"/>
              <a:t>Sujet</a:t>
            </a:r>
            <a:r>
              <a:rPr lang="en-US" b="1" dirty="0"/>
              <a:t> :</a:t>
            </a:r>
            <a:r>
              <a:rPr lang="en-US" dirty="0"/>
              <a:t> Application de gestion de </a:t>
            </a:r>
            <a:r>
              <a:rPr lang="en-US" dirty="0" err="1"/>
              <a:t>bibliothèque</a:t>
            </a:r>
            <a:r>
              <a:rPr lang="en-US" dirty="0"/>
              <a:t>.</a:t>
            </a:r>
          </a:p>
          <a:p>
            <a:pPr>
              <a:lnSpc>
                <a:spcPct val="300000"/>
              </a:lnSpc>
              <a:buFont typeface="+mj-lt"/>
              <a:buAutoNum type="arabicPeriod"/>
            </a:pPr>
            <a:r>
              <a:rPr lang="en-US" dirty="0" err="1"/>
              <a:t>Créez</a:t>
            </a:r>
            <a:r>
              <a:rPr lang="en-US" dirty="0"/>
              <a:t> un </a:t>
            </a:r>
            <a:r>
              <a:rPr lang="en-US" b="1" dirty="0" err="1"/>
              <a:t>diagramme</a:t>
            </a:r>
            <a:r>
              <a:rPr lang="en-US" b="1" dirty="0"/>
              <a:t> de </a:t>
            </a:r>
            <a:r>
              <a:rPr lang="en-US" b="1" dirty="0" err="1"/>
              <a:t>cas</a:t>
            </a:r>
            <a:r>
              <a:rPr lang="en-US" b="1" dirty="0"/>
              <a:t> </a:t>
            </a:r>
            <a:r>
              <a:rPr lang="en-US" b="1" dirty="0" err="1"/>
              <a:t>d’utilisation</a:t>
            </a:r>
            <a:r>
              <a:rPr lang="en-US" dirty="0"/>
              <a:t> :</a:t>
            </a:r>
          </a:p>
          <a:p>
            <a:pPr marL="742950" lvl="1" indent="-285750">
              <a:lnSpc>
                <a:spcPct val="300000"/>
              </a:lnSpc>
              <a:buFont typeface="+mj-lt"/>
              <a:buAutoNum type="arabicPeriod"/>
            </a:pPr>
            <a:r>
              <a:rPr lang="en-US" dirty="0" err="1"/>
              <a:t>Acteurs</a:t>
            </a:r>
            <a:r>
              <a:rPr lang="en-US" dirty="0"/>
              <a:t> : </a:t>
            </a:r>
            <a:r>
              <a:rPr lang="en-US" dirty="0" err="1"/>
              <a:t>Étudiant</a:t>
            </a:r>
            <a:r>
              <a:rPr lang="en-US" dirty="0"/>
              <a:t>, </a:t>
            </a:r>
            <a:r>
              <a:rPr lang="en-US" dirty="0" err="1"/>
              <a:t>Bibliothécaire</a:t>
            </a:r>
            <a:r>
              <a:rPr lang="en-US" dirty="0"/>
              <a:t>, </a:t>
            </a:r>
            <a:r>
              <a:rPr lang="en-US" dirty="0" err="1"/>
              <a:t>Administrateur</a:t>
            </a:r>
            <a:endParaRPr lang="en-US" dirty="0"/>
          </a:p>
          <a:p>
            <a:pPr marL="742950" lvl="1" indent="-285750">
              <a:lnSpc>
                <a:spcPct val="300000"/>
              </a:lnSpc>
              <a:buFont typeface="+mj-lt"/>
              <a:buAutoNum type="arabicPeriod"/>
            </a:pPr>
            <a:r>
              <a:rPr lang="en-US" dirty="0"/>
              <a:t>Cas : </a:t>
            </a:r>
            <a:r>
              <a:rPr lang="en-US" dirty="0" err="1"/>
              <a:t>Rechercher</a:t>
            </a:r>
            <a:r>
              <a:rPr lang="en-US" dirty="0"/>
              <a:t> un livre, </a:t>
            </a:r>
            <a:r>
              <a:rPr lang="en-US" dirty="0" err="1"/>
              <a:t>Emprunter</a:t>
            </a:r>
            <a:r>
              <a:rPr lang="en-US" dirty="0"/>
              <a:t>, </a:t>
            </a:r>
            <a:r>
              <a:rPr lang="en-US" dirty="0" err="1"/>
              <a:t>Retourner</a:t>
            </a:r>
            <a:r>
              <a:rPr lang="en-US" dirty="0"/>
              <a:t>, </a:t>
            </a:r>
            <a:r>
              <a:rPr lang="en-US" dirty="0" err="1"/>
              <a:t>Gérer</a:t>
            </a:r>
            <a:r>
              <a:rPr lang="en-US" dirty="0"/>
              <a:t> le stock.</a:t>
            </a:r>
          </a:p>
          <a:p>
            <a:pPr>
              <a:lnSpc>
                <a:spcPct val="300000"/>
              </a:lnSpc>
              <a:buFont typeface="+mj-lt"/>
              <a:buAutoNum type="arabicPeriod"/>
            </a:pPr>
            <a:r>
              <a:rPr lang="en-US" dirty="0" err="1"/>
              <a:t>Réalisez</a:t>
            </a:r>
            <a:r>
              <a:rPr lang="en-US" dirty="0"/>
              <a:t> un </a:t>
            </a:r>
            <a:r>
              <a:rPr lang="en-US" b="1" dirty="0"/>
              <a:t>user flow</a:t>
            </a:r>
            <a:r>
              <a:rPr lang="en-US" dirty="0"/>
              <a:t> de la </a:t>
            </a:r>
            <a:r>
              <a:rPr lang="en-US" dirty="0" err="1"/>
              <a:t>réservation</a:t>
            </a:r>
            <a:r>
              <a:rPr lang="en-US" dirty="0"/>
              <a:t> d’un livre.</a:t>
            </a:r>
          </a:p>
          <a:p>
            <a:pPr>
              <a:lnSpc>
                <a:spcPct val="300000"/>
              </a:lnSpc>
              <a:buFont typeface="+mj-lt"/>
              <a:buAutoNum type="arabicPeriod"/>
            </a:pPr>
            <a:r>
              <a:rPr lang="en-US" dirty="0" err="1"/>
              <a:t>Dessinez</a:t>
            </a:r>
            <a:r>
              <a:rPr lang="en-US" dirty="0"/>
              <a:t> un </a:t>
            </a:r>
            <a:r>
              <a:rPr lang="en-US" b="1" dirty="0"/>
              <a:t>wireframe</a:t>
            </a:r>
            <a:r>
              <a:rPr lang="en-US" dirty="0"/>
              <a:t> simple de la page de recherche.</a:t>
            </a:r>
          </a:p>
          <a:p>
            <a:pPr marL="0" algn="l" rtl="0"/>
            <a:endParaRPr lang="en-DZ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811B0-FAC1-3943-723C-C4C76DACD116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822625-ACD1-454C-C3A7-3D4663298E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30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19252195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CB31F-5981-DFBF-457B-7C3B6DE0181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46455-6170-7CCB-70AE-83E1AAA2D0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31</a:t>
            </a:fld>
            <a:endParaRPr lang="en-DZ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C01774-7F32-4072-01CA-9B507DFE2AA0}"/>
              </a:ext>
            </a:extLst>
          </p:cNvPr>
          <p:cNvSpPr/>
          <p:nvPr/>
        </p:nvSpPr>
        <p:spPr>
          <a:xfrm>
            <a:off x="-152400" y="2057400"/>
            <a:ext cx="12344400" cy="3657600"/>
          </a:xfrm>
          <a:prstGeom prst="rect">
            <a:avLst/>
          </a:prstGeom>
          <a:solidFill>
            <a:srgbClr val="005E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540EFD-9134-3027-184E-0B37195ACC87}"/>
              </a:ext>
            </a:extLst>
          </p:cNvPr>
          <p:cNvSpPr/>
          <p:nvPr/>
        </p:nvSpPr>
        <p:spPr>
          <a:xfrm>
            <a:off x="8458200" y="2362200"/>
            <a:ext cx="3733800" cy="3352800"/>
          </a:xfrm>
          <a:prstGeom prst="ellipse">
            <a:avLst/>
          </a:prstGeom>
          <a:solidFill>
            <a:schemeClr val="bg1"/>
          </a:solidFill>
          <a:ln w="38100" cmpd="thinThick">
            <a:solidFill>
              <a:srgbClr val="FF1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035C73-7125-FA08-3A39-B8AFBE613C8F}"/>
              </a:ext>
            </a:extLst>
          </p:cNvPr>
          <p:cNvSpPr/>
          <p:nvPr/>
        </p:nvSpPr>
        <p:spPr>
          <a:xfrm>
            <a:off x="8610600" y="2514601"/>
            <a:ext cx="3429000" cy="3048000"/>
          </a:xfrm>
          <a:prstGeom prst="ellipse">
            <a:avLst/>
          </a:prstGeom>
          <a:solidFill>
            <a:schemeClr val="bg1"/>
          </a:solidFill>
          <a:ln w="38100" cmpd="thinThick">
            <a:solidFill>
              <a:srgbClr val="FF1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143940-A943-3C07-C35A-E921A1C4E4CE}"/>
              </a:ext>
            </a:extLst>
          </p:cNvPr>
          <p:cNvSpPr txBox="1"/>
          <p:nvPr/>
        </p:nvSpPr>
        <p:spPr>
          <a:xfrm>
            <a:off x="304801" y="3352800"/>
            <a:ext cx="8153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bg1"/>
                </a:solidFill>
              </a:rPr>
              <a:t>Analyse</a:t>
            </a:r>
            <a:r>
              <a:rPr lang="en-US" sz="4000" b="1" dirty="0">
                <a:solidFill>
                  <a:schemeClr val="bg1"/>
                </a:solidFill>
              </a:rPr>
              <a:t> des </a:t>
            </a:r>
            <a:r>
              <a:rPr lang="en-US" sz="4000" b="1" dirty="0" err="1">
                <a:solidFill>
                  <a:schemeClr val="bg1"/>
                </a:solidFill>
              </a:rPr>
              <a:t>besoins</a:t>
            </a:r>
            <a:r>
              <a:rPr lang="en-US" sz="4000" b="1" dirty="0">
                <a:solidFill>
                  <a:schemeClr val="bg1"/>
                </a:solidFill>
              </a:rPr>
              <a:t> pour la modification d’un </a:t>
            </a:r>
            <a:r>
              <a:rPr lang="en-US" sz="4000" b="1" dirty="0" err="1">
                <a:solidFill>
                  <a:schemeClr val="bg1"/>
                </a:solidFill>
              </a:rPr>
              <a:t>système</a:t>
            </a:r>
            <a:r>
              <a:rPr lang="en-US" sz="4000" b="1" dirty="0">
                <a:solidFill>
                  <a:schemeClr val="bg1"/>
                </a:solidFill>
              </a:rPr>
              <a:t> </a:t>
            </a:r>
            <a:r>
              <a:rPr lang="en-US" sz="4000" b="1" dirty="0" err="1">
                <a:solidFill>
                  <a:schemeClr val="bg1"/>
                </a:solidFill>
              </a:rPr>
              <a:t>existant</a:t>
            </a:r>
            <a:endParaRPr lang="fr-CA" sz="4000" b="1" dirty="0">
              <a:solidFill>
                <a:schemeClr val="bg1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1771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4FA09-BC59-AFF5-A956-1B9B57C58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1938992"/>
          </a:xfrm>
        </p:spPr>
        <p:txBody>
          <a:bodyPr/>
          <a:lstStyle/>
          <a:p>
            <a:pPr rtl="0"/>
            <a:r>
              <a:rPr lang="en-US" dirty="0" err="1"/>
              <a:t>Analyse</a:t>
            </a:r>
            <a:r>
              <a:rPr lang="en-US" dirty="0"/>
              <a:t> des </a:t>
            </a:r>
            <a:r>
              <a:rPr lang="en-US" dirty="0" err="1"/>
              <a:t>besoins</a:t>
            </a:r>
            <a:r>
              <a:rPr lang="en-US" dirty="0"/>
              <a:t> pour la </a:t>
            </a:r>
            <a:r>
              <a:rPr lang="en-US" b="1" dirty="0"/>
              <a:t>modification d’un </a:t>
            </a:r>
            <a:r>
              <a:rPr lang="en-US" b="1" dirty="0" err="1"/>
              <a:t>système</a:t>
            </a:r>
            <a:r>
              <a:rPr lang="en-US" b="1" dirty="0"/>
              <a:t> </a:t>
            </a:r>
            <a:r>
              <a:rPr lang="en-US" b="1" dirty="0" err="1"/>
              <a:t>existant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3A06B-C271-4DB2-A73B-79B67E1A9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6987" y="2667000"/>
            <a:ext cx="10494645" cy="2183675"/>
          </a:xfrm>
        </p:spPr>
        <p:txBody>
          <a:bodyPr/>
          <a:lstStyle/>
          <a:p>
            <a:pPr marL="0" algn="l" rtl="0">
              <a:lnSpc>
                <a:spcPct val="250000"/>
              </a:lnSpc>
            </a:pPr>
            <a:r>
              <a:rPr lang="en-US" sz="2000" dirty="0" err="1"/>
              <a:t>Lorsque</a:t>
            </a:r>
            <a:r>
              <a:rPr lang="en-US" sz="2000" dirty="0"/>
              <a:t> </a:t>
            </a:r>
            <a:r>
              <a:rPr lang="en-US" sz="2000" dirty="0" err="1"/>
              <a:t>l’on</a:t>
            </a:r>
            <a:r>
              <a:rPr lang="en-US" sz="2000" dirty="0"/>
              <a:t> </a:t>
            </a:r>
            <a:r>
              <a:rPr lang="en-US" sz="2000" dirty="0" err="1"/>
              <a:t>travaille</a:t>
            </a:r>
            <a:r>
              <a:rPr lang="en-US" sz="2000" dirty="0"/>
              <a:t> sur un </a:t>
            </a:r>
            <a:r>
              <a:rPr lang="en-US" sz="2000" dirty="0" err="1"/>
              <a:t>système</a:t>
            </a:r>
            <a:r>
              <a:rPr lang="en-US" sz="2000" dirty="0"/>
              <a:t> déjà </a:t>
            </a:r>
            <a:r>
              <a:rPr lang="en-US" sz="2000" dirty="0" err="1"/>
              <a:t>en</a:t>
            </a:r>
            <a:r>
              <a:rPr lang="en-US" sz="2000" dirty="0"/>
              <a:t> place, </a:t>
            </a:r>
            <a:r>
              <a:rPr lang="en-US" sz="2000" dirty="0" err="1"/>
              <a:t>l’analyse</a:t>
            </a:r>
            <a:r>
              <a:rPr lang="en-US" sz="2000" dirty="0"/>
              <a:t> des </a:t>
            </a:r>
            <a:r>
              <a:rPr lang="en-US" sz="2000" dirty="0" err="1"/>
              <a:t>besoins</a:t>
            </a:r>
            <a:r>
              <a:rPr lang="en-US" sz="2000" dirty="0"/>
              <a:t> ne </a:t>
            </a:r>
            <a:r>
              <a:rPr lang="en-US" sz="2000" dirty="0" err="1"/>
              <a:t>consiste</a:t>
            </a:r>
            <a:r>
              <a:rPr lang="en-US" sz="2000" dirty="0"/>
              <a:t> plus </a:t>
            </a:r>
            <a:r>
              <a:rPr lang="en-US" sz="2000" dirty="0" err="1"/>
              <a:t>seulement</a:t>
            </a:r>
            <a:r>
              <a:rPr lang="en-US" sz="2000" dirty="0"/>
              <a:t> </a:t>
            </a:r>
            <a:r>
              <a:rPr lang="en-US" sz="2000" dirty="0" err="1"/>
              <a:t>à</a:t>
            </a:r>
            <a:r>
              <a:rPr lang="en-US" sz="2000" dirty="0"/>
              <a:t> </a:t>
            </a:r>
            <a:r>
              <a:rPr lang="en-US" sz="2000" dirty="0" err="1"/>
              <a:t>créer</a:t>
            </a:r>
            <a:r>
              <a:rPr lang="en-US" sz="2000" dirty="0"/>
              <a:t> </a:t>
            </a:r>
            <a:r>
              <a:rPr lang="en-US" sz="2000" dirty="0" err="1"/>
              <a:t>quelque</a:t>
            </a:r>
            <a:r>
              <a:rPr lang="en-US" sz="2000" dirty="0"/>
              <a:t> chose de nouveau, </a:t>
            </a:r>
            <a:r>
              <a:rPr lang="en-US" sz="2000" dirty="0" err="1"/>
              <a:t>mais</a:t>
            </a:r>
            <a:r>
              <a:rPr lang="en-US" sz="2000" dirty="0"/>
              <a:t> </a:t>
            </a:r>
            <a:r>
              <a:rPr lang="en-US" sz="2000" dirty="0" err="1"/>
              <a:t>à</a:t>
            </a:r>
            <a:r>
              <a:rPr lang="en-US" sz="2000" dirty="0"/>
              <a:t> </a:t>
            </a:r>
            <a:r>
              <a:rPr lang="en-US" sz="2000" b="1" dirty="0" err="1"/>
              <a:t>comprendre</a:t>
            </a:r>
            <a:r>
              <a:rPr lang="en-US" sz="2000" b="1" dirty="0"/>
              <a:t> le </a:t>
            </a:r>
            <a:r>
              <a:rPr lang="en-US" sz="2000" b="1" dirty="0" err="1"/>
              <a:t>fonctionnement</a:t>
            </a:r>
            <a:r>
              <a:rPr lang="en-US" sz="2000" b="1" dirty="0"/>
              <a:t> </a:t>
            </a:r>
            <a:r>
              <a:rPr lang="en-US" sz="2000" b="1" dirty="0" err="1"/>
              <a:t>actuel</a:t>
            </a:r>
            <a:r>
              <a:rPr lang="en-US" sz="2000" b="1" dirty="0"/>
              <a:t>, identifier </a:t>
            </a:r>
            <a:r>
              <a:rPr lang="en-US" sz="2000" b="1" dirty="0" err="1"/>
              <a:t>ses</a:t>
            </a:r>
            <a:r>
              <a:rPr lang="en-US" sz="2000" b="1" dirty="0"/>
              <a:t> </a:t>
            </a:r>
            <a:r>
              <a:rPr lang="en-US" sz="2000" b="1" dirty="0" err="1"/>
              <a:t>limites</a:t>
            </a:r>
            <a:r>
              <a:rPr lang="en-US" sz="2000" b="1" dirty="0"/>
              <a:t> et proposer des </a:t>
            </a:r>
            <a:r>
              <a:rPr lang="en-US" sz="2000" b="1" dirty="0" err="1"/>
              <a:t>améliorations</a:t>
            </a:r>
            <a:r>
              <a:rPr lang="en-US" sz="2000" b="1" dirty="0"/>
              <a:t> </a:t>
            </a:r>
            <a:r>
              <a:rPr lang="en-US" sz="2000" b="1" dirty="0" err="1"/>
              <a:t>pertinentes</a:t>
            </a:r>
            <a:r>
              <a:rPr lang="en-US" sz="2000" dirty="0"/>
              <a:t>.</a:t>
            </a:r>
            <a:endParaRPr lang="en-DZ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554CC-B02A-E7D3-5E43-96F6EA45D32F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77BCBA-5F36-DFB6-F6D2-BC625D4E3B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32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8520214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4FA09-BC59-AFF5-A956-1B9B57C58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1938992"/>
          </a:xfrm>
        </p:spPr>
        <p:txBody>
          <a:bodyPr/>
          <a:lstStyle/>
          <a:p>
            <a:pPr rtl="0"/>
            <a:r>
              <a:rPr lang="en-US" dirty="0" err="1"/>
              <a:t>Analyse</a:t>
            </a:r>
            <a:r>
              <a:rPr lang="en-US" dirty="0"/>
              <a:t> des </a:t>
            </a:r>
            <a:r>
              <a:rPr lang="en-US" dirty="0" err="1"/>
              <a:t>besoins</a:t>
            </a:r>
            <a:r>
              <a:rPr lang="en-US" dirty="0"/>
              <a:t> pour la </a:t>
            </a:r>
            <a:r>
              <a:rPr lang="en-US" b="1" dirty="0"/>
              <a:t>modification d’un </a:t>
            </a:r>
            <a:r>
              <a:rPr lang="en-US" b="1" dirty="0" err="1"/>
              <a:t>système</a:t>
            </a:r>
            <a:r>
              <a:rPr lang="en-US" b="1" dirty="0"/>
              <a:t> </a:t>
            </a:r>
            <a:r>
              <a:rPr lang="en-US" b="1" dirty="0" err="1"/>
              <a:t>existant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3A06B-C271-4DB2-A73B-79B67E1A9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6987" y="2667000"/>
            <a:ext cx="10494645" cy="2953116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en-US" sz="2000" b="1" dirty="0" err="1"/>
              <a:t>Objectifs</a:t>
            </a:r>
            <a:r>
              <a:rPr lang="en-US" sz="2000" b="1" dirty="0"/>
              <a:t> </a:t>
            </a:r>
            <a:r>
              <a:rPr lang="en-US" sz="2000" b="1" dirty="0" err="1"/>
              <a:t>principaux</a:t>
            </a:r>
            <a:r>
              <a:rPr lang="en-US" sz="2000" b="1" dirty="0"/>
              <a:t> :</a:t>
            </a:r>
            <a:endParaRPr lang="en-US" sz="2000" dirty="0"/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Détecter</a:t>
            </a:r>
            <a:r>
              <a:rPr lang="en-US" sz="2000" dirty="0"/>
              <a:t> les </a:t>
            </a:r>
            <a:r>
              <a:rPr lang="en-US" sz="2000" dirty="0" err="1"/>
              <a:t>problèmes</a:t>
            </a:r>
            <a:r>
              <a:rPr lang="en-US" sz="2000" dirty="0"/>
              <a:t>, </a:t>
            </a:r>
            <a:r>
              <a:rPr lang="en-US" sz="2000" dirty="0" err="1"/>
              <a:t>dysfonctionnements</a:t>
            </a:r>
            <a:r>
              <a:rPr lang="en-US" sz="2000" dirty="0"/>
              <a:t> </a:t>
            </a:r>
            <a:r>
              <a:rPr lang="en-US" sz="2000" dirty="0" err="1"/>
              <a:t>ou</a:t>
            </a:r>
            <a:r>
              <a:rPr lang="en-US" sz="2000" dirty="0"/>
              <a:t> limitations du </a:t>
            </a:r>
            <a:r>
              <a:rPr lang="en-US" sz="2000" dirty="0" err="1"/>
              <a:t>système</a:t>
            </a:r>
            <a:r>
              <a:rPr lang="en-US" sz="2000" dirty="0"/>
              <a:t> </a:t>
            </a:r>
            <a:r>
              <a:rPr lang="en-US" sz="2000" dirty="0" err="1"/>
              <a:t>actuel</a:t>
            </a:r>
            <a:r>
              <a:rPr lang="en-US" sz="2000" dirty="0"/>
              <a:t>.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Déterminer</a:t>
            </a:r>
            <a:r>
              <a:rPr lang="en-US" sz="2000" dirty="0"/>
              <a:t> les </a:t>
            </a:r>
            <a:r>
              <a:rPr lang="en-US" sz="2000" dirty="0" err="1"/>
              <a:t>besoins</a:t>
            </a:r>
            <a:r>
              <a:rPr lang="en-US" sz="2000" dirty="0"/>
              <a:t> des </a:t>
            </a:r>
            <a:r>
              <a:rPr lang="en-US" sz="2000" dirty="0" err="1"/>
              <a:t>utilisateurs</a:t>
            </a:r>
            <a:r>
              <a:rPr lang="en-US" sz="2000" dirty="0"/>
              <a:t> pour la version </a:t>
            </a:r>
            <a:r>
              <a:rPr lang="en-US" sz="2000" dirty="0" err="1"/>
              <a:t>modifiée</a:t>
            </a:r>
            <a:r>
              <a:rPr lang="en-US" sz="2000" dirty="0"/>
              <a:t>.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Prioriser</a:t>
            </a:r>
            <a:r>
              <a:rPr lang="en-US" sz="2000" dirty="0"/>
              <a:t> les </a:t>
            </a:r>
            <a:r>
              <a:rPr lang="en-US" sz="2000" dirty="0" err="1"/>
              <a:t>changements</a:t>
            </a:r>
            <a:r>
              <a:rPr lang="en-US" sz="2000" dirty="0"/>
              <a:t> pour un impact maximal avec un </a:t>
            </a:r>
            <a:r>
              <a:rPr lang="en-US" sz="2000" dirty="0" err="1"/>
              <a:t>coût</a:t>
            </a:r>
            <a:r>
              <a:rPr lang="en-US" sz="2000" dirty="0"/>
              <a:t> </a:t>
            </a:r>
            <a:r>
              <a:rPr lang="en-US" sz="2000" dirty="0" err="1"/>
              <a:t>maîtrisé</a:t>
            </a:r>
            <a:r>
              <a:rPr lang="en-US" sz="200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554CC-B02A-E7D3-5E43-96F6EA45D32F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77BCBA-5F36-DFB6-F6D2-BC625D4E3B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33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27788527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7F61D-B8C5-1191-F324-734DD40FC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434" y="2958955"/>
            <a:ext cx="10494645" cy="1683538"/>
          </a:xfrm>
        </p:spPr>
        <p:txBody>
          <a:bodyPr/>
          <a:lstStyle/>
          <a:p>
            <a:pPr marL="0" algn="l" rtl="0">
              <a:lnSpc>
                <a:spcPct val="300000"/>
              </a:lnSpc>
            </a:pPr>
            <a:r>
              <a:rPr lang="en-US" sz="2000" b="1" i="1" u="sng" dirty="0" err="1"/>
              <a:t>Exemple</a:t>
            </a:r>
            <a:r>
              <a:rPr lang="en-US" sz="2000" b="1" i="1" u="sng" dirty="0"/>
              <a:t> : </a:t>
            </a:r>
            <a:r>
              <a:rPr lang="en-US" sz="2000" dirty="0"/>
              <a:t>Une application de gestion des notes qui </a:t>
            </a:r>
            <a:r>
              <a:rPr lang="en-US" sz="2000" dirty="0" err="1"/>
              <a:t>fonctionne</a:t>
            </a:r>
            <a:r>
              <a:rPr lang="en-US" sz="2000" dirty="0"/>
              <a:t> </a:t>
            </a:r>
            <a:r>
              <a:rPr lang="en-US" sz="2000" dirty="0" err="1"/>
              <a:t>mais</a:t>
            </a:r>
            <a:r>
              <a:rPr lang="en-US" sz="2000" dirty="0"/>
              <a:t> ne </a:t>
            </a:r>
            <a:r>
              <a:rPr lang="en-US" sz="2000" dirty="0" err="1"/>
              <a:t>permet</a:t>
            </a:r>
            <a:r>
              <a:rPr lang="en-US" sz="2000" dirty="0"/>
              <a:t> pas </a:t>
            </a:r>
            <a:r>
              <a:rPr lang="en-US" sz="2000" dirty="0" err="1"/>
              <a:t>l’export</a:t>
            </a:r>
            <a:r>
              <a:rPr lang="en-US" sz="2000" dirty="0"/>
              <a:t> des </a:t>
            </a:r>
            <a:r>
              <a:rPr lang="en-US" sz="2000" dirty="0" err="1"/>
              <a:t>résultats</a:t>
            </a:r>
            <a:r>
              <a:rPr lang="en-US" sz="2000" dirty="0"/>
              <a:t> </a:t>
            </a:r>
            <a:r>
              <a:rPr lang="en-US" sz="2000" dirty="0" err="1"/>
              <a:t>vers</a:t>
            </a:r>
            <a:r>
              <a:rPr lang="en-US" sz="2000" dirty="0"/>
              <a:t> Excel </a:t>
            </a:r>
            <a:r>
              <a:rPr lang="en-US" sz="2000" dirty="0" err="1"/>
              <a:t>nécessite</a:t>
            </a:r>
            <a:r>
              <a:rPr lang="en-US" sz="2000" dirty="0"/>
              <a:t> </a:t>
            </a:r>
            <a:r>
              <a:rPr lang="en-US" sz="2000" dirty="0" err="1"/>
              <a:t>une</a:t>
            </a:r>
            <a:r>
              <a:rPr lang="en-US" sz="2000" dirty="0"/>
              <a:t> modification </a:t>
            </a:r>
            <a:r>
              <a:rPr lang="en-US" sz="2000" dirty="0" err="1"/>
              <a:t>ciblée</a:t>
            </a:r>
            <a:r>
              <a:rPr lang="en-US" sz="2000" dirty="0"/>
              <a:t> </a:t>
            </a:r>
            <a:r>
              <a:rPr lang="en-US" sz="2000" dirty="0" err="1"/>
              <a:t>plutôt</a:t>
            </a:r>
            <a:r>
              <a:rPr lang="en-US" sz="2000" dirty="0"/>
              <a:t> </a:t>
            </a:r>
            <a:r>
              <a:rPr lang="en-US" sz="2000" dirty="0" err="1"/>
              <a:t>qu’un</a:t>
            </a:r>
            <a:r>
              <a:rPr lang="en-US" sz="2000" dirty="0"/>
              <a:t> nouveau </a:t>
            </a:r>
            <a:r>
              <a:rPr lang="en-US" sz="2000" dirty="0" err="1"/>
              <a:t>développement</a:t>
            </a:r>
            <a:r>
              <a:rPr lang="en-US" sz="2000" dirty="0"/>
              <a:t> </a:t>
            </a:r>
            <a:r>
              <a:rPr lang="en-US" sz="2000" dirty="0" err="1"/>
              <a:t>complet</a:t>
            </a:r>
            <a:r>
              <a:rPr lang="en-US" sz="2000" dirty="0"/>
              <a:t>.</a:t>
            </a:r>
            <a:endParaRPr lang="en-DZ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2F219-F6CF-F406-A659-8C25897448FA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5CB2BD-51AF-9CE7-AF03-E301756B83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34</a:t>
            </a:fld>
            <a:endParaRPr lang="en-DZ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60E5773-B701-11BA-433A-BC7FFC7B5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1938992"/>
          </a:xfrm>
        </p:spPr>
        <p:txBody>
          <a:bodyPr/>
          <a:lstStyle/>
          <a:p>
            <a:pPr rtl="0"/>
            <a:r>
              <a:rPr lang="en-US" dirty="0" err="1"/>
              <a:t>Analyse</a:t>
            </a:r>
            <a:r>
              <a:rPr lang="en-US" dirty="0"/>
              <a:t> des </a:t>
            </a:r>
            <a:r>
              <a:rPr lang="en-US" dirty="0" err="1"/>
              <a:t>besoins</a:t>
            </a:r>
            <a:r>
              <a:rPr lang="en-US" dirty="0"/>
              <a:t> pour la </a:t>
            </a:r>
            <a:r>
              <a:rPr lang="en-US" b="1" dirty="0"/>
              <a:t>modification d’un </a:t>
            </a:r>
            <a:r>
              <a:rPr lang="en-US" b="1" dirty="0" err="1"/>
              <a:t>système</a:t>
            </a:r>
            <a:r>
              <a:rPr lang="en-US" b="1" dirty="0"/>
              <a:t> </a:t>
            </a:r>
            <a:r>
              <a:rPr lang="en-US" b="1" dirty="0" err="1"/>
              <a:t>existant</a:t>
            </a:r>
            <a:endParaRPr lang="en-DZ" dirty="0"/>
          </a:p>
        </p:txBody>
      </p:sp>
    </p:spTree>
    <p:extLst>
      <p:ext uri="{BB962C8B-B14F-4D97-AF65-F5344CB8AC3E}">
        <p14:creationId xmlns:p14="http://schemas.microsoft.com/office/powerpoint/2010/main" val="33079724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23A00-E3F7-2414-3EF8-F478604BB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1292662"/>
          </a:xfrm>
        </p:spPr>
        <p:txBody>
          <a:bodyPr/>
          <a:lstStyle/>
          <a:p>
            <a:r>
              <a:rPr lang="en-US" b="1" dirty="0"/>
              <a:t>Étapes de </a:t>
            </a:r>
            <a:r>
              <a:rPr lang="en-US" b="1" dirty="0" err="1"/>
              <a:t>l’analyse</a:t>
            </a:r>
            <a:r>
              <a:rPr lang="en-US" b="1" dirty="0"/>
              <a:t> des </a:t>
            </a:r>
            <a:r>
              <a:rPr lang="en-US" b="1" dirty="0" err="1"/>
              <a:t>besoins</a:t>
            </a:r>
            <a:r>
              <a:rPr lang="en-US" b="1" dirty="0"/>
              <a:t> pour un </a:t>
            </a:r>
            <a:r>
              <a:rPr lang="en-US" b="1" dirty="0" err="1"/>
              <a:t>système</a:t>
            </a:r>
            <a:r>
              <a:rPr lang="en-US" b="1" dirty="0"/>
              <a:t> </a:t>
            </a:r>
            <a:r>
              <a:rPr lang="en-US" b="1" dirty="0" err="1"/>
              <a:t>à</a:t>
            </a:r>
            <a:r>
              <a:rPr lang="en-US" b="1" dirty="0"/>
              <a:t> modifier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28B21-10AE-97BD-DED2-34F82FB0F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2098862"/>
            <a:ext cx="10494645" cy="4222694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000" b="1" dirty="0"/>
              <a:t>Étude du </a:t>
            </a:r>
            <a:r>
              <a:rPr lang="en-US" sz="2000" b="1" dirty="0" err="1"/>
              <a:t>système</a:t>
            </a:r>
            <a:r>
              <a:rPr lang="en-US" sz="2000" b="1" dirty="0"/>
              <a:t> </a:t>
            </a:r>
            <a:r>
              <a:rPr lang="en-US" sz="2000" b="1" dirty="0" err="1"/>
              <a:t>actuel</a:t>
            </a:r>
            <a:endParaRPr lang="en-US" sz="2000" b="1" dirty="0"/>
          </a:p>
          <a:p>
            <a:pPr>
              <a:lnSpc>
                <a:spcPct val="200000"/>
              </a:lnSpc>
            </a:pPr>
            <a:r>
              <a:rPr lang="en-US" sz="2000" b="1" dirty="0"/>
              <a:t>Objectif :</a:t>
            </a:r>
            <a:r>
              <a:rPr lang="en-US" sz="2000" dirty="0"/>
              <a:t> </a:t>
            </a:r>
            <a:r>
              <a:rPr lang="en-US" sz="2000" dirty="0" err="1"/>
              <a:t>Comprendre</a:t>
            </a:r>
            <a:r>
              <a:rPr lang="en-US" sz="2000" dirty="0"/>
              <a:t> </a:t>
            </a:r>
            <a:r>
              <a:rPr lang="en-US" sz="2000" dirty="0" err="1"/>
              <a:t>ce</a:t>
            </a:r>
            <a:r>
              <a:rPr lang="en-US" sz="2000" dirty="0"/>
              <a:t> qui </a:t>
            </a:r>
            <a:r>
              <a:rPr lang="en-US" sz="2000" dirty="0" err="1"/>
              <a:t>existe</a:t>
            </a:r>
            <a:r>
              <a:rPr lang="en-US" sz="2000" dirty="0"/>
              <a:t> déjà.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Identifier les </a:t>
            </a:r>
            <a:r>
              <a:rPr lang="en-US" sz="2000" b="1" dirty="0" err="1"/>
              <a:t>processus</a:t>
            </a:r>
            <a:r>
              <a:rPr lang="en-US" sz="2000" b="1" dirty="0"/>
              <a:t> métiers </a:t>
            </a:r>
            <a:r>
              <a:rPr lang="en-US" sz="2000" b="1" dirty="0" err="1"/>
              <a:t>existants</a:t>
            </a:r>
            <a:r>
              <a:rPr lang="en-US" sz="2000" dirty="0"/>
              <a:t>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Lister les </a:t>
            </a:r>
            <a:r>
              <a:rPr lang="en-US" sz="2000" b="1" dirty="0" err="1"/>
              <a:t>fonctionnalités</a:t>
            </a:r>
            <a:r>
              <a:rPr lang="en-US" sz="2000" b="1" dirty="0"/>
              <a:t> </a:t>
            </a:r>
            <a:r>
              <a:rPr lang="en-US" sz="2000" b="1" dirty="0" err="1"/>
              <a:t>actuelles</a:t>
            </a:r>
            <a:r>
              <a:rPr lang="en-US" sz="2000" dirty="0"/>
              <a:t>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Recenser</a:t>
            </a:r>
            <a:r>
              <a:rPr lang="en-US" sz="2000" dirty="0"/>
              <a:t> les </a:t>
            </a:r>
            <a:r>
              <a:rPr lang="en-US" sz="2000" b="1" dirty="0"/>
              <a:t>technologies </a:t>
            </a:r>
            <a:r>
              <a:rPr lang="en-US" sz="2000" b="1" dirty="0" err="1"/>
              <a:t>utilisées</a:t>
            </a:r>
            <a:r>
              <a:rPr lang="en-US" sz="2000" dirty="0"/>
              <a:t> (</a:t>
            </a:r>
            <a:r>
              <a:rPr lang="en-US" sz="2000" dirty="0" err="1"/>
              <a:t>langage</a:t>
            </a:r>
            <a:r>
              <a:rPr lang="en-US" sz="2000" dirty="0"/>
              <a:t>, base de </a:t>
            </a:r>
            <a:r>
              <a:rPr lang="en-US" sz="2000" dirty="0" err="1"/>
              <a:t>données</a:t>
            </a:r>
            <a:r>
              <a:rPr lang="en-US" sz="2000" dirty="0"/>
              <a:t>, frameworks).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Identifier les </a:t>
            </a:r>
            <a:r>
              <a:rPr lang="en-US" sz="2000" b="1" dirty="0"/>
              <a:t>forces et faiblesses</a:t>
            </a:r>
            <a:r>
              <a:rPr lang="en-US" sz="2000" dirty="0"/>
              <a:t> du </a:t>
            </a:r>
            <a:r>
              <a:rPr lang="en-US" sz="2000" dirty="0" err="1"/>
              <a:t>système</a:t>
            </a:r>
            <a:r>
              <a:rPr lang="en-US" sz="2000" dirty="0"/>
              <a:t> </a:t>
            </a:r>
            <a:r>
              <a:rPr lang="en-US" sz="2000" dirty="0" err="1"/>
              <a:t>actuel</a:t>
            </a:r>
            <a:r>
              <a:rPr lang="en-US" sz="2000" dirty="0"/>
              <a:t>.</a:t>
            </a:r>
          </a:p>
          <a:p>
            <a:pPr marL="0" algn="l" rtl="0">
              <a:lnSpc>
                <a:spcPct val="200000"/>
              </a:lnSpc>
            </a:pPr>
            <a:endParaRPr lang="en-DZ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2FA85-D5BD-049D-897B-EAFA495F046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448BA-D18D-35BE-BD1F-DAA18A97B8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35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3114180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23A00-E3F7-2414-3EF8-F478604BB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1292662"/>
          </a:xfrm>
        </p:spPr>
        <p:txBody>
          <a:bodyPr/>
          <a:lstStyle/>
          <a:p>
            <a:r>
              <a:rPr lang="en-US" b="1" dirty="0"/>
              <a:t>Étapes de </a:t>
            </a:r>
            <a:r>
              <a:rPr lang="en-US" b="1" dirty="0" err="1"/>
              <a:t>l’analyse</a:t>
            </a:r>
            <a:r>
              <a:rPr lang="en-US" b="1" dirty="0"/>
              <a:t> des </a:t>
            </a:r>
            <a:r>
              <a:rPr lang="en-US" b="1" dirty="0" err="1"/>
              <a:t>besoins</a:t>
            </a:r>
            <a:r>
              <a:rPr lang="en-US" b="1" dirty="0"/>
              <a:t> pour un </a:t>
            </a:r>
            <a:r>
              <a:rPr lang="en-US" b="1" dirty="0" err="1"/>
              <a:t>système</a:t>
            </a:r>
            <a:r>
              <a:rPr lang="en-US" b="1" dirty="0"/>
              <a:t> </a:t>
            </a:r>
            <a:r>
              <a:rPr lang="en-US" b="1" dirty="0" err="1"/>
              <a:t>à</a:t>
            </a:r>
            <a:r>
              <a:rPr lang="en-US" b="1" dirty="0"/>
              <a:t> modifier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28B21-10AE-97BD-DED2-34F82FB0F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2098862"/>
            <a:ext cx="10494645" cy="3607141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000" b="1" dirty="0">
                <a:solidFill>
                  <a:srgbClr val="941651"/>
                </a:solidFill>
              </a:rPr>
              <a:t>Étude du </a:t>
            </a:r>
            <a:r>
              <a:rPr lang="en-US" sz="2000" b="1" dirty="0" err="1">
                <a:solidFill>
                  <a:srgbClr val="941651"/>
                </a:solidFill>
              </a:rPr>
              <a:t>système</a:t>
            </a:r>
            <a:r>
              <a:rPr lang="en-US" sz="2000" b="1" dirty="0">
                <a:solidFill>
                  <a:srgbClr val="941651"/>
                </a:solidFill>
              </a:rPr>
              <a:t> </a:t>
            </a:r>
            <a:r>
              <a:rPr lang="en-US" sz="2000" b="1" dirty="0" err="1">
                <a:solidFill>
                  <a:srgbClr val="941651"/>
                </a:solidFill>
              </a:rPr>
              <a:t>actuel</a:t>
            </a:r>
            <a:endParaRPr lang="en-US" sz="2000" b="1" dirty="0">
              <a:solidFill>
                <a:srgbClr val="941651"/>
              </a:solidFill>
            </a:endParaRPr>
          </a:p>
          <a:p>
            <a:pPr>
              <a:lnSpc>
                <a:spcPct val="200000"/>
              </a:lnSpc>
            </a:pPr>
            <a:r>
              <a:rPr lang="en-US" sz="2000" b="1" dirty="0" err="1"/>
              <a:t>Outils</a:t>
            </a:r>
            <a:r>
              <a:rPr lang="en-US" sz="2000" b="1" dirty="0"/>
              <a:t> :</a:t>
            </a:r>
            <a:endParaRPr lang="en-US" sz="20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Diagrammes</a:t>
            </a:r>
            <a:r>
              <a:rPr lang="en-US" sz="2000" dirty="0"/>
              <a:t> de </a:t>
            </a:r>
            <a:r>
              <a:rPr lang="en-US" sz="2000" dirty="0" err="1"/>
              <a:t>processus</a:t>
            </a:r>
            <a:r>
              <a:rPr lang="en-US" sz="2000" dirty="0"/>
              <a:t> (BPMN)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Cartographie</a:t>
            </a:r>
            <a:r>
              <a:rPr lang="en-US" sz="2000" dirty="0"/>
              <a:t> </a:t>
            </a:r>
            <a:r>
              <a:rPr lang="en-US" sz="2000" dirty="0" err="1"/>
              <a:t>fonctionnelle</a:t>
            </a:r>
            <a:endParaRPr lang="en-US" sz="20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Observation et </a:t>
            </a:r>
            <a:r>
              <a:rPr lang="en-US" sz="2000" dirty="0" err="1"/>
              <a:t>entretien</a:t>
            </a:r>
            <a:r>
              <a:rPr lang="en-US" sz="2000" dirty="0"/>
              <a:t> avec les </a:t>
            </a:r>
            <a:r>
              <a:rPr lang="en-US" sz="2000" dirty="0" err="1"/>
              <a:t>utilisateurs</a:t>
            </a:r>
            <a:endParaRPr lang="en-US" sz="2000" dirty="0"/>
          </a:p>
          <a:p>
            <a:pPr marL="0" algn="l" rtl="0">
              <a:lnSpc>
                <a:spcPct val="200000"/>
              </a:lnSpc>
            </a:pPr>
            <a:endParaRPr lang="en-DZ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2FA85-D5BD-049D-897B-EAFA495F046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448BA-D18D-35BE-BD1F-DAA18A97B8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36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6422877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23A00-E3F7-2414-3EF8-F478604BB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1292662"/>
          </a:xfrm>
        </p:spPr>
        <p:txBody>
          <a:bodyPr/>
          <a:lstStyle/>
          <a:p>
            <a:r>
              <a:rPr lang="en-US" b="1" dirty="0"/>
              <a:t>Étapes de </a:t>
            </a:r>
            <a:r>
              <a:rPr lang="en-US" b="1" dirty="0" err="1"/>
              <a:t>l’analyse</a:t>
            </a:r>
            <a:r>
              <a:rPr lang="en-US" b="1" dirty="0"/>
              <a:t> des </a:t>
            </a:r>
            <a:r>
              <a:rPr lang="en-US" b="1" dirty="0" err="1"/>
              <a:t>besoins</a:t>
            </a:r>
            <a:r>
              <a:rPr lang="en-US" b="1" dirty="0"/>
              <a:t> pour un </a:t>
            </a:r>
            <a:r>
              <a:rPr lang="en-US" b="1" dirty="0" err="1"/>
              <a:t>système</a:t>
            </a:r>
            <a:r>
              <a:rPr lang="en-US" b="1" dirty="0"/>
              <a:t> </a:t>
            </a:r>
            <a:r>
              <a:rPr lang="en-US" b="1" dirty="0" err="1"/>
              <a:t>à</a:t>
            </a:r>
            <a:r>
              <a:rPr lang="en-US" b="1" dirty="0"/>
              <a:t> modifier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28B21-10AE-97BD-DED2-34F82FB0F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2098862"/>
            <a:ext cx="10494645" cy="456894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941651"/>
                </a:solidFill>
              </a:rPr>
              <a:t>Identification des </a:t>
            </a:r>
            <a:r>
              <a:rPr lang="en-US" sz="2000" b="1" dirty="0" err="1">
                <a:solidFill>
                  <a:srgbClr val="941651"/>
                </a:solidFill>
              </a:rPr>
              <a:t>problèmes</a:t>
            </a:r>
            <a:r>
              <a:rPr lang="en-US" sz="2000" b="1" dirty="0">
                <a:solidFill>
                  <a:srgbClr val="941651"/>
                </a:solidFill>
              </a:rPr>
              <a:t> et </a:t>
            </a:r>
            <a:r>
              <a:rPr lang="en-US" sz="2000" b="1" dirty="0" err="1">
                <a:solidFill>
                  <a:srgbClr val="941651"/>
                </a:solidFill>
              </a:rPr>
              <a:t>besoins</a:t>
            </a:r>
            <a:r>
              <a:rPr lang="en-US" sz="2000" b="1" dirty="0">
                <a:solidFill>
                  <a:srgbClr val="941651"/>
                </a:solidFill>
              </a:rPr>
              <a:t> </a:t>
            </a:r>
            <a:r>
              <a:rPr lang="en-US" sz="2000" b="1" dirty="0" err="1">
                <a:solidFill>
                  <a:srgbClr val="941651"/>
                </a:solidFill>
              </a:rPr>
              <a:t>d’évolution</a:t>
            </a:r>
            <a:endParaRPr lang="en-US" sz="2000" b="1" dirty="0">
              <a:solidFill>
                <a:srgbClr val="94165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000" b="1" dirty="0" err="1"/>
              <a:t>Recueil</a:t>
            </a:r>
            <a:r>
              <a:rPr lang="en-US" sz="2000" b="1" dirty="0"/>
              <a:t> des </a:t>
            </a:r>
            <a:r>
              <a:rPr lang="en-US" sz="2000" b="1" dirty="0" err="1"/>
              <a:t>dysfonctionnements</a:t>
            </a:r>
            <a:r>
              <a:rPr lang="en-US" sz="2000" dirty="0"/>
              <a:t> 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Bugs </a:t>
            </a:r>
            <a:r>
              <a:rPr lang="en-US" sz="2000" dirty="0" err="1"/>
              <a:t>fréquents</a:t>
            </a:r>
            <a:r>
              <a:rPr lang="en-US" sz="2000" dirty="0"/>
              <a:t>, </a:t>
            </a:r>
            <a:r>
              <a:rPr lang="en-US" sz="2000" dirty="0" err="1"/>
              <a:t>lenteur</a:t>
            </a:r>
            <a:r>
              <a:rPr lang="en-US" sz="2000" dirty="0"/>
              <a:t>, interfaces </a:t>
            </a:r>
            <a:r>
              <a:rPr lang="en-US" sz="2000" dirty="0" err="1"/>
              <a:t>peu</a:t>
            </a:r>
            <a:r>
              <a:rPr lang="en-US" sz="2000" dirty="0"/>
              <a:t> </a:t>
            </a:r>
            <a:r>
              <a:rPr lang="en-US" sz="2000" dirty="0" err="1"/>
              <a:t>ergonomiques</a:t>
            </a:r>
            <a:r>
              <a:rPr lang="en-US" sz="2000" dirty="0"/>
              <a:t>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Limitations techniques (ex. pas </a:t>
            </a:r>
            <a:r>
              <a:rPr lang="en-US" sz="2000" dirty="0" err="1"/>
              <a:t>d’accès</a:t>
            </a:r>
            <a:r>
              <a:rPr lang="en-US" sz="2000" dirty="0"/>
              <a:t> mobile, stockage </a:t>
            </a:r>
            <a:r>
              <a:rPr lang="en-US" sz="2000" dirty="0" err="1"/>
              <a:t>limité</a:t>
            </a:r>
            <a:r>
              <a:rPr lang="en-US" sz="2000" dirty="0"/>
              <a:t>).</a:t>
            </a:r>
          </a:p>
          <a:p>
            <a:pPr>
              <a:lnSpc>
                <a:spcPct val="150000"/>
              </a:lnSpc>
            </a:pPr>
            <a:r>
              <a:rPr lang="en-US" sz="2000" b="1" dirty="0" err="1"/>
              <a:t>Analyse</a:t>
            </a:r>
            <a:r>
              <a:rPr lang="en-US" sz="2000" b="1" dirty="0"/>
              <a:t> des </a:t>
            </a:r>
            <a:r>
              <a:rPr lang="en-US" sz="2000" b="1" dirty="0" err="1"/>
              <a:t>besoins</a:t>
            </a:r>
            <a:r>
              <a:rPr lang="en-US" sz="2000" b="1" dirty="0"/>
              <a:t> </a:t>
            </a:r>
            <a:r>
              <a:rPr lang="en-US" sz="2000" b="1" dirty="0" err="1"/>
              <a:t>utilisateurs</a:t>
            </a:r>
            <a:r>
              <a:rPr lang="en-US" sz="2000" dirty="0"/>
              <a:t> 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Nouveaux </a:t>
            </a:r>
            <a:r>
              <a:rPr lang="en-US" sz="2000" dirty="0" err="1"/>
              <a:t>besoins</a:t>
            </a:r>
            <a:r>
              <a:rPr lang="en-US" sz="2000" dirty="0"/>
              <a:t> </a:t>
            </a:r>
            <a:r>
              <a:rPr lang="en-US" sz="2000" dirty="0" err="1"/>
              <a:t>exprimés</a:t>
            </a:r>
            <a:r>
              <a:rPr lang="en-US" sz="2000" dirty="0"/>
              <a:t> </a:t>
            </a:r>
            <a:r>
              <a:rPr lang="en-US" sz="2000" dirty="0" err="1"/>
              <a:t>depuis</a:t>
            </a:r>
            <a:r>
              <a:rPr lang="en-US" sz="2000" dirty="0"/>
              <a:t> la mise </a:t>
            </a:r>
            <a:r>
              <a:rPr lang="en-US" sz="2000" dirty="0" err="1"/>
              <a:t>en</a:t>
            </a:r>
            <a:r>
              <a:rPr lang="en-US" sz="2000" dirty="0"/>
              <a:t> production.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Changements</a:t>
            </a:r>
            <a:r>
              <a:rPr lang="en-US" sz="2000" dirty="0"/>
              <a:t> dans </a:t>
            </a:r>
            <a:r>
              <a:rPr lang="en-US" sz="2000" dirty="0" err="1"/>
              <a:t>l’organisation</a:t>
            </a:r>
            <a:r>
              <a:rPr lang="en-US" sz="2000" dirty="0"/>
              <a:t> </a:t>
            </a:r>
            <a:r>
              <a:rPr lang="en-US" sz="2000" dirty="0" err="1"/>
              <a:t>ou</a:t>
            </a:r>
            <a:r>
              <a:rPr lang="en-US" sz="2000" dirty="0"/>
              <a:t> dans la </a:t>
            </a:r>
            <a:r>
              <a:rPr lang="en-US" sz="2000" dirty="0" err="1"/>
              <a:t>réglementation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000" b="1" dirty="0" err="1"/>
              <a:t>Analyse</a:t>
            </a:r>
            <a:r>
              <a:rPr lang="en-US" sz="2000" b="1" dirty="0"/>
              <a:t> des impacts</a:t>
            </a:r>
            <a:r>
              <a:rPr lang="en-US" sz="2000" dirty="0"/>
              <a:t> 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Quels</a:t>
            </a:r>
            <a:r>
              <a:rPr lang="en-US" sz="2000" dirty="0"/>
              <a:t> modules </a:t>
            </a:r>
            <a:r>
              <a:rPr lang="en-US" sz="2000" dirty="0" err="1"/>
              <a:t>seront</a:t>
            </a:r>
            <a:r>
              <a:rPr lang="en-US" sz="2000" dirty="0"/>
              <a:t> </a:t>
            </a:r>
            <a:r>
              <a:rPr lang="en-US" sz="2000" dirty="0" err="1"/>
              <a:t>affectés</a:t>
            </a:r>
            <a:r>
              <a:rPr lang="en-US" sz="2000" dirty="0"/>
              <a:t> par la modification ?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Quels</a:t>
            </a:r>
            <a:r>
              <a:rPr lang="en-US" sz="2000" dirty="0"/>
              <a:t> </a:t>
            </a:r>
            <a:r>
              <a:rPr lang="en-US" sz="2000" dirty="0" err="1"/>
              <a:t>risques</a:t>
            </a:r>
            <a:r>
              <a:rPr lang="en-US" sz="2000" dirty="0"/>
              <a:t> pour la </a:t>
            </a:r>
            <a:r>
              <a:rPr lang="en-US" sz="2000" dirty="0" err="1"/>
              <a:t>continuité</a:t>
            </a:r>
            <a:r>
              <a:rPr lang="en-US" sz="2000" dirty="0"/>
              <a:t> du service ?</a:t>
            </a:r>
            <a:endParaRPr lang="en-DZ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2FA85-D5BD-049D-897B-EAFA495F046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448BA-D18D-35BE-BD1F-DAA18A97B8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37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13349201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D2E3-DBC0-517B-BFEE-03EB73F97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Exemple</a:t>
            </a:r>
            <a:r>
              <a:rPr lang="en-US" dirty="0"/>
              <a:t> pratique 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FFDBC-B08C-5CA3-B638-9548E8510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292" y="1604899"/>
            <a:ext cx="10494645" cy="28655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DZ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Système existant :</a:t>
            </a:r>
            <a:r>
              <a:rPr lang="en-DZ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Application interne de réservation de salles dans une université.</a:t>
            </a:r>
            <a:endParaRPr lang="en-DZ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DZ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Problèmes identifiés :</a:t>
            </a:r>
            <a:endParaRPr lang="en-DZ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DZ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Pas de confirmation automatique par email.</a:t>
            </a:r>
            <a:endParaRPr lang="en-DZ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DZ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Impossible de réserver plusieurs salles à la fois.</a:t>
            </a:r>
            <a:endParaRPr lang="en-DZ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DZ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Interface peu lisible sur mobile.</a:t>
            </a:r>
            <a:endParaRPr lang="en-DZ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DZ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Analyse des besoins de modification :</a:t>
            </a:r>
            <a:endParaRPr lang="en-DZ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algn="l" rtl="0">
              <a:lnSpc>
                <a:spcPct val="150000"/>
              </a:lnSpc>
            </a:pPr>
            <a:endParaRPr lang="en-DZ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B4A30-B2DD-59C3-4CC0-D916C609D3AD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B761C8-520E-AD79-FCBB-D546A55CDE1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38</a:t>
            </a:fld>
            <a:endParaRPr lang="en-DZ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DE58AC-FEF7-23AA-80E3-D21ADB654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17006"/>
              </p:ext>
            </p:extLst>
          </p:nvPr>
        </p:nvGraphicFramePr>
        <p:xfrm>
          <a:off x="712292" y="4274896"/>
          <a:ext cx="10597338" cy="22985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32446">
                  <a:extLst>
                    <a:ext uri="{9D8B030D-6E8A-4147-A177-3AD203B41FA5}">
                      <a16:colId xmlns:a16="http://schemas.microsoft.com/office/drawing/2014/main" val="3762529333"/>
                    </a:ext>
                  </a:extLst>
                </a:gridCol>
                <a:gridCol w="3532446">
                  <a:extLst>
                    <a:ext uri="{9D8B030D-6E8A-4147-A177-3AD203B41FA5}">
                      <a16:colId xmlns:a16="http://schemas.microsoft.com/office/drawing/2014/main" val="3910170521"/>
                    </a:ext>
                  </a:extLst>
                </a:gridCol>
                <a:gridCol w="3532446">
                  <a:extLst>
                    <a:ext uri="{9D8B030D-6E8A-4147-A177-3AD203B41FA5}">
                      <a16:colId xmlns:a16="http://schemas.microsoft.com/office/drawing/2014/main" val="2337786968"/>
                    </a:ext>
                  </a:extLst>
                </a:gridCol>
              </a:tblGrid>
              <a:tr h="358361">
                <a:tc>
                  <a:txBody>
                    <a:bodyPr/>
                    <a:lstStyle/>
                    <a:p>
                      <a:pPr algn="ctr"/>
                      <a:r>
                        <a:rPr lang="en-DZ" sz="2000" kern="0">
                          <a:effectLst/>
                        </a:rPr>
                        <a:t>Problème actuel</a:t>
                      </a:r>
                      <a:endParaRPr lang="en-DZ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Z" sz="2000" kern="0">
                          <a:effectLst/>
                        </a:rPr>
                        <a:t>Objectif de modification</a:t>
                      </a:r>
                      <a:endParaRPr lang="en-DZ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Z" sz="2000" kern="0">
                          <a:effectLst/>
                        </a:rPr>
                        <a:t>Priorité</a:t>
                      </a:r>
                      <a:endParaRPr lang="en-DZ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15218748"/>
                  </a:ext>
                </a:extLst>
              </a:tr>
              <a:tr h="682915">
                <a:tc>
                  <a:txBody>
                    <a:bodyPr/>
                    <a:lstStyle/>
                    <a:p>
                      <a:r>
                        <a:rPr lang="en-DZ" sz="2000" kern="0">
                          <a:effectLst/>
                        </a:rPr>
                        <a:t>Pas de notification email</a:t>
                      </a:r>
                      <a:endParaRPr lang="en-DZ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DZ" sz="2000" kern="0">
                          <a:effectLst/>
                        </a:rPr>
                        <a:t>Ajouter envoi automatique d’email lors de la réservation</a:t>
                      </a:r>
                      <a:endParaRPr lang="en-DZ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DZ" sz="2000" kern="0">
                          <a:effectLst/>
                        </a:rPr>
                        <a:t>Élevée</a:t>
                      </a:r>
                      <a:endParaRPr lang="en-DZ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61134213"/>
                  </a:ext>
                </a:extLst>
              </a:tr>
              <a:tr h="358361">
                <a:tc>
                  <a:txBody>
                    <a:bodyPr/>
                    <a:lstStyle/>
                    <a:p>
                      <a:r>
                        <a:rPr lang="en-DZ" sz="2000" kern="0">
                          <a:effectLst/>
                        </a:rPr>
                        <a:t>Réservation d’une seule salle</a:t>
                      </a:r>
                      <a:endParaRPr lang="en-DZ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DZ" sz="2000" kern="0">
                          <a:effectLst/>
                        </a:rPr>
                        <a:t>Permettre sélection multiple de salles</a:t>
                      </a:r>
                      <a:endParaRPr lang="en-DZ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DZ" sz="2000" kern="0">
                          <a:effectLst/>
                        </a:rPr>
                        <a:t>Moyenne</a:t>
                      </a:r>
                      <a:endParaRPr lang="en-DZ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4262020"/>
                  </a:ext>
                </a:extLst>
              </a:tr>
              <a:tr h="358361">
                <a:tc>
                  <a:txBody>
                    <a:bodyPr/>
                    <a:lstStyle/>
                    <a:p>
                      <a:r>
                        <a:rPr lang="en-DZ" sz="2000" kern="0">
                          <a:effectLst/>
                        </a:rPr>
                        <a:t>Interface non responsive</a:t>
                      </a:r>
                      <a:endParaRPr lang="en-DZ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DZ" sz="2000" kern="0" dirty="0">
                          <a:effectLst/>
                        </a:rPr>
                        <a:t>Adapter l’interface aux smartphones et tablettes</a:t>
                      </a:r>
                      <a:endParaRPr lang="en-DZ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DZ" sz="2000" kern="0" dirty="0">
                          <a:effectLst/>
                        </a:rPr>
                        <a:t>Élevée</a:t>
                      </a:r>
                      <a:endParaRPr lang="en-DZ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05095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17750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CB31F-5981-DFBF-457B-7C3B6DE0181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46455-6170-7CCB-70AE-83E1AAA2D0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39</a:t>
            </a:fld>
            <a:endParaRPr lang="en-DZ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C01774-7F32-4072-01CA-9B507DFE2AA0}"/>
              </a:ext>
            </a:extLst>
          </p:cNvPr>
          <p:cNvSpPr/>
          <p:nvPr/>
        </p:nvSpPr>
        <p:spPr>
          <a:xfrm>
            <a:off x="-152400" y="2057400"/>
            <a:ext cx="12344400" cy="3657600"/>
          </a:xfrm>
          <a:prstGeom prst="rect">
            <a:avLst/>
          </a:prstGeom>
          <a:solidFill>
            <a:srgbClr val="005E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540EFD-9134-3027-184E-0B37195ACC87}"/>
              </a:ext>
            </a:extLst>
          </p:cNvPr>
          <p:cNvSpPr/>
          <p:nvPr/>
        </p:nvSpPr>
        <p:spPr>
          <a:xfrm>
            <a:off x="8458200" y="2362200"/>
            <a:ext cx="3733800" cy="3352800"/>
          </a:xfrm>
          <a:prstGeom prst="ellipse">
            <a:avLst/>
          </a:prstGeom>
          <a:solidFill>
            <a:schemeClr val="bg1"/>
          </a:solidFill>
          <a:ln w="38100" cmpd="thinThick">
            <a:solidFill>
              <a:srgbClr val="FF1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035C73-7125-FA08-3A39-B8AFBE613C8F}"/>
              </a:ext>
            </a:extLst>
          </p:cNvPr>
          <p:cNvSpPr/>
          <p:nvPr/>
        </p:nvSpPr>
        <p:spPr>
          <a:xfrm>
            <a:off x="8610600" y="2514601"/>
            <a:ext cx="3429000" cy="3048000"/>
          </a:xfrm>
          <a:prstGeom prst="ellipse">
            <a:avLst/>
          </a:prstGeom>
          <a:solidFill>
            <a:schemeClr val="bg1"/>
          </a:solidFill>
          <a:ln w="38100" cmpd="thinThick">
            <a:solidFill>
              <a:srgbClr val="FF1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143940-A943-3C07-C35A-E921A1C4E4CE}"/>
              </a:ext>
            </a:extLst>
          </p:cNvPr>
          <p:cNvSpPr txBox="1"/>
          <p:nvPr/>
        </p:nvSpPr>
        <p:spPr>
          <a:xfrm>
            <a:off x="304801" y="3352800"/>
            <a:ext cx="81534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5400" b="1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Cahier des charges (</a:t>
            </a:r>
            <a:r>
              <a:rPr lang="fr-CA" sz="5400" b="1" dirty="0" err="1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CdC</a:t>
            </a:r>
            <a:r>
              <a:rPr lang="fr-CA" sz="5400" b="1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)</a:t>
            </a:r>
          </a:p>
          <a:p>
            <a:endParaRPr lang="fr-CA" sz="5400" dirty="0">
              <a:solidFill>
                <a:schemeClr val="bg1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7985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738D1-7D2C-03BE-9126-085B94A88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646331"/>
          </a:xfrm>
        </p:spPr>
        <p:txBody>
          <a:bodyPr/>
          <a:lstStyle/>
          <a:p>
            <a:r>
              <a:rPr lang="en-US" b="1" dirty="0"/>
              <a:t>Cahier des charges (</a:t>
            </a:r>
            <a:r>
              <a:rPr lang="en-US" b="1" dirty="0" err="1"/>
              <a:t>CdC</a:t>
            </a:r>
            <a:r>
              <a:rPr lang="en-US" b="1" dirty="0"/>
              <a:t>)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90B78-169E-7EDB-EF71-15DADD30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292" y="1604899"/>
            <a:ext cx="10494645" cy="2020233"/>
          </a:xfrm>
        </p:spPr>
        <p:txBody>
          <a:bodyPr/>
          <a:lstStyle/>
          <a:p>
            <a:pPr algn="just" rtl="0">
              <a:lnSpc>
                <a:spcPct val="300000"/>
              </a:lnSpc>
            </a:pPr>
            <a:r>
              <a:rPr lang="en-US" sz="2400" dirty="0"/>
              <a:t>Le Cahier des Charges (CDC) </a:t>
            </a:r>
            <a:r>
              <a:rPr lang="en-US" sz="2400" dirty="0" err="1"/>
              <a:t>est</a:t>
            </a:r>
            <a:r>
              <a:rPr lang="en-US" sz="2400" dirty="0"/>
              <a:t> le document pivot entre le client et </a:t>
            </a:r>
            <a:r>
              <a:rPr lang="en-US" sz="2400" dirty="0" err="1"/>
              <a:t>l’équipe</a:t>
            </a:r>
            <a:r>
              <a:rPr lang="en-US" sz="2400" dirty="0"/>
              <a:t> </a:t>
            </a:r>
            <a:r>
              <a:rPr lang="en-US" sz="2400" dirty="0" err="1"/>
              <a:t>projet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Il </a:t>
            </a:r>
            <a:r>
              <a:rPr lang="en-US" sz="2400" dirty="0" err="1"/>
              <a:t>traduit</a:t>
            </a:r>
            <a:r>
              <a:rPr lang="en-US" sz="2400" dirty="0"/>
              <a:t> les </a:t>
            </a:r>
            <a:r>
              <a:rPr lang="en-US" sz="2400" dirty="0" err="1"/>
              <a:t>besoins</a:t>
            </a:r>
            <a:r>
              <a:rPr lang="en-US" sz="2400" dirty="0"/>
              <a:t> </a:t>
            </a:r>
            <a:r>
              <a:rPr lang="en-US" sz="2400" dirty="0" err="1"/>
              <a:t>exprimés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exigences </a:t>
            </a:r>
            <a:r>
              <a:rPr lang="en-US" sz="2400" dirty="0" err="1"/>
              <a:t>fonctionnelles</a:t>
            </a:r>
            <a:r>
              <a:rPr lang="en-US" sz="2400" dirty="0"/>
              <a:t> et techniques.</a:t>
            </a:r>
            <a:endParaRPr lang="en-DZ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DFD5F-B928-9528-48E0-61FA23A1B76C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4EFAD2-0B20-06F2-FFFD-F094072CA8B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40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6837824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E8727-B46D-2B8B-4C6D-8BCAE9F71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1292662"/>
          </a:xfrm>
        </p:spPr>
        <p:txBody>
          <a:bodyPr/>
          <a:lstStyle/>
          <a:p>
            <a:r>
              <a:rPr lang="en-US" dirty="0"/>
              <a:t>Structure type d’un Cahier des Charges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21DD8-04F6-F9FA-49EC-C7E4A4BCB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292" y="1604899"/>
            <a:ext cx="10494645" cy="3970318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en-US" sz="2400" b="1" dirty="0"/>
              <a:t>1- </a:t>
            </a:r>
            <a:r>
              <a:rPr lang="en-US" sz="2400" b="1" dirty="0" err="1"/>
              <a:t>Présentation</a:t>
            </a:r>
            <a:r>
              <a:rPr lang="en-US" sz="2400" b="1" dirty="0"/>
              <a:t> </a:t>
            </a:r>
            <a:r>
              <a:rPr lang="en-US" sz="2400" b="1" dirty="0" err="1"/>
              <a:t>générale</a:t>
            </a:r>
            <a:endParaRPr lang="en-US" sz="2400" dirty="0"/>
          </a:p>
          <a:p>
            <a:pPr lv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Contexte</a:t>
            </a:r>
            <a:r>
              <a:rPr lang="en-US" sz="2400" dirty="0"/>
              <a:t>, </a:t>
            </a:r>
            <a:r>
              <a:rPr lang="en-US" sz="2400" dirty="0" err="1"/>
              <a:t>objectifs</a:t>
            </a:r>
            <a:r>
              <a:rPr lang="en-US" sz="2400" dirty="0"/>
              <a:t> du </a:t>
            </a:r>
            <a:r>
              <a:rPr lang="en-US" sz="2400" dirty="0" err="1"/>
              <a:t>projet</a:t>
            </a:r>
            <a:endParaRPr lang="en-US" sz="2400" dirty="0"/>
          </a:p>
          <a:p>
            <a:pPr lv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Cibles</a:t>
            </a:r>
            <a:r>
              <a:rPr lang="en-US" sz="2400" dirty="0"/>
              <a:t> et </a:t>
            </a:r>
            <a:r>
              <a:rPr lang="en-US" sz="2400" dirty="0" err="1"/>
              <a:t>utilisateurs</a:t>
            </a:r>
            <a:r>
              <a:rPr lang="en-US" sz="2400" dirty="0"/>
              <a:t> </a:t>
            </a:r>
            <a:r>
              <a:rPr lang="en-US" sz="2400" dirty="0" err="1"/>
              <a:t>visés</a:t>
            </a:r>
            <a:endParaRPr lang="en-US" sz="2400" dirty="0"/>
          </a:p>
          <a:p>
            <a:pPr lv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Valeur </a:t>
            </a:r>
            <a:r>
              <a:rPr lang="en-US" sz="2400" dirty="0" err="1"/>
              <a:t>ajoutée</a:t>
            </a:r>
            <a:r>
              <a:rPr lang="en-US" sz="2400" dirty="0"/>
              <a:t> du </a:t>
            </a:r>
            <a:r>
              <a:rPr lang="en-US" sz="2400" dirty="0" err="1"/>
              <a:t>projet</a:t>
            </a:r>
            <a:endParaRPr lang="en-US" sz="2400" dirty="0"/>
          </a:p>
          <a:p>
            <a:pPr marL="0" algn="l" rtl="0"/>
            <a:endParaRPr lang="en-DZ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14D94-9A58-1CD3-769A-7B9A1647A50D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D2E927-1400-E63D-3B00-C8F06B8161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41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2734676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1E24C-5F97-DCDC-64EF-B96BB5AC7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1292662"/>
          </a:xfrm>
        </p:spPr>
        <p:txBody>
          <a:bodyPr/>
          <a:lstStyle/>
          <a:p>
            <a:r>
              <a:rPr lang="en-US" dirty="0"/>
              <a:t>Structure type d’un Cahier des Charges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CDE82-3D08-41AB-E08D-EBDA29761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292" y="1604899"/>
            <a:ext cx="10494645" cy="4467057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en-US" sz="2400" b="1" dirty="0"/>
              <a:t>2- Description </a:t>
            </a:r>
            <a:r>
              <a:rPr lang="en-US" sz="2400" b="1" dirty="0" err="1"/>
              <a:t>fonctionnelle</a:t>
            </a:r>
            <a:endParaRPr lang="en-US" sz="2400" dirty="0"/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Fonctionnalités</a:t>
            </a:r>
            <a:r>
              <a:rPr lang="en-US" sz="2400" dirty="0"/>
              <a:t> </a:t>
            </a:r>
            <a:r>
              <a:rPr lang="en-US" sz="2400" dirty="0" err="1"/>
              <a:t>principales</a:t>
            </a:r>
            <a:r>
              <a:rPr lang="en-US" sz="2400" dirty="0"/>
              <a:t> (ex. recherche, </a:t>
            </a:r>
            <a:r>
              <a:rPr lang="en-US" sz="2400" dirty="0" err="1"/>
              <a:t>réservation</a:t>
            </a:r>
            <a:r>
              <a:rPr lang="en-US" sz="2400" dirty="0"/>
              <a:t>, </a:t>
            </a:r>
            <a:r>
              <a:rPr lang="en-US" sz="2400" dirty="0" err="1"/>
              <a:t>paiement</a:t>
            </a:r>
            <a:r>
              <a:rPr lang="en-US" sz="2400" dirty="0"/>
              <a:t>)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Parcours</a:t>
            </a:r>
            <a:r>
              <a:rPr lang="en-US" sz="2400" dirty="0"/>
              <a:t> </a:t>
            </a:r>
            <a:r>
              <a:rPr lang="en-US" sz="2400" dirty="0" err="1"/>
              <a:t>utilisateurs</a:t>
            </a:r>
            <a:endParaRPr lang="en-US" sz="2400" dirty="0"/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Contraintes</a:t>
            </a:r>
            <a:r>
              <a:rPr lang="en-US" sz="2400" dirty="0"/>
              <a:t> de </a:t>
            </a:r>
            <a:r>
              <a:rPr lang="en-US" sz="2400" dirty="0" err="1"/>
              <a:t>sécurité</a:t>
            </a:r>
            <a:r>
              <a:rPr lang="en-US" sz="2400" dirty="0"/>
              <a:t>, </a:t>
            </a:r>
            <a:r>
              <a:rPr lang="en-US" sz="2400" dirty="0" err="1"/>
              <a:t>accessibilité</a:t>
            </a:r>
            <a:endParaRPr lang="en-US" sz="2400" dirty="0"/>
          </a:p>
          <a:p>
            <a:pPr marL="0" algn="l" rtl="0">
              <a:lnSpc>
                <a:spcPct val="250000"/>
              </a:lnSpc>
            </a:pPr>
            <a:endParaRPr lang="en-DZ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A81C0-2388-D061-A9FF-C0DE46C4D13B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6A9EC3-401F-F9B3-6D34-9C4193A945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42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37567014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919C0-AF30-C5C1-5B28-3A7066C67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1292662"/>
          </a:xfrm>
        </p:spPr>
        <p:txBody>
          <a:bodyPr/>
          <a:lstStyle/>
          <a:p>
            <a:r>
              <a:rPr lang="en-US" dirty="0"/>
              <a:t>Structure type d’un Cahier des Charges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590F3-801B-1542-D416-1EAACA603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292" y="1604899"/>
            <a:ext cx="10494645" cy="3691395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en-US" sz="2500" b="1" dirty="0"/>
              <a:t>3. Aspects techniques</a:t>
            </a:r>
            <a:endParaRPr lang="en-US" sz="2500" dirty="0"/>
          </a:p>
          <a:p>
            <a:pPr lv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Technologies </a:t>
            </a:r>
            <a:r>
              <a:rPr lang="en-US" sz="2500" dirty="0" err="1"/>
              <a:t>choisies</a:t>
            </a:r>
            <a:r>
              <a:rPr lang="en-US" sz="2500" dirty="0"/>
              <a:t> (CMS, </a:t>
            </a:r>
            <a:r>
              <a:rPr lang="en-US" sz="2500" dirty="0" err="1"/>
              <a:t>langages</a:t>
            </a:r>
            <a:r>
              <a:rPr lang="en-US" sz="2500" dirty="0"/>
              <a:t>, frameworks)</a:t>
            </a:r>
          </a:p>
          <a:p>
            <a:pPr lv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500" dirty="0" err="1"/>
              <a:t>Hébergement</a:t>
            </a:r>
            <a:r>
              <a:rPr lang="en-US" sz="2500" dirty="0"/>
              <a:t>, base de </a:t>
            </a:r>
            <a:r>
              <a:rPr lang="en-US" sz="2500" dirty="0" err="1"/>
              <a:t>données</a:t>
            </a:r>
            <a:r>
              <a:rPr lang="en-US" sz="2500" dirty="0"/>
              <a:t>, </a:t>
            </a:r>
            <a:r>
              <a:rPr lang="en-US" sz="2500" dirty="0" err="1"/>
              <a:t>compatibilité</a:t>
            </a:r>
            <a:endParaRPr lang="en-US" sz="2500" dirty="0"/>
          </a:p>
          <a:p>
            <a:pPr marL="0" algn="l" rtl="0">
              <a:lnSpc>
                <a:spcPct val="250000"/>
              </a:lnSpc>
            </a:pPr>
            <a:endParaRPr lang="en-DZ" sz="25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0BC83-9029-88CE-EA94-E6C6FFD74E99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202F7-317C-BEDF-C528-9FF046E94E9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43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9557340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FFD2-E7ED-0A4F-87C5-9BAD22E0A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1292662"/>
          </a:xfrm>
        </p:spPr>
        <p:txBody>
          <a:bodyPr/>
          <a:lstStyle/>
          <a:p>
            <a:r>
              <a:rPr lang="en-US" dirty="0"/>
              <a:t>Structure type d’un Cahier des Charges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3360F-666F-DC4B-C9D8-541A2835D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292" y="1604899"/>
            <a:ext cx="10494645" cy="5067221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400" b="1" dirty="0" err="1"/>
              <a:t>Contraintes</a:t>
            </a:r>
            <a:endParaRPr lang="en-US" sz="24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Délais</a:t>
            </a:r>
            <a:r>
              <a:rPr lang="en-US" sz="2400" dirty="0"/>
              <a:t>, budget, maintenance</a:t>
            </a:r>
          </a:p>
          <a:p>
            <a:pPr>
              <a:lnSpc>
                <a:spcPct val="200000"/>
              </a:lnSpc>
            </a:pPr>
            <a:r>
              <a:rPr lang="en-US" sz="2400" b="1" dirty="0" err="1"/>
              <a:t>Livrables</a:t>
            </a:r>
            <a:r>
              <a:rPr lang="en-US" sz="2400" b="1" dirty="0"/>
              <a:t> </a:t>
            </a:r>
            <a:r>
              <a:rPr lang="en-US" sz="2400" b="1" dirty="0" err="1"/>
              <a:t>attendus</a:t>
            </a:r>
            <a:endParaRPr lang="en-US" sz="24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Maquettes, prototypes, code source, documentation</a:t>
            </a:r>
          </a:p>
          <a:p>
            <a:pPr>
              <a:lnSpc>
                <a:spcPct val="200000"/>
              </a:lnSpc>
            </a:pPr>
            <a:r>
              <a:rPr lang="en-US" sz="2400" b="1" dirty="0" err="1"/>
              <a:t>Critères</a:t>
            </a:r>
            <a:r>
              <a:rPr lang="en-US" sz="2400" b="1" dirty="0"/>
              <a:t> de validation</a:t>
            </a:r>
            <a:endParaRPr lang="en-US" sz="24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Conditions pour </a:t>
            </a:r>
            <a:r>
              <a:rPr lang="en-US" sz="2400" dirty="0" err="1"/>
              <a:t>considérer</a:t>
            </a:r>
            <a:r>
              <a:rPr lang="en-US" sz="2400" dirty="0"/>
              <a:t> le </a:t>
            </a:r>
            <a:r>
              <a:rPr lang="en-US" sz="2400" dirty="0" err="1"/>
              <a:t>projet</a:t>
            </a:r>
            <a:r>
              <a:rPr lang="en-US" sz="2400" dirty="0"/>
              <a:t> </a:t>
            </a:r>
            <a:r>
              <a:rPr lang="en-US" sz="2400" dirty="0" err="1"/>
              <a:t>terminé</a:t>
            </a:r>
            <a:endParaRPr lang="en-US" sz="2400" dirty="0"/>
          </a:p>
          <a:p>
            <a:pPr marL="0" algn="l" rtl="0">
              <a:lnSpc>
                <a:spcPct val="200000"/>
              </a:lnSpc>
            </a:pPr>
            <a:endParaRPr lang="en-DZ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05ABF-5FCC-75BA-9586-A0400D7D77B8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AED28-406C-FB77-D606-F1D92A64B7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44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14637048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A492-5893-B6DE-A425-C3A74366A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1292662"/>
          </a:xfrm>
        </p:spPr>
        <p:txBody>
          <a:bodyPr/>
          <a:lstStyle/>
          <a:p>
            <a:r>
              <a:rPr lang="en-US" dirty="0" err="1"/>
              <a:t>Exercice</a:t>
            </a:r>
            <a:r>
              <a:rPr lang="en-US" dirty="0"/>
              <a:t> 1 — </a:t>
            </a:r>
            <a:r>
              <a:rPr lang="en-US" dirty="0" err="1"/>
              <a:t>Rédaction</a:t>
            </a:r>
            <a:r>
              <a:rPr lang="en-US" dirty="0"/>
              <a:t> d’un mini cahier des charges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9EE33-6564-018B-DBCB-CA2F7FAE1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292" y="1604899"/>
            <a:ext cx="10494645" cy="490839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b="1" dirty="0" err="1"/>
              <a:t>Sujet</a:t>
            </a:r>
            <a:r>
              <a:rPr lang="en-US" b="1" dirty="0"/>
              <a:t> :</a:t>
            </a:r>
            <a:r>
              <a:rPr lang="en-US" dirty="0"/>
              <a:t> </a:t>
            </a:r>
            <a:r>
              <a:rPr lang="en-US" dirty="0" err="1"/>
              <a:t>Créer</a:t>
            </a:r>
            <a:r>
              <a:rPr lang="en-US" dirty="0"/>
              <a:t> le site web d’un club sportif </a:t>
            </a:r>
            <a:r>
              <a:rPr lang="en-US" dirty="0" err="1"/>
              <a:t>universitaire</a:t>
            </a:r>
            <a:r>
              <a:rPr lang="en-US" dirty="0"/>
              <a:t>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Travail </a:t>
            </a:r>
            <a:r>
              <a:rPr lang="en-US" b="1" dirty="0" err="1"/>
              <a:t>demandé</a:t>
            </a:r>
            <a:r>
              <a:rPr lang="en-US" b="1" dirty="0"/>
              <a:t> :</a:t>
            </a:r>
            <a:endParaRPr lang="en-US" dirty="0"/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Identifier les </a:t>
            </a:r>
            <a:r>
              <a:rPr lang="en-US" dirty="0" err="1"/>
              <a:t>objectifs</a:t>
            </a:r>
            <a:r>
              <a:rPr lang="en-US" dirty="0"/>
              <a:t> du </a:t>
            </a:r>
            <a:r>
              <a:rPr lang="en-US" dirty="0" err="1"/>
              <a:t>projet</a:t>
            </a:r>
            <a:r>
              <a:rPr lang="en-US" dirty="0"/>
              <a:t>.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 err="1"/>
              <a:t>Définir</a:t>
            </a:r>
            <a:r>
              <a:rPr lang="en-US" dirty="0"/>
              <a:t> les </a:t>
            </a:r>
            <a:r>
              <a:rPr lang="en-US" dirty="0" err="1"/>
              <a:t>utilisateurs</a:t>
            </a:r>
            <a:r>
              <a:rPr lang="en-US" dirty="0"/>
              <a:t> </a:t>
            </a:r>
            <a:r>
              <a:rPr lang="en-US" dirty="0" err="1"/>
              <a:t>cibles</a:t>
            </a:r>
            <a:endParaRPr lang="en-US" dirty="0"/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Lister les </a:t>
            </a:r>
            <a:r>
              <a:rPr lang="en-US" dirty="0" err="1"/>
              <a:t>fonctionnalités</a:t>
            </a:r>
            <a:r>
              <a:rPr lang="en-US" dirty="0"/>
              <a:t> </a:t>
            </a:r>
            <a:r>
              <a:rPr lang="en-US" dirty="0" err="1"/>
              <a:t>essentielles</a:t>
            </a:r>
            <a:r>
              <a:rPr lang="en-US" dirty="0"/>
              <a:t>.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 err="1"/>
              <a:t>Mentionner</a:t>
            </a:r>
            <a:r>
              <a:rPr lang="en-US" dirty="0"/>
              <a:t> au </a:t>
            </a:r>
            <a:r>
              <a:rPr lang="en-US" dirty="0" err="1"/>
              <a:t>moins</a:t>
            </a:r>
            <a:r>
              <a:rPr lang="en-US" dirty="0"/>
              <a:t> 3 </a:t>
            </a:r>
            <a:r>
              <a:rPr lang="en-US" dirty="0" err="1"/>
              <a:t>contraintes</a:t>
            </a:r>
            <a:r>
              <a:rPr lang="en-US" dirty="0"/>
              <a:t> techniques.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 err="1"/>
              <a:t>Rédiger</a:t>
            </a:r>
            <a:r>
              <a:rPr lang="en-US" dirty="0"/>
              <a:t> un mini cahier des charges </a:t>
            </a:r>
            <a:r>
              <a:rPr lang="en-US" dirty="0" err="1"/>
              <a:t>synthétique</a:t>
            </a:r>
            <a:r>
              <a:rPr lang="en-US" dirty="0"/>
              <a:t> (1 page).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Objectif </a:t>
            </a:r>
            <a:r>
              <a:rPr lang="en-US" b="1" dirty="0" err="1"/>
              <a:t>pédagogique</a:t>
            </a:r>
            <a:r>
              <a:rPr lang="en-US" b="1" dirty="0"/>
              <a:t> :</a:t>
            </a:r>
            <a:r>
              <a:rPr lang="en-US" dirty="0"/>
              <a:t> </a:t>
            </a:r>
            <a:r>
              <a:rPr lang="en-US" dirty="0" err="1"/>
              <a:t>Apprendre</a:t>
            </a:r>
            <a:r>
              <a:rPr lang="en-US" dirty="0"/>
              <a:t> </a:t>
            </a:r>
            <a:r>
              <a:rPr lang="en-US" dirty="0" err="1"/>
              <a:t>à</a:t>
            </a:r>
            <a:r>
              <a:rPr lang="en-US" dirty="0"/>
              <a:t> </a:t>
            </a:r>
            <a:r>
              <a:rPr lang="en-US" dirty="0" err="1"/>
              <a:t>traduire</a:t>
            </a:r>
            <a:r>
              <a:rPr lang="en-US" dirty="0"/>
              <a:t> un </a:t>
            </a:r>
            <a:r>
              <a:rPr lang="en-US" dirty="0" err="1"/>
              <a:t>besoin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spécifications</a:t>
            </a:r>
            <a:r>
              <a:rPr lang="en-US" dirty="0"/>
              <a:t> </a:t>
            </a:r>
            <a:r>
              <a:rPr lang="en-US" dirty="0" err="1"/>
              <a:t>concrètes</a:t>
            </a:r>
            <a:r>
              <a:rPr lang="en-US" dirty="0"/>
              <a:t>.</a:t>
            </a:r>
          </a:p>
          <a:p>
            <a:pPr marL="0" algn="l" rtl="0">
              <a:lnSpc>
                <a:spcPct val="200000"/>
              </a:lnSpc>
            </a:pPr>
            <a:endParaRPr lang="en-DZ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8A6C5-AED9-CC31-7F2C-E626E90F0C7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E1B037-F2EC-229F-968A-12659AC2E46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45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1725193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523E1-E55B-5AEA-171C-C4430ED3F865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CCD63FE-7FF2-6248-8F4A-9EA2B028BC44}" type="datetime1">
              <a:rPr lang="en-US" smtClean="0"/>
              <a:t>10/30/25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529C19-21E0-AF1B-B616-9A41316580F3}"/>
              </a:ext>
            </a:extLst>
          </p:cNvPr>
          <p:cNvSpPr/>
          <p:nvPr/>
        </p:nvSpPr>
        <p:spPr>
          <a:xfrm>
            <a:off x="381000" y="1447800"/>
            <a:ext cx="14020800" cy="3429000"/>
          </a:xfrm>
          <a:prstGeom prst="rect">
            <a:avLst/>
          </a:prstGeom>
          <a:solidFill>
            <a:srgbClr val="005D4F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perspectiveContrasting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DZ" sz="7200" b="1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Questions?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C99870-5572-56F8-F48E-EACC4D056A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46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3021066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22063</TotalTime>
  <Words>2045</Words>
  <Application>Microsoft Macintosh PowerPoint</Application>
  <PresentationFormat>Widescreen</PresentationFormat>
  <Paragraphs>400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Arial</vt:lpstr>
      <vt:lpstr>Calibri</vt:lpstr>
      <vt:lpstr>Century Gothic</vt:lpstr>
      <vt:lpstr>Roboto</vt:lpstr>
      <vt:lpstr>Symbol</vt:lpstr>
      <vt:lpstr>Times New Roman</vt:lpstr>
      <vt:lpstr>Verdana</vt:lpstr>
      <vt:lpstr>Office Theme</vt:lpstr>
      <vt:lpstr>Modification d’un système existant</vt:lpstr>
      <vt:lpstr>Sommaire</vt:lpstr>
      <vt:lpstr>Objectif </vt:lpstr>
      <vt:lpstr>PowerPoint Presentation</vt:lpstr>
      <vt:lpstr>PowerPoint Presentation</vt:lpstr>
      <vt:lpstr>Cycle de vie d’un projet</vt:lpstr>
      <vt:lpstr>PowerPoint Presentation</vt:lpstr>
      <vt:lpstr>PowerPoint Presentation</vt:lpstr>
      <vt:lpstr>Pourquoi analyser avant de concevoir ?</vt:lpstr>
      <vt:lpstr>Pourquoi analyser avant de concevoir ?</vt:lpstr>
      <vt:lpstr>Pourquoi analyser avant de concevoir ?</vt:lpstr>
      <vt:lpstr>Analyse des besoins et cahier des charges</vt:lpstr>
      <vt:lpstr>Analyse des besoins et cahier des charges</vt:lpstr>
      <vt:lpstr>Acteurs impliqués</vt:lpstr>
      <vt:lpstr>Méthodes de recueil des besoins</vt:lpstr>
      <vt:lpstr>Typologie des besoins</vt:lpstr>
      <vt:lpstr>Exercice – Analyse des besoins d’un projet web</vt:lpstr>
      <vt:lpstr>Exercice – Analyse des besoins d’un projet web</vt:lpstr>
      <vt:lpstr>Exercice – Analyse des besoins d’un projet web</vt:lpstr>
      <vt:lpstr>Exercice – Analyse des besoins d’un projet web</vt:lpstr>
      <vt:lpstr>PowerPoint Presentation</vt:lpstr>
      <vt:lpstr>User Stories</vt:lpstr>
      <vt:lpstr>Exemples concrets</vt:lpstr>
      <vt:lpstr>Critères d’acceptation</vt:lpstr>
      <vt:lpstr>Méthode INVEST  (qualité d’une user story)</vt:lpstr>
      <vt:lpstr>PowerPoint Presentation</vt:lpstr>
      <vt:lpstr>Outil de conception : Draw.io (diagrams.net)</vt:lpstr>
      <vt:lpstr>Outil de conception : Draw.io (diagrams.net)</vt:lpstr>
      <vt:lpstr>Diagrammes essentiels à maîtriser</vt:lpstr>
      <vt:lpstr>Exercice 3 — Modélisation avec Draw.io</vt:lpstr>
      <vt:lpstr>PowerPoint Presentation</vt:lpstr>
      <vt:lpstr>Analyse des besoins pour la modification d’un système existant</vt:lpstr>
      <vt:lpstr>Analyse des besoins pour la modification d’un système existant</vt:lpstr>
      <vt:lpstr>Analyse des besoins pour la modification d’un système existant</vt:lpstr>
      <vt:lpstr>Étapes de l’analyse des besoins pour un système à modifier</vt:lpstr>
      <vt:lpstr>Étapes de l’analyse des besoins pour un système à modifier</vt:lpstr>
      <vt:lpstr>Étapes de l’analyse des besoins pour un système à modifier</vt:lpstr>
      <vt:lpstr>Exemple pratique </vt:lpstr>
      <vt:lpstr>PowerPoint Presentation</vt:lpstr>
      <vt:lpstr>Cahier des charges (CdC)</vt:lpstr>
      <vt:lpstr>Structure type d’un Cahier des Charges</vt:lpstr>
      <vt:lpstr>Structure type d’un Cahier des Charges</vt:lpstr>
      <vt:lpstr>Structure type d’un Cahier des Charges</vt:lpstr>
      <vt:lpstr>Structure type d’un Cahier des Charges</vt:lpstr>
      <vt:lpstr>Exercice 1 — Rédaction d’un mini cahier des charges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asma aouichat</cp:lastModifiedBy>
  <cp:revision>618</cp:revision>
  <dcterms:created xsi:type="dcterms:W3CDTF">2024-08-07T18:18:50Z</dcterms:created>
  <dcterms:modified xsi:type="dcterms:W3CDTF">2025-10-30T11:53:31Z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2023-09-26T00:00:00Z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2024-08-07T00:00:00Z</vt:filetime>
  </property>
  <property fmtid="{D5CDD505-2E9C-101B-9397-08002B2CF9AE}" pid="5" name="Producer">
    <vt:lpwstr>Microsoft® PowerPoint® for Microsoft 365</vt:lpwstr>
  </property>
</Properties>
</file>